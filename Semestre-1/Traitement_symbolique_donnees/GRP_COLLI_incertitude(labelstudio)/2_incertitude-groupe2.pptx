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Quattrocento Sans" panose="020B0502050000020003" pitchFamily="34" charset="0"/>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iIICgv88Xs//wtzGYVOVmRbJUq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184"/>
    <p:restoredTop sz="63694"/>
  </p:normalViewPr>
  <p:slideViewPr>
    <p:cSldViewPr snapToGrid="0">
      <p:cViewPr varScale="1">
        <p:scale>
          <a:sx n="67" d="100"/>
          <a:sy n="67" d="100"/>
        </p:scale>
        <p:origin x="184" y="7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56"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661288f2b_0_5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g3a661288f2b_0_5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93" name="Google Shape;93;g3a661288f2b_0_5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a661288f2b_0_5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a661288f2b_0_53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g3a661288f2b_0_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0" name="Google Shape;110;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it"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661288f2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116" name="Google Shape;116;g3a661288f2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661288f2b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dk1"/>
              </a:buClr>
              <a:buSzPts val="1100"/>
              <a:buFont typeface="Arial"/>
              <a:buNone/>
            </a:pPr>
            <a:r>
              <a:rPr lang="it" sz="1000" b="1">
                <a:solidFill>
                  <a:schemeClr val="dk1"/>
                </a:solidFill>
                <a:latin typeface="Quattrocento Sans"/>
                <a:ea typeface="Quattrocento Sans"/>
                <a:cs typeface="Quattrocento Sans"/>
                <a:sym typeface="Quattrocento Sans"/>
              </a:rPr>
              <a:t>pragmatique</a:t>
            </a:r>
            <a:r>
              <a:rPr lang="it" sz="1000">
                <a:solidFill>
                  <a:schemeClr val="dk1"/>
                </a:solidFill>
                <a:latin typeface="Quattrocento Sans"/>
                <a:ea typeface="Quattrocento Sans"/>
                <a:cs typeface="Quattrocento Sans"/>
                <a:sym typeface="Quattrocento Sans"/>
              </a:rPr>
              <a:t> : focus sur le contexte d’énonciation </a:t>
            </a:r>
            <a:endParaRPr sz="1000">
              <a:solidFill>
                <a:schemeClr val="dk1"/>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Clr>
                <a:schemeClr val="dk1"/>
              </a:buClr>
              <a:buSzPts val="1100"/>
              <a:buFont typeface="Arial"/>
              <a:buNone/>
            </a:pPr>
            <a:endParaRPr sz="1000">
              <a:solidFill>
                <a:schemeClr val="dk1"/>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SzPts val="1100"/>
              <a:buNone/>
            </a:pPr>
            <a:r>
              <a:rPr lang="it" sz="1000">
                <a:solidFill>
                  <a:schemeClr val="dk1"/>
                </a:solidFill>
                <a:latin typeface="Quattrocento Sans"/>
                <a:ea typeface="Quattrocento Sans"/>
                <a:cs typeface="Quattrocento Sans"/>
                <a:sym typeface="Quattrocento Sans"/>
              </a:rPr>
              <a:t>ex. “La fenêtre est ouverte” (phrase qui peut sous-entendre un jugement négatif du locuteur)</a:t>
            </a:r>
            <a:endParaRPr sz="1000">
              <a:solidFill>
                <a:schemeClr val="dk1"/>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SzPts val="1100"/>
              <a:buNone/>
            </a:pPr>
            <a:endParaRPr sz="1000">
              <a:solidFill>
                <a:schemeClr val="dk1"/>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Clr>
                <a:schemeClr val="dk1"/>
              </a:buClr>
              <a:buSzPts val="1100"/>
              <a:buFont typeface="Arial"/>
              <a:buNone/>
            </a:pPr>
            <a:r>
              <a:rPr lang="it" sz="1000" b="1">
                <a:solidFill>
                  <a:schemeClr val="dk1"/>
                </a:solidFill>
                <a:latin typeface="Quattrocento Sans"/>
                <a:ea typeface="Quattrocento Sans"/>
                <a:cs typeface="Quattrocento Sans"/>
                <a:sym typeface="Quattrocento Sans"/>
              </a:rPr>
              <a:t>sémantique </a:t>
            </a:r>
            <a:r>
              <a:rPr lang="it" sz="1000">
                <a:solidFill>
                  <a:schemeClr val="dk1"/>
                </a:solidFill>
                <a:latin typeface="Quattrocento Sans"/>
                <a:ea typeface="Quattrocento Sans"/>
                <a:cs typeface="Quattrocento Sans"/>
                <a:sym typeface="Quattrocento Sans"/>
              </a:rPr>
              <a:t>: focus sur le sens de mots et pas sur le contexte d’énonciation</a:t>
            </a:r>
            <a:endParaRPr sz="1000">
              <a:solidFill>
                <a:schemeClr val="dk1"/>
              </a:solidFill>
              <a:latin typeface="Quattrocento Sans"/>
              <a:ea typeface="Quattrocento Sans"/>
              <a:cs typeface="Quattrocento Sans"/>
              <a:sym typeface="Quattrocento Sans"/>
            </a:endParaRPr>
          </a:p>
        </p:txBody>
      </p:sp>
      <p:sp>
        <p:nvSpPr>
          <p:cNvPr id="129" name="Google Shape;129;g3a661288f2b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661288f2b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g3a661288f2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661288f2b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endParaRPr sz="1400" b="1">
              <a:solidFill>
                <a:srgbClr val="097D3F"/>
              </a:solidFill>
              <a:latin typeface="Quattrocento Sans"/>
              <a:ea typeface="Quattrocento Sans"/>
              <a:cs typeface="Quattrocento Sans"/>
              <a:sym typeface="Quattrocento Sans"/>
            </a:endParaRPr>
          </a:p>
          <a:p>
            <a:pPr marL="0" lvl="0" indent="0" algn="l" rtl="0">
              <a:lnSpc>
                <a:spcPct val="100000"/>
              </a:lnSpc>
              <a:spcBef>
                <a:spcPts val="0"/>
              </a:spcBef>
              <a:spcAft>
                <a:spcPts val="0"/>
              </a:spcAft>
              <a:buSzPts val="1100"/>
              <a:buNone/>
            </a:pPr>
            <a:endParaRPr/>
          </a:p>
        </p:txBody>
      </p:sp>
      <p:sp>
        <p:nvSpPr>
          <p:cNvPr id="146" name="Google Shape;146;g3a661288f2b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661288f2b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g3a661288f2b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661288f2b_0_7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661288f2b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a661288f2b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3a661288f2b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a661288f2b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g3a661288f2b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a661288f2b_0_13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g3a661288f2b_0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a661288f2b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it" sz="1400">
                <a:solidFill>
                  <a:schemeClr val="dk1"/>
                </a:solidFill>
                <a:latin typeface="Quattrocento Sans"/>
                <a:ea typeface="Quattrocento Sans"/>
                <a:cs typeface="Quattrocento Sans"/>
                <a:sym typeface="Quattrocento Sans"/>
              </a:rPr>
              <a:t>l’incertitude semble avoir à faire avec la </a:t>
            </a:r>
            <a:r>
              <a:rPr lang="it" sz="1400" b="1">
                <a:solidFill>
                  <a:schemeClr val="dk1"/>
                </a:solidFill>
                <a:latin typeface="Quattrocento Sans"/>
                <a:ea typeface="Quattrocento Sans"/>
                <a:cs typeface="Quattrocento Sans"/>
                <a:sym typeface="Quattrocento Sans"/>
              </a:rPr>
              <a:t>subjectivité, </a:t>
            </a:r>
            <a:r>
              <a:rPr lang="it" sz="1400">
                <a:solidFill>
                  <a:schemeClr val="dk1"/>
                </a:solidFill>
                <a:latin typeface="Quattrocento Sans"/>
                <a:ea typeface="Quattrocento Sans"/>
                <a:cs typeface="Quattrocento Sans"/>
                <a:sym typeface="Quattrocento Sans"/>
              </a:rPr>
              <a:t>parce quand il y a de l’incertitude c’est toujours un locuteur (locuteur premier OU locuteur second) qui donne son avis sur un contenu propositionnel. </a:t>
            </a:r>
            <a:endParaRPr/>
          </a:p>
        </p:txBody>
      </p:sp>
      <p:sp>
        <p:nvSpPr>
          <p:cNvPr id="280" name="Google Shape;280;g3a661288f2b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a661288f2b_0_18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t"/>
              <a:t>Gosselin ne parle pas tout de suite de “marqueurs d’incertitude”, mais il y arrive en définissant les valeurs de certains paramètres. Nous allons lister ces paramètres et leurs valeurs correspondants jusqu'à définir les marqueurs d’incertitude. Le premier paramètre mobilisé est celui du type de modalité. Nous allons restreindre le champ de marqueurs modaux qui nous intéressent aux marqueurs épistémiques. </a:t>
            </a:r>
            <a:endParaRPr/>
          </a:p>
        </p:txBody>
      </p:sp>
      <p:sp>
        <p:nvSpPr>
          <p:cNvPr id="306" name="Google Shape;306;g3a661288f2b_0_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661288f2b_0_23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661288f2b_0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a661288f2b_0_189: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6" name="Google Shape;326;g3a661288f2b_0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a661288f2b_0_19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0B5394"/>
              </a:buClr>
              <a:buSzPts val="1100"/>
              <a:buChar char="-"/>
            </a:pPr>
            <a:r>
              <a:rPr lang="it">
                <a:solidFill>
                  <a:srgbClr val="0B5394"/>
                </a:solidFill>
              </a:rPr>
              <a:t>encore, quelques, déjà → c’est des quantificateurs ou des adverbes aspectuels, modalité aléthique.</a:t>
            </a:r>
            <a:endParaRPr>
              <a:solidFill>
                <a:srgbClr val="0B5394"/>
              </a:solidFill>
            </a:endParaRPr>
          </a:p>
          <a:p>
            <a:pPr marL="0" lvl="0" indent="0" algn="l" rtl="0">
              <a:lnSpc>
                <a:spcPct val="115000"/>
              </a:lnSpc>
              <a:spcBef>
                <a:spcPts val="0"/>
              </a:spcBef>
              <a:spcAft>
                <a:spcPts val="0"/>
              </a:spcAft>
              <a:buSzPts val="1100"/>
              <a:buNone/>
            </a:pPr>
            <a:r>
              <a:rPr lang="it">
                <a:solidFill>
                  <a:srgbClr val="0B5394"/>
                </a:solidFill>
              </a:rPr>
              <a:t>Les adverbes de fréquence, d’habitude, </a:t>
            </a:r>
            <a:r>
              <a:rPr lang="it" i="1">
                <a:solidFill>
                  <a:srgbClr val="0B5394"/>
                </a:solidFill>
              </a:rPr>
              <a:t>pouvoir</a:t>
            </a:r>
            <a:r>
              <a:rPr lang="it">
                <a:solidFill>
                  <a:srgbClr val="0B5394"/>
                </a:solidFill>
              </a:rPr>
              <a:t> sporadique, “il arrive que”, les quantificateurs (</a:t>
            </a:r>
            <a:r>
              <a:rPr lang="it" i="1">
                <a:solidFill>
                  <a:srgbClr val="0B5394"/>
                </a:solidFill>
              </a:rPr>
              <a:t>tous, certains, un peu de, beaucoup de, la plupart des, …</a:t>
            </a:r>
            <a:r>
              <a:rPr lang="it">
                <a:solidFill>
                  <a:srgbClr val="0B5394"/>
                </a:solidFill>
              </a:rPr>
              <a:t>). Il y a deux emplois possibles : a) un emploi subjectif, comme en ((Je trouve que) Pierre est souvent malade), où il signifie « souvent par rapport à une norme implicite, et donc dépendante du locuteur »), b) un emploi objectif (aléthique) ((?? Je trouve que) ce magasin est souvent fermé les mardis) ou il exprime simplement que la proposition est plus fréquemment vraie que fausse, sans pour autant atteindre le « généralement vrai ». L’énoncé (« ce magasin est souvent fermé le mardi ») indique en effet, dans les conditions d’énonciation les plus plausibles, que si l’on est un mardi, il y a plus de chance que le magasin soit fermé qu’ouvert, tandis que l’autre ex. n’autorise nullement ce type d’inférence.</a:t>
            </a:r>
            <a:endParaRPr>
              <a:solidFill>
                <a:srgbClr val="0B5394"/>
              </a:solidFill>
            </a:endParaRPr>
          </a:p>
          <a:p>
            <a:pPr marL="0" lvl="0" indent="0" algn="l" rtl="0">
              <a:lnSpc>
                <a:spcPct val="115000"/>
              </a:lnSpc>
              <a:spcBef>
                <a:spcPts val="0"/>
              </a:spcBef>
              <a:spcAft>
                <a:spcPts val="0"/>
              </a:spcAft>
              <a:buSzPts val="1100"/>
              <a:buNone/>
            </a:pPr>
            <a:r>
              <a:rPr lang="it">
                <a:solidFill>
                  <a:srgbClr val="FF0000"/>
                </a:solidFill>
              </a:rPr>
              <a:t>La différence est fine et pour le moment nous ne les traitons pas comme des marqueurs épistémiques. (page 208-209). </a:t>
            </a:r>
            <a:endParaRPr>
              <a:solidFill>
                <a:srgbClr val="FF0000"/>
              </a:solidFill>
            </a:endParaRPr>
          </a:p>
          <a:p>
            <a:pPr marL="0" lvl="0" indent="0" algn="l" rtl="0">
              <a:lnSpc>
                <a:spcPct val="115000"/>
              </a:lnSpc>
              <a:spcBef>
                <a:spcPts val="0"/>
              </a:spcBef>
              <a:spcAft>
                <a:spcPts val="0"/>
              </a:spcAft>
              <a:buSzPts val="1100"/>
              <a:buNone/>
            </a:pP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sz="1050" i="1">
                <a:solidFill>
                  <a:srgbClr val="0B5394"/>
                </a:solidFill>
                <a:highlight>
                  <a:srgbClr val="FFFFFF"/>
                </a:highlight>
                <a:latin typeface="Roboto"/>
                <a:ea typeface="Roboto"/>
                <a:cs typeface="Roboto"/>
                <a:sym typeface="Roboto"/>
              </a:rPr>
              <a:t>devoir </a:t>
            </a:r>
            <a:r>
              <a:rPr lang="it" sz="1050">
                <a:solidFill>
                  <a:srgbClr val="0B5394"/>
                </a:solidFill>
                <a:highlight>
                  <a:srgbClr val="FFFFFF"/>
                </a:highlight>
                <a:latin typeface="Roboto"/>
                <a:ea typeface="Roboto"/>
                <a:cs typeface="Roboto"/>
                <a:sym typeface="Roboto"/>
              </a:rPr>
              <a:t>marqueur ambigu: "peut-être" ou "avoir la nécessité de". Source : locuteur. Ici peut être bien de la modalité épistémique</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Les militants demandent aux femmes de prouver → </a:t>
            </a:r>
            <a:r>
              <a:rPr lang="it" i="1">
                <a:solidFill>
                  <a:srgbClr val="0B5394"/>
                </a:solidFill>
              </a:rPr>
              <a:t>demandent</a:t>
            </a:r>
            <a:r>
              <a:rPr lang="it">
                <a:solidFill>
                  <a:srgbClr val="0B5394"/>
                </a:solidFill>
              </a:rPr>
              <a:t> ici est déontique (“ordonnent”)</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Tous les verbes de parole (qui introduisent un discours rapporté, direct ou indirect) sont des marqueurs épistémiques, parce que introduisent un discours rapporté, un jugement subjectif. En effet,  En effet, la présence d’un verbe locutoire qui attribue une proposition p à un autre locuteur est par défaut indice de modalité épistémique. La présence d’un discours rapporté (direct ou indirect) “dévoile” le caractère subjectif de la proposition qui est énoncé. En revanche, la proposition peut avoir à son intérieur des propos qui sont validés comme étant aléthiques. (par ex. “Pierre dit que la terre tourne nécessairement” : une modalité épistémique (marquée par </a:t>
            </a:r>
            <a:r>
              <a:rPr lang="it" i="1">
                <a:solidFill>
                  <a:srgbClr val="0B5394"/>
                </a:solidFill>
              </a:rPr>
              <a:t>dire</a:t>
            </a:r>
            <a:r>
              <a:rPr lang="it">
                <a:solidFill>
                  <a:srgbClr val="0B5394"/>
                </a:solidFill>
              </a:rPr>
              <a:t>) qui porte sur une modalité aléthique (nécessairement)). Ici on voit pas d’incertitude, ni par rapport à Pierre (s’il dit p, cela veut dire qu’il sait p), ni par rapport à l0 (au moins, on n’a aucune information) (l0, par rapport à “dire”, ne montre pas d’incertitude et par rapport à p non plus). </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“totalement inconnue” → totalement sert à renforcer la valeur de “inconnue”, il va avec. Le marqueur reste “novice”, “relativement” est considéré un opérateur qui sert à définir le marqueur modal.</a:t>
            </a:r>
            <a:endParaRPr/>
          </a:p>
          <a:p>
            <a:pPr marL="457200" lvl="0" indent="-228600" algn="l" rtl="0">
              <a:lnSpc>
                <a:spcPct val="125454"/>
              </a:lnSpc>
              <a:spcBef>
                <a:spcPts val="0"/>
              </a:spcBef>
              <a:spcAft>
                <a:spcPts val="0"/>
              </a:spcAft>
              <a:buClr>
                <a:srgbClr val="0B5394"/>
              </a:buClr>
              <a:buSzPts val="1100"/>
              <a:buNone/>
            </a:pP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Dévancée marqueur épistémique</a:t>
            </a:r>
            <a:endParaRPr/>
          </a:p>
        </p:txBody>
      </p:sp>
      <p:sp>
        <p:nvSpPr>
          <p:cNvPr id="205" name="Google Shape;205;g3a661288f2b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911b0cb68f_0_33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457200" lvl="0" indent="-298450" algn="l" rtl="0">
              <a:lnSpc>
                <a:spcPct val="125454"/>
              </a:lnSpc>
              <a:spcBef>
                <a:spcPts val="0"/>
              </a:spcBef>
              <a:spcAft>
                <a:spcPts val="0"/>
              </a:spcAft>
              <a:buClr>
                <a:srgbClr val="0B5394"/>
              </a:buClr>
              <a:buSzPts val="1100"/>
              <a:buChar char="-"/>
            </a:pPr>
            <a:r>
              <a:rPr lang="it">
                <a:solidFill>
                  <a:srgbClr val="0B5394"/>
                </a:solidFill>
              </a:rPr>
              <a:t>un peu = quantificateur</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Les militants demandent aux femmes de prouver → </a:t>
            </a:r>
            <a:r>
              <a:rPr lang="it" i="1">
                <a:solidFill>
                  <a:srgbClr val="0B5394"/>
                </a:solidFill>
              </a:rPr>
              <a:t>demandent</a:t>
            </a:r>
            <a:r>
              <a:rPr lang="it">
                <a:solidFill>
                  <a:srgbClr val="0B5394"/>
                </a:solidFill>
              </a:rPr>
              <a:t> ici est déontique (“ordonnent”)</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Tous les verbes de parole (qui introduisent un discours rapporté, direct ou indirect) sont des marqueurs épistémiques, parce que introduisent un discours rapporté, un jugement subjectif</a:t>
            </a:r>
            <a:endParaRPr/>
          </a:p>
          <a:p>
            <a:pPr marL="457200" lvl="0" indent="-228600" algn="l" rtl="0">
              <a:lnSpc>
                <a:spcPct val="125454"/>
              </a:lnSpc>
              <a:spcBef>
                <a:spcPts val="0"/>
              </a:spcBef>
              <a:spcAft>
                <a:spcPts val="0"/>
              </a:spcAft>
              <a:buClr>
                <a:srgbClr val="0B5394"/>
              </a:buClr>
              <a:buSzPts val="1100"/>
              <a:buNone/>
            </a:pP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Enlever : le plus grand, ajouter la règle</a:t>
            </a:r>
            <a:endParaRPr>
              <a:solidFill>
                <a:srgbClr val="0B5394"/>
              </a:solidFill>
            </a:endParaRPr>
          </a:p>
          <a:p>
            <a:pPr marL="0" lvl="0" indent="0" algn="l" rtl="0">
              <a:lnSpc>
                <a:spcPct val="100000"/>
              </a:lnSpc>
              <a:spcBef>
                <a:spcPts val="800"/>
              </a:spcBef>
              <a:spcAft>
                <a:spcPts val="0"/>
              </a:spcAft>
              <a:buSzPts val="1100"/>
              <a:buNone/>
            </a:pPr>
            <a:endParaRPr/>
          </a:p>
        </p:txBody>
      </p:sp>
      <p:sp>
        <p:nvSpPr>
          <p:cNvPr id="216" name="Google Shape;216;g3911b0cb68f_0_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661288f2b_0_21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457200" lvl="0" indent="-298450" algn="l" rtl="0">
              <a:lnSpc>
                <a:spcPct val="125454"/>
              </a:lnSpc>
              <a:spcBef>
                <a:spcPts val="0"/>
              </a:spcBef>
              <a:spcAft>
                <a:spcPts val="0"/>
              </a:spcAft>
              <a:buClr>
                <a:srgbClr val="0B5394"/>
              </a:buClr>
              <a:buSzPts val="1100"/>
              <a:buChar char="-"/>
            </a:pPr>
            <a:r>
              <a:rPr lang="it">
                <a:solidFill>
                  <a:srgbClr val="0B5394"/>
                </a:solidFill>
              </a:rPr>
              <a:t>“encore” : adverbe aspectuel</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Les militants demandent aux femmes de prouver → </a:t>
            </a:r>
            <a:r>
              <a:rPr lang="it" i="1">
                <a:solidFill>
                  <a:srgbClr val="0B5394"/>
                </a:solidFill>
              </a:rPr>
              <a:t>demandent</a:t>
            </a:r>
            <a:r>
              <a:rPr lang="it">
                <a:solidFill>
                  <a:srgbClr val="0B5394"/>
                </a:solidFill>
              </a:rPr>
              <a:t> ici est boulique (cfr. “ordonnent”)</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Tous les verbes de parole (qui introduisent un discours rapporté, direct ou indirect) sont des marqueurs épistémiques, parce que introduisent un discours rapporté, ils marquent la présence d’un jugement subjectif de la part du sujet du discours rapporté. En effet, dans la phrase “Pierre dit que Marie est sortie”, moi, l0, JE, je ne suis pas en train de présenter la proposition que Marie est sortie ni comme certaine, ni comme incertaine, il n’y a aucun jugement de ma part.</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Tous les verbes de parole (qui introduisent un discours rapporté, direct ou indirect) sont des marqueurs épistémiques, parce que introduisent un discours rapporté, un jugement subjectif. En effet,  En effet, la présence d’un verbe locutoire qui attribue une proposition p à un autre locuteur est par défaut indice de modalité épistémique. La présence d’un discours rapporté (direct ou indirect) “dévoile” le caractère subjectif de la proposition qui est énoncé. En revanche, la proposition peut avoir à son intérieur des propos qui sont validés comme étant aléthiques. (par ex. “Pierre dit que la terre tourne nécessairement” : une modalité épistémique (marquée par </a:t>
            </a:r>
            <a:r>
              <a:rPr lang="it" i="1">
                <a:solidFill>
                  <a:srgbClr val="0B5394"/>
                </a:solidFill>
              </a:rPr>
              <a:t>dire</a:t>
            </a:r>
            <a:r>
              <a:rPr lang="it">
                <a:solidFill>
                  <a:srgbClr val="0B5394"/>
                </a:solidFill>
              </a:rPr>
              <a:t>) qui porte sur une modalité aléthique (nécessairement)). Ici on voit pas d’incertitude, ni par rapport à Pierre (s’il dit p, cela veut dire qu’il sait p), ni par rapport à l0 (au moins, on n’a aucune information) (l0, par rapport à “dire”, ne montre pas d’incertitude et par rapport à p non plus). </a:t>
            </a:r>
            <a:endParaRPr>
              <a:solidFill>
                <a:srgbClr val="0B5394"/>
              </a:solidFill>
            </a:endParaRPr>
          </a:p>
        </p:txBody>
      </p:sp>
      <p:sp>
        <p:nvSpPr>
          <p:cNvPr id="227" name="Google Shape;227;g3a661288f2b_0_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a661288f2b_0_228: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457200" lvl="0" indent="-298450" algn="l" rtl="0">
              <a:lnSpc>
                <a:spcPct val="125454"/>
              </a:lnSpc>
              <a:spcBef>
                <a:spcPts val="0"/>
              </a:spcBef>
              <a:spcAft>
                <a:spcPts val="0"/>
              </a:spcAft>
              <a:buClr>
                <a:srgbClr val="0B5394"/>
              </a:buClr>
              <a:buSzPts val="1100"/>
              <a:buChar char="-"/>
            </a:pPr>
            <a:r>
              <a:rPr lang="it">
                <a:solidFill>
                  <a:srgbClr val="0B5394"/>
                </a:solidFill>
              </a:rPr>
              <a:t>“encore” : adverbe aspectuel</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Les militants demandent aux femmes de prouver → </a:t>
            </a:r>
            <a:r>
              <a:rPr lang="it" i="1">
                <a:solidFill>
                  <a:srgbClr val="0B5394"/>
                </a:solidFill>
              </a:rPr>
              <a:t>demandent</a:t>
            </a:r>
            <a:r>
              <a:rPr lang="it">
                <a:solidFill>
                  <a:srgbClr val="0B5394"/>
                </a:solidFill>
              </a:rPr>
              <a:t> ici est déontique (cfr. “ordonnent”)</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Tous les verbes de parole (qui introduisent un discours rapporté, direct ou indirect) sont des marqueurs épistémiques, parce que introduisent un discours rapporté, un jugement subjectif</a:t>
            </a:r>
            <a:endParaRPr>
              <a:solidFill>
                <a:srgbClr val="0B5394"/>
              </a:solidFill>
            </a:endParaRPr>
          </a:p>
          <a:p>
            <a:pPr marL="457200" lvl="0" indent="-298450" algn="l" rtl="0">
              <a:lnSpc>
                <a:spcPct val="125454"/>
              </a:lnSpc>
              <a:spcBef>
                <a:spcPts val="0"/>
              </a:spcBef>
              <a:spcAft>
                <a:spcPts val="0"/>
              </a:spcAft>
              <a:buClr>
                <a:srgbClr val="0B5394"/>
              </a:buClr>
              <a:buSzPts val="1100"/>
              <a:buChar char="-"/>
            </a:pPr>
            <a:r>
              <a:rPr lang="it">
                <a:solidFill>
                  <a:srgbClr val="0B5394"/>
                </a:solidFill>
              </a:rPr>
              <a:t>“relativement novice” → relativement sert à préciser la valeur de “novice”, il va avec. Le marqueur reste “novice”, “relativement” est considéré un opérateur qui sert à définir le marqueur modal.</a:t>
            </a:r>
            <a:endParaRPr>
              <a:solidFill>
                <a:srgbClr val="0B5394"/>
              </a:solidFill>
            </a:endParaRPr>
          </a:p>
          <a:p>
            <a:pPr marL="457200" lvl="0" indent="-298450" algn="just" rtl="0">
              <a:lnSpc>
                <a:spcPct val="100000"/>
              </a:lnSpc>
              <a:spcBef>
                <a:spcPts val="0"/>
              </a:spcBef>
              <a:spcAft>
                <a:spcPts val="0"/>
              </a:spcAft>
              <a:buSzPts val="1100"/>
              <a:buChar char="-"/>
            </a:pPr>
            <a:r>
              <a:rPr lang="it">
                <a:solidFill>
                  <a:srgbClr val="C00000"/>
                </a:solidFill>
                <a:latin typeface="Quattrocento Sans"/>
                <a:ea typeface="Quattrocento Sans"/>
                <a:cs typeface="Quattrocento Sans"/>
                <a:sym typeface="Quattrocento Sans"/>
              </a:rPr>
              <a:t>Au final, on traite </a:t>
            </a:r>
            <a:r>
              <a:rPr lang="it" i="1">
                <a:solidFill>
                  <a:srgbClr val="C00000"/>
                </a:solidFill>
                <a:latin typeface="Quattrocento Sans"/>
                <a:ea typeface="Quattrocento Sans"/>
                <a:cs typeface="Quattrocento Sans"/>
                <a:sym typeface="Quattrocento Sans"/>
              </a:rPr>
              <a:t>surtout </a:t>
            </a:r>
            <a:r>
              <a:rPr lang="it">
                <a:solidFill>
                  <a:srgbClr val="C00000"/>
                </a:solidFill>
                <a:latin typeface="Quattrocento Sans"/>
                <a:ea typeface="Quattrocento Sans"/>
                <a:cs typeface="Quattrocento Sans"/>
                <a:sym typeface="Quattrocento Sans"/>
              </a:rPr>
              <a:t>comme un « quantificateur » (= </a:t>
            </a:r>
            <a:r>
              <a:rPr lang="it" i="1">
                <a:solidFill>
                  <a:srgbClr val="C00000"/>
                </a:solidFill>
                <a:latin typeface="Quattrocento Sans"/>
                <a:ea typeface="Quattrocento Sans"/>
                <a:cs typeface="Quattrocento Sans"/>
                <a:sym typeface="Quattrocento Sans"/>
              </a:rPr>
              <a:t>quelques, certains, …</a:t>
            </a:r>
            <a:r>
              <a:rPr lang="it">
                <a:solidFill>
                  <a:srgbClr val="C00000"/>
                </a:solidFill>
                <a:latin typeface="Quattrocento Sans"/>
                <a:ea typeface="Quattrocento Sans"/>
                <a:cs typeface="Quattrocento Sans"/>
                <a:sym typeface="Quattrocento Sans"/>
              </a:rPr>
              <a:t>) donc pas épistémique, mais aléthique. Mais possible en théorie aussi la lecture épistémique. → c’est un choix qu’on fait pour aller vers l’automatisation</a:t>
            </a:r>
            <a:endParaRPr>
              <a:solidFill>
                <a:srgbClr val="C00000"/>
              </a:solidFill>
              <a:latin typeface="Quattrocento Sans"/>
              <a:ea typeface="Quattrocento Sans"/>
              <a:cs typeface="Quattrocento Sans"/>
              <a:sym typeface="Quattrocento Sans"/>
            </a:endParaRPr>
          </a:p>
          <a:p>
            <a:pPr marL="457200" lvl="0" indent="-298450" algn="l" rtl="0">
              <a:lnSpc>
                <a:spcPct val="125454"/>
              </a:lnSpc>
              <a:spcBef>
                <a:spcPts val="0"/>
              </a:spcBef>
              <a:spcAft>
                <a:spcPts val="0"/>
              </a:spcAft>
              <a:buClr>
                <a:srgbClr val="C00000"/>
              </a:buClr>
              <a:buSzPts val="1100"/>
              <a:buFont typeface="Quattrocento Sans"/>
              <a:buChar char="-"/>
            </a:pPr>
            <a:r>
              <a:rPr lang="it">
                <a:solidFill>
                  <a:srgbClr val="0B5394"/>
                </a:solidFill>
              </a:rPr>
              <a:t>Tous les verbes de parole (qui introduisent un discours rapporté, direct ou indirect) sont des marqueurs épistémiques, parce que introduisent un discours rapporté, un jugement subjectif. En effet,  En effet, la présence d’un verbe locutoire qui attribue une proposition p à un autre locuteur est par défaut indice de modalité épistémique. La présence d’un discours rapporté (direct ou indirect) “dévoile” le caractère subjectif de la proposition qui est énoncé. En revanche, la proposition peut avoir à son intérieur des propos qui sont validés comme étant aléthiques. (par ex. “Pierre dit que la terre tourne nécessairement” : une modalité épistémique (marquée par </a:t>
            </a:r>
            <a:r>
              <a:rPr lang="it" i="1">
                <a:solidFill>
                  <a:srgbClr val="0B5394"/>
                </a:solidFill>
              </a:rPr>
              <a:t>dire</a:t>
            </a:r>
            <a:r>
              <a:rPr lang="it">
                <a:solidFill>
                  <a:srgbClr val="0B5394"/>
                </a:solidFill>
              </a:rPr>
              <a:t>) qui porte sur une modalité aléthique (nécessairement)). Ici on voit pas d’incertitude, ni par rapport à Pierre (s’il dit p, cela veut dire qu’il sait p), ni par rapport à l0 (au moins, on n’a aucune information) (l0, par rapport à “dire”, ne montre pas d’incertitude et par rapport à p non plus). </a:t>
            </a:r>
            <a:endParaRPr>
              <a:solidFill>
                <a:srgbClr val="C00000"/>
              </a:solidFill>
              <a:latin typeface="Quattrocento Sans"/>
              <a:ea typeface="Quattrocento Sans"/>
              <a:cs typeface="Quattrocento Sans"/>
              <a:sym typeface="Quattrocento Sans"/>
            </a:endParaRPr>
          </a:p>
        </p:txBody>
      </p:sp>
      <p:sp>
        <p:nvSpPr>
          <p:cNvPr id="238" name="Google Shape;238;g3a661288f2b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1"/>
        <p:cNvGrpSpPr/>
        <p:nvPr/>
      </p:nvGrpSpPr>
      <p:grpSpPr>
        <a:xfrm>
          <a:off x="0" y="0"/>
          <a:ext cx="0" cy="0"/>
          <a:chOff x="0" y="0"/>
          <a:chExt cx="0" cy="0"/>
        </a:xfrm>
      </p:grpSpPr>
      <p:sp>
        <p:nvSpPr>
          <p:cNvPr id="12" name="Google Shape;12;p53"/>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53"/>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Google Shape;14;p5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5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5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7"/>
        <p:cNvGrpSpPr/>
        <p:nvPr/>
      </p:nvGrpSpPr>
      <p:grpSpPr>
        <a:xfrm>
          <a:off x="0" y="0"/>
          <a:ext cx="0" cy="0"/>
          <a:chOff x="0" y="0"/>
          <a:chExt cx="0" cy="0"/>
        </a:xfrm>
      </p:grpSpPr>
      <p:sp>
        <p:nvSpPr>
          <p:cNvPr id="18" name="Google Shape;18;p5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5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Google Shape;20;p5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5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5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3"/>
        <p:cNvGrpSpPr/>
        <p:nvPr/>
      </p:nvGrpSpPr>
      <p:grpSpPr>
        <a:xfrm>
          <a:off x="0" y="0"/>
          <a:ext cx="0" cy="0"/>
          <a:chOff x="0" y="0"/>
          <a:chExt cx="0" cy="0"/>
        </a:xfrm>
      </p:grpSpPr>
      <p:sp>
        <p:nvSpPr>
          <p:cNvPr id="24" name="Google Shape;24;p55"/>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55"/>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5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5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5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29"/>
        <p:cNvGrpSpPr/>
        <p:nvPr/>
      </p:nvGrpSpPr>
      <p:grpSpPr>
        <a:xfrm>
          <a:off x="0" y="0"/>
          <a:ext cx="0" cy="0"/>
          <a:chOff x="0" y="0"/>
          <a:chExt cx="0" cy="0"/>
        </a:xfrm>
      </p:grpSpPr>
      <p:sp>
        <p:nvSpPr>
          <p:cNvPr id="30" name="Google Shape;30;p5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56"/>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56"/>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5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5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5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36"/>
        <p:cNvGrpSpPr/>
        <p:nvPr/>
      </p:nvGrpSpPr>
      <p:grpSpPr>
        <a:xfrm>
          <a:off x="0" y="0"/>
          <a:ext cx="0" cy="0"/>
          <a:chOff x="0" y="0"/>
          <a:chExt cx="0" cy="0"/>
        </a:xfrm>
      </p:grpSpPr>
      <p:sp>
        <p:nvSpPr>
          <p:cNvPr id="37" name="Google Shape;37;p57"/>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57"/>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57"/>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57"/>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57"/>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5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5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5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5"/>
        <p:cNvGrpSpPr/>
        <p:nvPr/>
      </p:nvGrpSpPr>
      <p:grpSpPr>
        <a:xfrm>
          <a:off x="0" y="0"/>
          <a:ext cx="0" cy="0"/>
          <a:chOff x="0" y="0"/>
          <a:chExt cx="0" cy="0"/>
        </a:xfrm>
      </p:grpSpPr>
      <p:sp>
        <p:nvSpPr>
          <p:cNvPr id="46" name="Google Shape;46;p5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5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5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5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0"/>
        <p:cNvGrpSpPr/>
        <p:nvPr/>
      </p:nvGrpSpPr>
      <p:grpSpPr>
        <a:xfrm>
          <a:off x="0" y="0"/>
          <a:ext cx="0" cy="0"/>
          <a:chOff x="0" y="0"/>
          <a:chExt cx="0" cy="0"/>
        </a:xfrm>
      </p:grpSpPr>
      <p:sp>
        <p:nvSpPr>
          <p:cNvPr id="51" name="Google Shape;51;p5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5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3" name="Google Shape;53;p5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4"/>
        <p:cNvGrpSpPr/>
        <p:nvPr/>
      </p:nvGrpSpPr>
      <p:grpSpPr>
        <a:xfrm>
          <a:off x="0" y="0"/>
          <a:ext cx="0" cy="0"/>
          <a:chOff x="0" y="0"/>
          <a:chExt cx="0" cy="0"/>
        </a:xfrm>
      </p:grpSpPr>
      <p:sp>
        <p:nvSpPr>
          <p:cNvPr id="55" name="Google Shape;55;p60"/>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60"/>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Google Shape;57;p60"/>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Google Shape;58;p6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6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6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1"/>
        <p:cNvGrpSpPr/>
        <p:nvPr/>
      </p:nvGrpSpPr>
      <p:grpSpPr>
        <a:xfrm>
          <a:off x="0" y="0"/>
          <a:ext cx="0" cy="0"/>
          <a:chOff x="0" y="0"/>
          <a:chExt cx="0" cy="0"/>
        </a:xfrm>
      </p:grpSpPr>
      <p:sp>
        <p:nvSpPr>
          <p:cNvPr id="62" name="Google Shape;62;p61"/>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61"/>
          <p:cNvSpPr>
            <a:spLocks noGrp="1"/>
          </p:cNvSpPr>
          <p:nvPr>
            <p:ph type="pic" idx="2"/>
          </p:nvPr>
        </p:nvSpPr>
        <p:spPr>
          <a:xfrm>
            <a:off x="3887391" y="740569"/>
            <a:ext cx="4629300" cy="3655200"/>
          </a:xfrm>
          <a:prstGeom prst="rect">
            <a:avLst/>
          </a:prstGeom>
          <a:noFill/>
          <a:ln>
            <a:noFill/>
          </a:ln>
        </p:spPr>
      </p:sp>
      <p:sp>
        <p:nvSpPr>
          <p:cNvPr id="64" name="Google Shape;64;p61"/>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Google Shape;65;p6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6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6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68"/>
        <p:cNvGrpSpPr/>
        <p:nvPr/>
      </p:nvGrpSpPr>
      <p:grpSpPr>
        <a:xfrm>
          <a:off x="0" y="0"/>
          <a:ext cx="0" cy="0"/>
          <a:chOff x="0" y="0"/>
          <a:chExt cx="0" cy="0"/>
        </a:xfrm>
      </p:grpSpPr>
      <p:sp>
        <p:nvSpPr>
          <p:cNvPr id="69" name="Google Shape;69;p6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62"/>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6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6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6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4"/>
        <p:cNvGrpSpPr/>
        <p:nvPr/>
      </p:nvGrpSpPr>
      <p:grpSpPr>
        <a:xfrm>
          <a:off x="0" y="0"/>
          <a:ext cx="0" cy="0"/>
          <a:chOff x="0" y="0"/>
          <a:chExt cx="0" cy="0"/>
        </a:xfrm>
      </p:grpSpPr>
      <p:sp>
        <p:nvSpPr>
          <p:cNvPr id="75" name="Google Shape;75;p63"/>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63"/>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6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6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6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5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5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5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5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colli@parisnanterre.f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hyperlink" Target="http://www.glozz.or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
          <p:cNvSpPr txBox="1"/>
          <p:nvPr/>
        </p:nvSpPr>
        <p:spPr>
          <a:xfrm>
            <a:off x="-1446" y="1203081"/>
            <a:ext cx="9147000" cy="282382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it" sz="2400" b="1" i="0" u="none" strike="noStrike" cap="none">
                <a:solidFill>
                  <a:srgbClr val="097D3F"/>
                </a:solidFill>
                <a:latin typeface="Quattrocento Sans"/>
                <a:ea typeface="Quattrocento Sans"/>
                <a:cs typeface="Quattrocento Sans"/>
                <a:sym typeface="Quattrocento Sans"/>
              </a:rPr>
              <a:t>4L7TL02P - Modélisation linguistique pour</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it" sz="2400" b="1" i="0" u="none" strike="noStrike" cap="none">
                <a:solidFill>
                  <a:srgbClr val="097D3F"/>
                </a:solidFill>
                <a:latin typeface="Quattrocento Sans"/>
                <a:ea typeface="Quattrocento Sans"/>
                <a:cs typeface="Quattrocento Sans"/>
                <a:sym typeface="Quattrocento Sans"/>
              </a:rPr>
              <a:t>l'analyse automatique de textes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2400"/>
              <a:buFont typeface="Arial"/>
              <a:buNone/>
            </a:pPr>
            <a:r>
              <a:rPr lang="it" sz="2400" b="0" i="0" u="none" strike="noStrike" cap="none">
                <a:solidFill>
                  <a:schemeClr val="dk1"/>
                </a:solidFill>
                <a:latin typeface="Quattrocento Sans"/>
                <a:ea typeface="Quattrocento Sans"/>
                <a:cs typeface="Quattrocento Sans"/>
                <a:sym typeface="Quattrocento Sans"/>
              </a:rPr>
              <a:t>L’incertitude</a:t>
            </a: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600"/>
              </a:spcBef>
              <a:spcAft>
                <a:spcPts val="0"/>
              </a:spcAft>
              <a:buClr>
                <a:srgbClr val="000000"/>
              </a:buClr>
              <a:buSzPts val="1800"/>
              <a:buFont typeface="Arial"/>
              <a:buNone/>
            </a:pPr>
            <a:r>
              <a:rPr lang="it" sz="1800" b="0" i="0" u="none" strike="noStrike" cap="none">
                <a:solidFill>
                  <a:schemeClr val="dk1"/>
                </a:solidFill>
                <a:latin typeface="Quattrocento Sans"/>
                <a:ea typeface="Quattrocento Sans"/>
                <a:cs typeface="Quattrocento Sans"/>
                <a:sym typeface="Quattrocento Sans"/>
              </a:rPr>
              <a:t>Delphine Battistelli, Anna Colli</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500"/>
              <a:buFont typeface="Arial"/>
              <a:buNone/>
            </a:pPr>
            <a:r>
              <a:rPr lang="it" sz="1500" b="0" i="0" u="sng" strike="noStrike" cap="none">
                <a:solidFill>
                  <a:schemeClr val="hlink"/>
                </a:solidFill>
                <a:latin typeface="Quattrocento Sans"/>
                <a:ea typeface="Quattrocento Sans"/>
                <a:cs typeface="Quattrocento Sans"/>
                <a:sym typeface="Quattrocento Sans"/>
                <a:hlinkClick r:id="rId3"/>
              </a:rPr>
              <a:t>acolli@parisnanterre.fr</a:t>
            </a:r>
            <a:r>
              <a:rPr lang="it" sz="1500" b="0" i="0" u="none" strike="noStrike" cap="none">
                <a:solidFill>
                  <a:schemeClr val="dk1"/>
                </a:solidFill>
                <a:latin typeface="Quattrocento Sans"/>
                <a:ea typeface="Quattrocento Sans"/>
                <a:cs typeface="Quattrocento Sans"/>
                <a:sym typeface="Quattrocento Sans"/>
              </a:rPr>
              <a:t> </a:t>
            </a:r>
            <a:endParaRPr sz="15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Quattrocento Sans"/>
              <a:ea typeface="Quattrocento Sans"/>
              <a:cs typeface="Quattrocento Sans"/>
              <a:sym typeface="Quattrocento Sans"/>
            </a:endParaRPr>
          </a:p>
        </p:txBody>
      </p:sp>
      <p:sp>
        <p:nvSpPr>
          <p:cNvPr id="86" name="Google Shape;86;p1"/>
          <p:cNvSpPr txBox="1"/>
          <p:nvPr/>
        </p:nvSpPr>
        <p:spPr>
          <a:xfrm>
            <a:off x="3353729" y="4411645"/>
            <a:ext cx="2429400" cy="531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it" sz="1500" b="0" i="0" u="none" strike="noStrike" cap="none">
                <a:solidFill>
                  <a:schemeClr val="dk1"/>
                </a:solidFill>
                <a:latin typeface="Quattrocento Sans"/>
                <a:ea typeface="Quattrocento Sans"/>
                <a:cs typeface="Quattrocento Sans"/>
                <a:sym typeface="Quattrocento Sans"/>
              </a:rPr>
              <a:t>Université Paris Nanterre</a:t>
            </a:r>
            <a:endParaRPr sz="1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it" sz="1500" b="0" i="0" u="none" strike="noStrike" cap="none">
                <a:solidFill>
                  <a:schemeClr val="dk1"/>
                </a:solidFill>
                <a:latin typeface="Quattrocento Sans"/>
                <a:ea typeface="Quattrocento Sans"/>
                <a:cs typeface="Quattrocento Sans"/>
                <a:sym typeface="Quattrocento Sans"/>
              </a:rPr>
              <a:t>09 octobre 2025</a:t>
            </a:r>
            <a:endParaRPr sz="1500" b="0" i="0" u="none" strike="noStrike" cap="none">
              <a:solidFill>
                <a:schemeClr val="dk1"/>
              </a:solidFill>
              <a:latin typeface="Calibri"/>
              <a:ea typeface="Calibri"/>
              <a:cs typeface="Calibri"/>
              <a:sym typeface="Calibri"/>
            </a:endParaRPr>
          </a:p>
        </p:txBody>
      </p:sp>
      <p:cxnSp>
        <p:nvCxnSpPr>
          <p:cNvPr id="87" name="Google Shape;87;p1"/>
          <p:cNvCxnSpPr/>
          <p:nvPr/>
        </p:nvCxnSpPr>
        <p:spPr>
          <a:xfrm>
            <a:off x="2708566" y="4288432"/>
            <a:ext cx="3812400" cy="14400"/>
          </a:xfrm>
          <a:prstGeom prst="straightConnector1">
            <a:avLst/>
          </a:prstGeom>
          <a:noFill/>
          <a:ln w="21425" cap="flat" cmpd="sng">
            <a:solidFill>
              <a:srgbClr val="097D3F"/>
            </a:solidFill>
            <a:prstDash val="solid"/>
            <a:miter lim="800000"/>
            <a:headEnd type="none" w="sm" len="sm"/>
            <a:tailEnd type="none" w="sm" len="sm"/>
          </a:ln>
        </p:spPr>
      </p:cxnSp>
      <p:pic>
        <p:nvPicPr>
          <p:cNvPr id="88" name="Google Shape;88;p1"/>
          <p:cNvPicPr preferRelativeResize="0"/>
          <p:nvPr/>
        </p:nvPicPr>
        <p:blipFill rotWithShape="1">
          <a:blip r:embed="rId4">
            <a:alphaModFix/>
          </a:blip>
          <a:srcRect/>
          <a:stretch/>
        </p:blipFill>
        <p:spPr>
          <a:xfrm>
            <a:off x="3440018" y="327684"/>
            <a:ext cx="2270852" cy="515174"/>
          </a:xfrm>
          <a:prstGeom prst="rect">
            <a:avLst/>
          </a:prstGeom>
          <a:noFill/>
          <a:ln>
            <a:noFill/>
          </a:ln>
        </p:spPr>
      </p:pic>
      <p:sp>
        <p:nvSpPr>
          <p:cNvPr id="89" name="Google Shape;89;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it"/>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a661288f2b_0_524"/>
          <p:cNvSpPr txBox="1"/>
          <p:nvPr/>
        </p:nvSpPr>
        <p:spPr>
          <a:xfrm>
            <a:off x="0" y="492336"/>
            <a:ext cx="9144000" cy="5579700"/>
          </a:xfrm>
          <a:prstGeom prst="rect">
            <a:avLst/>
          </a:prstGeom>
          <a:noFill/>
          <a:ln>
            <a:noFill/>
          </a:ln>
        </p:spPr>
        <p:txBody>
          <a:bodyPr spcFirstLastPara="1" wrap="square" lIns="68575" tIns="34275" rIns="68575" bIns="34275" anchor="t" anchorCtr="0">
            <a:spAutoFit/>
          </a:bodyPr>
          <a:lstStyle/>
          <a:p>
            <a:pPr marL="3429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254000" marR="0" lvl="0" indent="-254000" algn="just" rtl="0">
              <a:lnSpc>
                <a:spcPct val="100000"/>
              </a:lnSpc>
              <a:spcBef>
                <a:spcPts val="0"/>
              </a:spcBef>
              <a:spcAft>
                <a:spcPts val="0"/>
              </a:spcAft>
              <a:buClr>
                <a:schemeClr val="dk1"/>
              </a:buClr>
              <a:buSzPts val="1600"/>
              <a:buFont typeface="Noto Sans Symbols"/>
              <a:buChar char="●"/>
            </a:pPr>
            <a:r>
              <a:rPr lang="it" sz="1600" b="0" i="0" u="none" strike="noStrike" cap="none">
                <a:solidFill>
                  <a:schemeClr val="dk1"/>
                </a:solidFill>
                <a:latin typeface="Quattrocento Sans"/>
                <a:ea typeface="Quattrocento Sans"/>
                <a:cs typeface="Quattrocento Sans"/>
                <a:sym typeface="Quattrocento Sans"/>
              </a:rPr>
              <a:t>Espace </a:t>
            </a:r>
            <a:r>
              <a:rPr lang="it" sz="1600" b="0" i="1" u="none" strike="noStrike" cap="none">
                <a:solidFill>
                  <a:schemeClr val="dk1"/>
                </a:solidFill>
                <a:latin typeface="Quattrocento Sans"/>
                <a:ea typeface="Quattrocento Sans"/>
                <a:cs typeface="Quattrocento Sans"/>
                <a:sym typeface="Quattrocento Sans"/>
              </a:rPr>
              <a:t>Cours en ligne Paris Nanterre</a:t>
            </a:r>
            <a:r>
              <a:rPr lang="it" sz="1600" b="0" i="0" u="none" strike="noStrike" cap="none">
                <a:solidFill>
                  <a:schemeClr val="dk1"/>
                </a:solidFill>
                <a:latin typeface="Quattrocento Sans"/>
                <a:ea typeface="Quattrocento Sans"/>
                <a:cs typeface="Quattrocento Sans"/>
                <a:sym typeface="Quattrocento Sans"/>
              </a:rPr>
              <a:t> &gt; </a:t>
            </a:r>
            <a:r>
              <a:rPr lang="it" sz="1600" b="0" i="0" u="sng" strike="noStrike" cap="none">
                <a:solidFill>
                  <a:schemeClr val="dk1"/>
                </a:solidFill>
                <a:latin typeface="Quattrocento Sans"/>
                <a:ea typeface="Quattrocento Sans"/>
                <a:cs typeface="Quattrocento Sans"/>
                <a:sym typeface="Quattrocento Sans"/>
              </a:rPr>
              <a:t>M1 TAL</a:t>
            </a:r>
            <a:r>
              <a:rPr lang="it" sz="1600" b="0" i="0" u="none" strike="noStrike" cap="none">
                <a:solidFill>
                  <a:schemeClr val="dk1"/>
                </a:solidFill>
                <a:latin typeface="Quattrocento Sans"/>
                <a:ea typeface="Quattrocento Sans"/>
                <a:cs typeface="Quattrocento Sans"/>
                <a:sym typeface="Quattrocento Sans"/>
              </a:rPr>
              <a:t> &gt; </a:t>
            </a:r>
            <a:r>
              <a:rPr lang="it" sz="1600" b="0" i="0" u="sng" strike="noStrike" cap="none">
                <a:solidFill>
                  <a:schemeClr val="dk1"/>
                </a:solidFill>
                <a:latin typeface="Quattrocento Sans"/>
                <a:ea typeface="Quattrocento Sans"/>
                <a:cs typeface="Quattrocento Sans"/>
                <a:sym typeface="Quattrocento Sans"/>
              </a:rPr>
              <a:t>Analyse symbolique des données</a:t>
            </a:r>
            <a:r>
              <a:rPr lang="it" sz="1600" b="0" i="0" u="none" strike="noStrike" cap="none">
                <a:solidFill>
                  <a:schemeClr val="dk1"/>
                </a:solidFill>
                <a:latin typeface="Quattrocento Sans"/>
                <a:ea typeface="Quattrocento Sans"/>
                <a:cs typeface="Quattrocento Sans"/>
                <a:sym typeface="Quattrocento Sans"/>
              </a:rPr>
              <a:t> (Groupe 2)</a:t>
            </a:r>
            <a:endParaRPr sz="16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254000" marR="0" lvl="0" indent="-254000" algn="l" rtl="0">
              <a:lnSpc>
                <a:spcPct val="100000"/>
              </a:lnSpc>
              <a:spcBef>
                <a:spcPts val="0"/>
              </a:spcBef>
              <a:spcAft>
                <a:spcPts val="0"/>
              </a:spcAft>
              <a:buClr>
                <a:schemeClr val="dk1"/>
              </a:buClr>
              <a:buSzPts val="1600"/>
              <a:buFont typeface="Noto Sans Symbols"/>
              <a:buChar char="●"/>
            </a:pPr>
            <a:r>
              <a:rPr lang="it" sz="1600" b="0" i="0" u="none" strike="noStrike" cap="none">
                <a:solidFill>
                  <a:schemeClr val="dk1"/>
                </a:solidFill>
                <a:latin typeface="Quattrocento Sans"/>
                <a:ea typeface="Quattrocento Sans"/>
                <a:cs typeface="Quattrocento Sans"/>
                <a:sym typeface="Quattrocento Sans"/>
              </a:rPr>
              <a:t>Evaluation : DM  </a:t>
            </a:r>
            <a:r>
              <a:rPr lang="it" sz="1600">
                <a:solidFill>
                  <a:schemeClr val="dk1"/>
                </a:solidFill>
                <a:latin typeface="Quattrocento Sans"/>
                <a:ea typeface="Quattrocento Sans"/>
                <a:cs typeface="Quattrocento Sans"/>
                <a:sym typeface="Quattrocento Sans"/>
              </a:rPr>
              <a:t>5</a:t>
            </a:r>
            <a:r>
              <a:rPr lang="it" sz="1600" b="0" i="0" u="none" strike="noStrike" cap="none">
                <a:solidFill>
                  <a:schemeClr val="dk1"/>
                </a:solidFill>
                <a:latin typeface="Quattrocento Sans"/>
                <a:ea typeface="Quattrocento Sans"/>
                <a:cs typeface="Quattrocento Sans"/>
                <a:sym typeface="Quattrocento Sans"/>
              </a:rPr>
              <a:t>0% (</a:t>
            </a:r>
            <a:r>
              <a:rPr lang="it" sz="1600">
                <a:solidFill>
                  <a:schemeClr val="dk1"/>
                </a:solidFill>
                <a:latin typeface="Quattrocento Sans"/>
                <a:ea typeface="Quattrocento Sans"/>
                <a:cs typeface="Quattrocento Sans"/>
                <a:sym typeface="Quattrocento Sans"/>
              </a:rPr>
              <a:t>sur</a:t>
            </a:r>
            <a:r>
              <a:rPr lang="it" sz="1600" b="0" i="0" u="none" strike="noStrike" cap="none">
                <a:solidFill>
                  <a:schemeClr val="dk1"/>
                </a:solidFill>
                <a:latin typeface="Quattrocento Sans"/>
                <a:ea typeface="Quattrocento Sans"/>
                <a:cs typeface="Quattrocento Sans"/>
                <a:sym typeface="Quattrocento Sans"/>
              </a:rPr>
              <a:t> </a:t>
            </a:r>
            <a:r>
              <a:rPr lang="it" sz="1600">
                <a:solidFill>
                  <a:schemeClr val="dk1"/>
                </a:solidFill>
                <a:latin typeface="Quattrocento Sans"/>
                <a:ea typeface="Quattrocento Sans"/>
                <a:cs typeface="Quattrocento Sans"/>
                <a:sym typeface="Quattrocento Sans"/>
              </a:rPr>
              <a:t>“adverbiaux temporels” et “incertitude”) + DST 50% (sur “adverbiaux temporels” et “incertitude”)</a:t>
            </a:r>
            <a:br>
              <a:rPr lang="it" sz="1600" b="0" i="0" u="none" strike="noStrike" cap="none">
                <a:solidFill>
                  <a:schemeClr val="dk1"/>
                </a:solidFill>
                <a:latin typeface="Quattrocento Sans"/>
                <a:ea typeface="Quattrocento Sans"/>
                <a:cs typeface="Quattrocento Sans"/>
                <a:sym typeface="Quattrocento Sans"/>
              </a:rPr>
            </a:br>
            <a:endParaRPr sz="1600" b="0" i="0" u="none" strike="noStrike" cap="none">
              <a:solidFill>
                <a:schemeClr val="dk1"/>
              </a:solidFill>
              <a:latin typeface="Quattrocento Sans"/>
              <a:ea typeface="Quattrocento Sans"/>
              <a:cs typeface="Quattrocento Sans"/>
              <a:sym typeface="Quattrocento Sans"/>
            </a:endParaRPr>
          </a:p>
          <a:p>
            <a:pPr marL="254000" marR="0" lvl="0" indent="-254000" algn="just" rtl="0">
              <a:lnSpc>
                <a:spcPct val="100000"/>
              </a:lnSpc>
              <a:spcBef>
                <a:spcPts val="900"/>
              </a:spcBef>
              <a:spcAft>
                <a:spcPts val="0"/>
              </a:spcAft>
              <a:buClr>
                <a:schemeClr val="dk1"/>
              </a:buClr>
              <a:buSzPts val="1600"/>
              <a:buFont typeface="Noto Sans Symbols"/>
              <a:buChar char="●"/>
            </a:pPr>
            <a:r>
              <a:rPr lang="it" sz="1600" b="0" i="0" u="none" strike="noStrike" cap="none">
                <a:solidFill>
                  <a:schemeClr val="dk1"/>
                </a:solidFill>
                <a:latin typeface="Quattrocento Sans"/>
                <a:ea typeface="Quattrocento Sans"/>
                <a:cs typeface="Quattrocento Sans"/>
                <a:sym typeface="Quattrocento Sans"/>
              </a:rPr>
              <a:t>Bibliographie indicative</a:t>
            </a:r>
            <a:endParaRPr sz="1300" b="0" i="0" u="none" strike="noStrike" cap="none">
              <a:solidFill>
                <a:schemeClr val="dk1"/>
              </a:solidFill>
              <a:latin typeface="Quattrocento Sans"/>
              <a:ea typeface="Quattrocento Sans"/>
              <a:cs typeface="Quattrocento Sans"/>
              <a:sym typeface="Quattrocento Sans"/>
            </a:endParaRPr>
          </a:p>
          <a:p>
            <a:pPr marL="469900" marR="0" lvl="1" indent="-222250" algn="just" rtl="0">
              <a:lnSpc>
                <a:spcPct val="100000"/>
              </a:lnSpc>
              <a:spcBef>
                <a:spcPts val="900"/>
              </a:spcBef>
              <a:spcAft>
                <a:spcPts val="0"/>
              </a:spcAft>
              <a:buClr>
                <a:schemeClr val="dk1"/>
              </a:buClr>
              <a:buSzPts val="900"/>
              <a:buFont typeface="Quattrocento Sans"/>
              <a:buChar char="○"/>
            </a:pPr>
            <a:r>
              <a:rPr lang="it" sz="900" b="0" i="0" u="none" strike="noStrike" cap="none">
                <a:solidFill>
                  <a:schemeClr val="dk1"/>
                </a:solidFill>
                <a:latin typeface="Quattrocento Sans"/>
                <a:ea typeface="Quattrocento Sans"/>
                <a:cs typeface="Quattrocento Sans"/>
                <a:sym typeface="Quattrocento Sans"/>
              </a:rPr>
              <a:t>Desclés, J.-P. (1969), “Linguistique et Mathématiques”, l’Homme, 9-3, pp. 93-99</a:t>
            </a:r>
            <a:endParaRPr sz="900" b="0" i="0" u="none" strike="noStrike" cap="none">
              <a:solidFill>
                <a:schemeClr val="dk1"/>
              </a:solidFill>
              <a:latin typeface="Quattrocento Sans"/>
              <a:ea typeface="Quattrocento Sans"/>
              <a:cs typeface="Quattrocento Sans"/>
              <a:sym typeface="Quattrocento Sans"/>
            </a:endParaRPr>
          </a:p>
          <a:p>
            <a:pPr marL="469900" marR="0" lvl="1" indent="-222250" algn="just" rtl="0">
              <a:lnSpc>
                <a:spcPct val="100000"/>
              </a:lnSpc>
              <a:spcBef>
                <a:spcPts val="900"/>
              </a:spcBef>
              <a:spcAft>
                <a:spcPts val="0"/>
              </a:spcAft>
              <a:buClr>
                <a:schemeClr val="dk1"/>
              </a:buClr>
              <a:buSzPts val="900"/>
              <a:buFont typeface="Quattrocento Sans"/>
              <a:buChar char="○"/>
            </a:pPr>
            <a:r>
              <a:rPr lang="it" sz="900" b="0" i="0" u="none" strike="noStrike" cap="none">
                <a:solidFill>
                  <a:schemeClr val="dk1"/>
                </a:solidFill>
                <a:latin typeface="Quattrocento Sans"/>
                <a:ea typeface="Quattrocento Sans"/>
                <a:cs typeface="Quattrocento Sans"/>
                <a:sym typeface="Quattrocento Sans"/>
              </a:rPr>
              <a:t>Gosselin, L. (2015), “De l’opposition </a:t>
            </a:r>
            <a:r>
              <a:rPr lang="it" sz="900" b="0" i="1" u="none" strike="noStrike" cap="none">
                <a:solidFill>
                  <a:schemeClr val="dk1"/>
                </a:solidFill>
                <a:latin typeface="Quattrocento Sans"/>
                <a:ea typeface="Quattrocento Sans"/>
                <a:cs typeface="Quattrocento Sans"/>
                <a:sym typeface="Quattrocento Sans"/>
              </a:rPr>
              <a:t>modus/dictum</a:t>
            </a:r>
            <a:r>
              <a:rPr lang="it" sz="900" b="0" i="0" u="none" strike="noStrike" cap="none">
                <a:solidFill>
                  <a:schemeClr val="dk1"/>
                </a:solidFill>
                <a:latin typeface="Quattrocento Sans"/>
                <a:ea typeface="Quattrocento Sans"/>
                <a:cs typeface="Quattrocento Sans"/>
                <a:sym typeface="Quattrocento Sans"/>
              </a:rPr>
              <a:t> à la distinction entre modalités extrinsèques et modalités intrinsèques”, </a:t>
            </a:r>
            <a:r>
              <a:rPr lang="it" sz="900" b="0" i="1" u="none" strike="noStrike" cap="none">
                <a:solidFill>
                  <a:schemeClr val="dk1"/>
                </a:solidFill>
                <a:latin typeface="Quattrocento Sans"/>
                <a:ea typeface="Quattrocento Sans"/>
                <a:cs typeface="Quattrocento Sans"/>
                <a:sym typeface="Quattrocento Sans"/>
              </a:rPr>
              <a:t>Bulletin de la Société de Linguistique de Paris</a:t>
            </a:r>
            <a:r>
              <a:rPr lang="it" sz="900" b="0" i="0" u="none" strike="noStrike" cap="none">
                <a:solidFill>
                  <a:schemeClr val="dk1"/>
                </a:solidFill>
                <a:latin typeface="Quattrocento Sans"/>
                <a:ea typeface="Quattrocento Sans"/>
                <a:cs typeface="Quattrocento Sans"/>
                <a:sym typeface="Quattrocento Sans"/>
              </a:rPr>
              <a:t>, CX-1, pp. 1-50</a:t>
            </a:r>
            <a:br>
              <a:rPr lang="it" sz="900" b="0" i="0" u="none" strike="noStrike" cap="none">
                <a:solidFill>
                  <a:schemeClr val="dk1"/>
                </a:solidFill>
                <a:latin typeface="Quattrocento Sans"/>
                <a:ea typeface="Quattrocento Sans"/>
                <a:cs typeface="Quattrocento Sans"/>
                <a:sym typeface="Quattrocento Sans"/>
              </a:rPr>
            </a:br>
            <a:endParaRPr sz="900" b="0" i="0" u="none" strike="noStrike" cap="none">
              <a:solidFill>
                <a:schemeClr val="dk1"/>
              </a:solidFill>
              <a:latin typeface="Quattrocento Sans"/>
              <a:ea typeface="Quattrocento Sans"/>
              <a:cs typeface="Quattrocento Sans"/>
              <a:sym typeface="Quattrocento Sans"/>
            </a:endParaRPr>
          </a:p>
          <a:p>
            <a:pPr marL="469900" marR="0" lvl="1" indent="-222250" algn="l" rtl="0">
              <a:lnSpc>
                <a:spcPct val="100000"/>
              </a:lnSpc>
              <a:spcBef>
                <a:spcPts val="0"/>
              </a:spcBef>
              <a:spcAft>
                <a:spcPts val="0"/>
              </a:spcAft>
              <a:buClr>
                <a:schemeClr val="dk1"/>
              </a:buClr>
              <a:buSzPts val="900"/>
              <a:buFont typeface="Quattrocento Sans"/>
              <a:buChar char="○"/>
            </a:pPr>
            <a:r>
              <a:rPr lang="it" sz="900" b="0" i="1" u="none" strike="noStrike" cap="none">
                <a:solidFill>
                  <a:schemeClr val="dk1"/>
                </a:solidFill>
                <a:latin typeface="Quattrocento Sans"/>
                <a:ea typeface="Quattrocento Sans"/>
                <a:cs typeface="Quattrocento Sans"/>
                <a:sym typeface="Quattrocento Sans"/>
              </a:rPr>
              <a:t>Opitz, J., Wein, S., Schneider, N., (2025). Natural Language Processing RELIES on Linguistics. Computational Linguistics 2025; 51 (3): 1009–1032.</a:t>
            </a:r>
            <a:endParaRPr sz="900" b="0" i="1" u="none" strike="noStrike" cap="none">
              <a:solidFill>
                <a:schemeClr val="dk1"/>
              </a:solidFill>
              <a:latin typeface="Quattrocento Sans"/>
              <a:ea typeface="Quattrocento Sans"/>
              <a:cs typeface="Quattrocento Sans"/>
              <a:sym typeface="Quattrocento Sans"/>
            </a:endParaRPr>
          </a:p>
          <a:p>
            <a:pPr marL="469900" marR="0" lvl="0" indent="0" algn="l" rtl="0">
              <a:lnSpc>
                <a:spcPct val="100000"/>
              </a:lnSpc>
              <a:spcBef>
                <a:spcPts val="0"/>
              </a:spcBef>
              <a:spcAft>
                <a:spcPts val="0"/>
              </a:spcAft>
              <a:buClr>
                <a:srgbClr val="000000"/>
              </a:buClr>
              <a:buSzPts val="900"/>
              <a:buFont typeface="Arial"/>
              <a:buNone/>
            </a:pPr>
            <a:endParaRPr sz="900" b="0" i="1" u="none" strike="noStrike" cap="none">
              <a:solidFill>
                <a:schemeClr val="dk1"/>
              </a:solidFill>
              <a:latin typeface="Quattrocento Sans"/>
              <a:ea typeface="Quattrocento Sans"/>
              <a:cs typeface="Quattrocento Sans"/>
              <a:sym typeface="Quattrocento Sans"/>
            </a:endParaRPr>
          </a:p>
          <a:p>
            <a:pPr marL="469900" marR="0" lvl="1" indent="-222250" algn="l" rtl="0">
              <a:lnSpc>
                <a:spcPct val="100000"/>
              </a:lnSpc>
              <a:spcBef>
                <a:spcPts val="0"/>
              </a:spcBef>
              <a:spcAft>
                <a:spcPts val="0"/>
              </a:spcAft>
              <a:buClr>
                <a:schemeClr val="dk1"/>
              </a:buClr>
              <a:buSzPts val="900"/>
              <a:buFont typeface="Quattrocento Sans"/>
              <a:buChar char="○"/>
            </a:pPr>
            <a:r>
              <a:rPr lang="it" sz="900" b="0" i="0" u="none" strike="noStrike" cap="none">
                <a:solidFill>
                  <a:schemeClr val="dk1"/>
                </a:solidFill>
                <a:latin typeface="Quattrocento Sans"/>
                <a:ea typeface="Quattrocento Sans"/>
                <a:cs typeface="Quattrocento Sans"/>
                <a:sym typeface="Quattrocento Sans"/>
              </a:rPr>
              <a:t>Sutton, R. (2019). The bitter lesson. </a:t>
            </a:r>
            <a:r>
              <a:rPr lang="it" sz="900" b="0" i="1" u="none" strike="noStrike" cap="none">
                <a:solidFill>
                  <a:schemeClr val="dk1"/>
                </a:solidFill>
                <a:latin typeface="Quattrocento Sans"/>
                <a:ea typeface="Quattrocento Sans"/>
                <a:cs typeface="Quattrocento Sans"/>
                <a:sym typeface="Quattrocento Sans"/>
              </a:rPr>
              <a:t>Incomplete Ideas (blog)</a:t>
            </a:r>
            <a:r>
              <a:rPr lang="it" sz="900" b="0" i="0" u="none" strike="noStrike" cap="none">
                <a:solidFill>
                  <a:schemeClr val="dk1"/>
                </a:solidFill>
                <a:latin typeface="Quattrocento Sans"/>
                <a:ea typeface="Quattrocento Sans"/>
                <a:cs typeface="Quattrocento Sans"/>
                <a:sym typeface="Quattrocento Sans"/>
              </a:rPr>
              <a:t>, </a:t>
            </a:r>
            <a:r>
              <a:rPr lang="it" sz="900" b="0" i="1" u="none" strike="noStrike" cap="none">
                <a:solidFill>
                  <a:schemeClr val="dk1"/>
                </a:solidFill>
                <a:latin typeface="Quattrocento Sans"/>
                <a:ea typeface="Quattrocento Sans"/>
                <a:cs typeface="Quattrocento Sans"/>
                <a:sym typeface="Quattrocento Sans"/>
              </a:rPr>
              <a:t>13</a:t>
            </a:r>
            <a:r>
              <a:rPr lang="it" sz="900" b="0" i="0" u="none" strike="noStrike" cap="none">
                <a:solidFill>
                  <a:schemeClr val="dk1"/>
                </a:solidFill>
                <a:latin typeface="Quattrocento Sans"/>
                <a:ea typeface="Quattrocento Sans"/>
                <a:cs typeface="Quattrocento Sans"/>
                <a:sym typeface="Quattrocento Sans"/>
              </a:rPr>
              <a:t>(1), 38.</a:t>
            </a:r>
            <a:br>
              <a:rPr lang="it" sz="900" b="0" i="0" u="none" strike="noStrike" cap="none">
                <a:solidFill>
                  <a:schemeClr val="dk1"/>
                </a:solidFill>
                <a:latin typeface="Quattrocento Sans"/>
                <a:ea typeface="Quattrocento Sans"/>
                <a:cs typeface="Quattrocento Sans"/>
                <a:sym typeface="Quattrocento Sans"/>
              </a:rPr>
            </a:br>
            <a:endParaRPr sz="900" b="0" i="0" u="none" strike="noStrike" cap="none">
              <a:solidFill>
                <a:schemeClr val="dk1"/>
              </a:solidFill>
              <a:latin typeface="Quattrocento Sans"/>
              <a:ea typeface="Quattrocento Sans"/>
              <a:cs typeface="Quattrocento Sans"/>
              <a:sym typeface="Quattrocento Sans"/>
            </a:endParaRPr>
          </a:p>
          <a:p>
            <a:pPr marL="469900" marR="0" lvl="1" indent="-222250" algn="just" rtl="0">
              <a:lnSpc>
                <a:spcPct val="100000"/>
              </a:lnSpc>
              <a:spcBef>
                <a:spcPts val="900"/>
              </a:spcBef>
              <a:spcAft>
                <a:spcPts val="0"/>
              </a:spcAft>
              <a:buClr>
                <a:schemeClr val="dk1"/>
              </a:buClr>
              <a:buSzPts val="900"/>
              <a:buFont typeface="Quattrocento Sans"/>
              <a:buChar char="○"/>
            </a:pPr>
            <a:r>
              <a:rPr lang="it" sz="900" b="0" i="0" u="none" strike="noStrike" cap="none">
                <a:solidFill>
                  <a:schemeClr val="dk1"/>
                </a:solidFill>
                <a:latin typeface="Quattrocento Sans"/>
                <a:ea typeface="Quattrocento Sans"/>
                <a:cs typeface="Quattrocento Sans"/>
                <a:sym typeface="Quattrocento Sans"/>
              </a:rPr>
              <a:t>Tanguy L., Fabre C. (2014), “Évolutions de la linguistique outillée : méfaits et bienfaits du TAL”. L'information grammaticale, 2014, 142, pp.15-23</a:t>
            </a:r>
            <a:endParaRPr sz="900" b="0" i="0" u="none" strike="noStrike" cap="none">
              <a:solidFill>
                <a:schemeClr val="dk1"/>
              </a:solidFill>
              <a:latin typeface="Quattrocento Sans"/>
              <a:ea typeface="Quattrocento Sans"/>
              <a:cs typeface="Quattrocento Sans"/>
              <a:sym typeface="Quattrocento Sans"/>
            </a:endParaRPr>
          </a:p>
          <a:p>
            <a:pPr marL="469900" marR="0" lvl="1" indent="-222250" algn="just" rtl="0">
              <a:lnSpc>
                <a:spcPct val="100000"/>
              </a:lnSpc>
              <a:spcBef>
                <a:spcPts val="900"/>
              </a:spcBef>
              <a:spcAft>
                <a:spcPts val="0"/>
              </a:spcAft>
              <a:buClr>
                <a:schemeClr val="dk1"/>
              </a:buClr>
              <a:buSzPts val="900"/>
              <a:buFont typeface="Quattrocento Sans"/>
              <a:buChar char="○"/>
            </a:pPr>
            <a:r>
              <a:rPr lang="it" sz="900" b="0" i="0" u="none" strike="noStrike" cap="none">
                <a:solidFill>
                  <a:schemeClr val="dk1"/>
                </a:solidFill>
                <a:latin typeface="Quattrocento Sans"/>
                <a:ea typeface="Quattrocento Sans"/>
                <a:cs typeface="Quattrocento Sans"/>
                <a:sym typeface="Quattrocento Sans"/>
              </a:rPr>
              <a:t>Victorri, B., “Le modèle en linguistique”, Encyclopaedia Universalis, 1997</a:t>
            </a:r>
            <a:endParaRPr sz="900" b="0" i="0" u="none" strike="noStrike" cap="none">
              <a:solidFill>
                <a:schemeClr val="dk1"/>
              </a:solidFill>
              <a:latin typeface="Quattrocento Sans"/>
              <a:ea typeface="Quattrocento Sans"/>
              <a:cs typeface="Quattrocento Sans"/>
              <a:sym typeface="Quattrocento Sans"/>
            </a:endParaRPr>
          </a:p>
          <a:p>
            <a:pPr marL="254000" marR="0" lvl="0" indent="-152400" algn="just" rtl="0">
              <a:lnSpc>
                <a:spcPct val="100000"/>
              </a:lnSpc>
              <a:spcBef>
                <a:spcPts val="900"/>
              </a:spcBef>
              <a:spcAft>
                <a:spcPts val="0"/>
              </a:spcAft>
              <a:buClr>
                <a:schemeClr val="dk1"/>
              </a:buClr>
              <a:buSzPts val="1700"/>
              <a:buFont typeface="Noto Sans Symbols"/>
              <a:buNone/>
            </a:pPr>
            <a:endParaRPr sz="1600" b="0" i="0" u="none" strike="noStrike" cap="none">
              <a:solidFill>
                <a:schemeClr val="dk1"/>
              </a:solidFill>
              <a:latin typeface="Quattrocento Sans"/>
              <a:ea typeface="Quattrocento Sans"/>
              <a:cs typeface="Quattrocento Sans"/>
              <a:sym typeface="Quattrocento Sans"/>
            </a:endParaRPr>
          </a:p>
          <a:p>
            <a:pPr marL="254000" marR="0" lvl="0" indent="-152400" algn="just" rtl="0">
              <a:lnSpc>
                <a:spcPct val="100000"/>
              </a:lnSpc>
              <a:spcBef>
                <a:spcPts val="900"/>
              </a:spcBef>
              <a:spcAft>
                <a:spcPts val="0"/>
              </a:spcAft>
              <a:buClr>
                <a:schemeClr val="dk1"/>
              </a:buClr>
              <a:buSzPts val="1700"/>
              <a:buFont typeface="Noto Sans Symbols"/>
              <a:buNone/>
            </a:pPr>
            <a:endParaRPr sz="1600" b="0" i="0" u="none" strike="noStrike" cap="none">
              <a:solidFill>
                <a:schemeClr val="dk1"/>
              </a:solidFill>
              <a:latin typeface="Quattrocento Sans"/>
              <a:ea typeface="Quattrocento Sans"/>
              <a:cs typeface="Quattrocento Sans"/>
              <a:sym typeface="Quattrocento Sans"/>
            </a:endParaRPr>
          </a:p>
          <a:p>
            <a:pPr marL="254000" marR="0" lvl="0" indent="-152400" algn="just" rtl="0">
              <a:lnSpc>
                <a:spcPct val="100000"/>
              </a:lnSpc>
              <a:spcBef>
                <a:spcPts val="900"/>
              </a:spcBef>
              <a:spcAft>
                <a:spcPts val="0"/>
              </a:spcAft>
              <a:buClr>
                <a:schemeClr val="dk1"/>
              </a:buClr>
              <a:buSzPts val="1700"/>
              <a:buFont typeface="Noto Sans Symbols"/>
              <a:buNone/>
            </a:pPr>
            <a:endParaRPr sz="1600" b="0" i="0" u="none" strike="noStrike" cap="none">
              <a:solidFill>
                <a:schemeClr val="dk1"/>
              </a:solidFill>
              <a:latin typeface="Calibri"/>
              <a:ea typeface="Calibri"/>
              <a:cs typeface="Calibri"/>
              <a:sym typeface="Calibri"/>
            </a:endParaRPr>
          </a:p>
          <a:p>
            <a:pPr marL="254000" marR="0" lvl="0" indent="-152400" algn="just" rtl="0">
              <a:lnSpc>
                <a:spcPct val="100000"/>
              </a:lnSpc>
              <a:spcBef>
                <a:spcPts val="0"/>
              </a:spcBef>
              <a:spcAft>
                <a:spcPts val="0"/>
              </a:spcAft>
              <a:buClr>
                <a:schemeClr val="dk1"/>
              </a:buClr>
              <a:buSzPts val="1700"/>
              <a:buFont typeface="Noto Sans Symbols"/>
              <a:buNone/>
            </a:pPr>
            <a:endParaRPr sz="1600" b="0" i="0" u="none" strike="noStrike" cap="none">
              <a:solidFill>
                <a:schemeClr val="dk1"/>
              </a:solidFill>
              <a:latin typeface="Quattrocento Sans"/>
              <a:ea typeface="Quattrocento Sans"/>
              <a:cs typeface="Quattrocento Sans"/>
              <a:sym typeface="Quattrocento Sans"/>
            </a:endParaRPr>
          </a:p>
          <a:p>
            <a:pPr marL="2667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2667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96" name="Google Shape;96;g3a661288f2b_0_524"/>
          <p:cNvSpPr txBox="1"/>
          <p:nvPr/>
        </p:nvSpPr>
        <p:spPr>
          <a:xfrm>
            <a:off x="165358" y="136264"/>
            <a:ext cx="44067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Organisation du cours</a:t>
            </a:r>
            <a:endParaRPr sz="1400" b="0" i="0" u="none" strike="noStrike" cap="none">
              <a:solidFill>
                <a:schemeClr val="dk1"/>
              </a:solidFill>
              <a:latin typeface="Calibri"/>
              <a:ea typeface="Calibri"/>
              <a:cs typeface="Calibri"/>
              <a:sym typeface="Calibri"/>
            </a:endParaRPr>
          </a:p>
        </p:txBody>
      </p:sp>
      <p:sp>
        <p:nvSpPr>
          <p:cNvPr id="97" name="Google Shape;97;g3a661288f2b_0_5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3a661288f2b_0_531"/>
          <p:cNvSpPr txBox="1"/>
          <p:nvPr/>
        </p:nvSpPr>
        <p:spPr>
          <a:xfrm>
            <a:off x="184464" y="136264"/>
            <a:ext cx="44067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Organisation du cours</a:t>
            </a:r>
            <a:endParaRPr sz="1400" b="0" i="0" u="none" strike="noStrike" cap="none">
              <a:solidFill>
                <a:schemeClr val="dk1"/>
              </a:solidFill>
              <a:latin typeface="Calibri"/>
              <a:ea typeface="Calibri"/>
              <a:cs typeface="Calibri"/>
              <a:sym typeface="Calibri"/>
            </a:endParaRPr>
          </a:p>
        </p:txBody>
      </p:sp>
      <p:sp>
        <p:nvSpPr>
          <p:cNvPr id="104" name="Google Shape;104;g3a661288f2b_0_531"/>
          <p:cNvSpPr txBox="1"/>
          <p:nvPr/>
        </p:nvSpPr>
        <p:spPr>
          <a:xfrm>
            <a:off x="2587000" y="847606"/>
            <a:ext cx="41316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 sz="1800" b="1" i="0" u="none" strike="noStrike" cap="none">
                <a:solidFill>
                  <a:srgbClr val="097D3F"/>
                </a:solidFill>
                <a:latin typeface="Quattrocento Sans"/>
                <a:ea typeface="Quattrocento Sans"/>
                <a:cs typeface="Quattrocento Sans"/>
                <a:sym typeface="Quattrocento Sans"/>
              </a:rPr>
              <a:t>GROUPE </a:t>
            </a:r>
            <a:r>
              <a:rPr lang="it" sz="1800" b="1">
                <a:solidFill>
                  <a:srgbClr val="097D3F"/>
                </a:solidFill>
                <a:latin typeface="Quattrocento Sans"/>
                <a:ea typeface="Quattrocento Sans"/>
                <a:cs typeface="Quattrocento Sans"/>
                <a:sym typeface="Quattrocento Sans"/>
              </a:rPr>
              <a:t>1</a:t>
            </a:r>
            <a:r>
              <a:rPr lang="it" sz="1800" b="1" i="0" u="none" strike="noStrike" cap="none">
                <a:solidFill>
                  <a:srgbClr val="097D3F"/>
                </a:solidFill>
                <a:latin typeface="Quattrocento Sans"/>
                <a:ea typeface="Quattrocento Sans"/>
                <a:cs typeface="Quattrocento Sans"/>
                <a:sym typeface="Quattrocento Sans"/>
              </a:rPr>
              <a:t> - salle 308</a:t>
            </a:r>
            <a:endParaRPr sz="1100" b="1" i="0" u="none" strike="noStrike" cap="none">
              <a:solidFill>
                <a:srgbClr val="000000"/>
              </a:solidFill>
              <a:latin typeface="Quattrocento Sans"/>
              <a:ea typeface="Quattrocento Sans"/>
              <a:cs typeface="Quattrocento Sans"/>
              <a:sym typeface="Quattrocento Sans"/>
            </a:endParaRPr>
          </a:p>
        </p:txBody>
      </p:sp>
      <p:sp>
        <p:nvSpPr>
          <p:cNvPr id="105" name="Google Shape;105;g3a661288f2b_0_531"/>
          <p:cNvSpPr txBox="1"/>
          <p:nvPr/>
        </p:nvSpPr>
        <p:spPr>
          <a:xfrm>
            <a:off x="2670850" y="1260100"/>
            <a:ext cx="5679300" cy="20886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it" i="0" u="none" strike="noStrike" cap="none" dirty="0">
                <a:solidFill>
                  <a:schemeClr val="dk1"/>
                </a:solidFill>
              </a:rPr>
              <a:t>13/11 : </a:t>
            </a:r>
            <a:r>
              <a:rPr lang="it" dirty="0">
                <a:solidFill>
                  <a:schemeClr val="dk1"/>
                </a:solidFill>
              </a:rPr>
              <a:t>L418</a:t>
            </a:r>
            <a:r>
              <a:rPr lang="it" i="0" u="none" strike="noStrike" cap="none" dirty="0">
                <a:solidFill>
                  <a:schemeClr val="dk1"/>
                </a:solidFill>
              </a:rPr>
              <a:t> </a:t>
            </a:r>
            <a:endParaRPr i="0" u="none" strike="noStrike" cap="none" dirty="0">
              <a:solidFill>
                <a:schemeClr val="dk1"/>
              </a:solidFill>
            </a:endParaRPr>
          </a:p>
          <a:p>
            <a:pPr marL="0" marR="0" lvl="0" indent="0" algn="l" rtl="0">
              <a:lnSpc>
                <a:spcPct val="115000"/>
              </a:lnSpc>
              <a:spcBef>
                <a:spcPts val="0"/>
              </a:spcBef>
              <a:spcAft>
                <a:spcPts val="0"/>
              </a:spcAft>
              <a:buClr>
                <a:srgbClr val="000000"/>
              </a:buClr>
              <a:buSzPts val="1300"/>
              <a:buFont typeface="Arial"/>
              <a:buNone/>
            </a:pPr>
            <a:r>
              <a:rPr lang="it" b="1" i="0" u="none" strike="noStrike" cap="none" dirty="0">
                <a:solidFill>
                  <a:schemeClr val="dk1"/>
                </a:solidFill>
              </a:rPr>
              <a:t>20/11 : </a:t>
            </a:r>
            <a:r>
              <a:rPr lang="it" b="1" dirty="0">
                <a:solidFill>
                  <a:schemeClr val="dk1"/>
                </a:solidFill>
              </a:rPr>
              <a:t>L418</a:t>
            </a:r>
            <a:endParaRPr b="1" i="0" u="none" strike="noStrike" cap="none" dirty="0">
              <a:solidFill>
                <a:schemeClr val="dk1"/>
              </a:solidFill>
            </a:endParaRPr>
          </a:p>
          <a:p>
            <a:pPr marL="0" marR="0" lvl="0" indent="0" algn="l" rtl="0">
              <a:lnSpc>
                <a:spcPct val="115000"/>
              </a:lnSpc>
              <a:spcBef>
                <a:spcPts val="0"/>
              </a:spcBef>
              <a:spcAft>
                <a:spcPts val="0"/>
              </a:spcAft>
              <a:buClr>
                <a:srgbClr val="000000"/>
              </a:buClr>
              <a:buSzPts val="1300"/>
              <a:buFont typeface="Arial"/>
              <a:buNone/>
            </a:pPr>
            <a:r>
              <a:rPr lang="it" b="0" i="0" u="none" strike="noStrike" cap="none" dirty="0">
                <a:solidFill>
                  <a:schemeClr val="dk1"/>
                </a:solidFill>
                <a:latin typeface="Arial"/>
                <a:ea typeface="Arial"/>
                <a:cs typeface="Arial"/>
                <a:sym typeface="Arial"/>
              </a:rPr>
              <a:t>27/11: </a:t>
            </a:r>
            <a:r>
              <a:rPr lang="it" dirty="0">
                <a:solidFill>
                  <a:srgbClr val="990000"/>
                </a:solidFill>
              </a:rPr>
              <a:t>L421</a:t>
            </a:r>
            <a:r>
              <a:rPr lang="it" b="0" i="0" u="none" strike="noStrike" cap="none" dirty="0">
                <a:solidFill>
                  <a:schemeClr val="dk1"/>
                </a:solidFill>
                <a:latin typeface="Arial"/>
                <a:ea typeface="Arial"/>
                <a:cs typeface="Arial"/>
                <a:sym typeface="Arial"/>
              </a:rPr>
              <a:t> </a:t>
            </a:r>
            <a:endParaRPr b="0"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300"/>
              <a:buFont typeface="Arial"/>
              <a:buNone/>
            </a:pPr>
            <a:r>
              <a:rPr lang="it" b="0" i="0" u="none" strike="noStrike" cap="none" dirty="0">
                <a:solidFill>
                  <a:schemeClr val="dk1"/>
                </a:solidFill>
                <a:latin typeface="Arial"/>
                <a:ea typeface="Arial"/>
                <a:cs typeface="Arial"/>
                <a:sym typeface="Arial"/>
              </a:rPr>
              <a:t>04/12: </a:t>
            </a:r>
            <a:r>
              <a:rPr lang="it" dirty="0">
                <a:solidFill>
                  <a:srgbClr val="990000"/>
                </a:solidFill>
              </a:rPr>
              <a:t>L321</a:t>
            </a:r>
            <a:r>
              <a:rPr lang="it" b="0" i="0" u="none" strike="noStrike" cap="none" dirty="0">
                <a:solidFill>
                  <a:schemeClr val="dk1"/>
                </a:solidFill>
                <a:latin typeface="Arial"/>
                <a:ea typeface="Arial"/>
                <a:cs typeface="Arial"/>
                <a:sym typeface="Arial"/>
              </a:rPr>
              <a:t> </a:t>
            </a:r>
            <a:endParaRPr b="0"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300"/>
              <a:buFont typeface="Arial"/>
              <a:buNone/>
            </a:pPr>
            <a:r>
              <a:rPr lang="it" i="0" u="none" strike="noStrike" cap="none" dirty="0">
                <a:solidFill>
                  <a:schemeClr val="dk1"/>
                </a:solidFill>
              </a:rPr>
              <a:t>11/12: </a:t>
            </a:r>
            <a:r>
              <a:rPr lang="it" dirty="0">
                <a:solidFill>
                  <a:schemeClr val="dk1"/>
                </a:solidFill>
              </a:rPr>
              <a:t>L418</a:t>
            </a:r>
            <a:r>
              <a:rPr lang="it" i="0" u="none" strike="noStrike" cap="none" dirty="0">
                <a:solidFill>
                  <a:schemeClr val="dk1"/>
                </a:solidFill>
              </a:rPr>
              <a:t> </a:t>
            </a:r>
            <a:endParaRPr i="0" u="none" strike="noStrike" cap="none" dirty="0">
              <a:solidFill>
                <a:schemeClr val="dk1"/>
              </a:solidFill>
            </a:endParaRPr>
          </a:p>
          <a:p>
            <a:pPr marL="0" marR="0" lvl="0" indent="0" algn="l" rtl="0">
              <a:lnSpc>
                <a:spcPct val="115000"/>
              </a:lnSpc>
              <a:spcBef>
                <a:spcPts val="0"/>
              </a:spcBef>
              <a:spcAft>
                <a:spcPts val="0"/>
              </a:spcAft>
              <a:buClr>
                <a:srgbClr val="000000"/>
              </a:buClr>
              <a:buSzPts val="1300"/>
              <a:buFont typeface="Arial"/>
              <a:buNone/>
            </a:pPr>
            <a:r>
              <a:rPr lang="it" b="1" i="0" u="none" strike="noStrike" cap="none" dirty="0">
                <a:solidFill>
                  <a:schemeClr val="dk1"/>
                </a:solidFill>
              </a:rPr>
              <a:t>18/12 : </a:t>
            </a:r>
            <a:r>
              <a:rPr lang="it" b="1" dirty="0">
                <a:solidFill>
                  <a:schemeClr val="dk1"/>
                </a:solidFill>
              </a:rPr>
              <a:t>L418</a:t>
            </a:r>
            <a:r>
              <a:rPr lang="it" b="1" i="0" u="none" strike="noStrike" cap="none" dirty="0">
                <a:solidFill>
                  <a:schemeClr val="dk1"/>
                </a:solidFill>
              </a:rPr>
              <a:t> - D</a:t>
            </a:r>
            <a:r>
              <a:rPr lang="it" b="1" dirty="0">
                <a:solidFill>
                  <a:schemeClr val="dk1"/>
                </a:solidFill>
              </a:rPr>
              <a:t>ST (volet ALT et volet incertitude)</a:t>
            </a:r>
            <a:endParaRPr b="1" i="0" u="none" strike="noStrike" cap="none" dirty="0">
              <a:solidFill>
                <a:schemeClr val="dk1"/>
              </a:solidFill>
            </a:endParaRPr>
          </a:p>
          <a:p>
            <a:pPr marL="0" marR="0" lvl="0" indent="0" algn="l" rtl="0">
              <a:lnSpc>
                <a:spcPct val="115000"/>
              </a:lnSpc>
              <a:spcBef>
                <a:spcPts val="0"/>
              </a:spcBef>
              <a:spcAft>
                <a:spcPts val="0"/>
              </a:spcAft>
              <a:buClr>
                <a:srgbClr val="000000"/>
              </a:buClr>
              <a:buSzPts val="1300"/>
              <a:buFont typeface="Arial"/>
              <a:buNone/>
            </a:pPr>
            <a:endParaRPr b="1"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300"/>
              <a:buFont typeface="Arial"/>
              <a:buNone/>
            </a:pPr>
            <a:r>
              <a:rPr lang="it" b="1" i="0" u="none" strike="noStrike" cap="none" dirty="0">
                <a:solidFill>
                  <a:schemeClr val="dk1"/>
                </a:solidFill>
                <a:latin typeface="Arial"/>
                <a:ea typeface="Arial"/>
                <a:cs typeface="Arial"/>
                <a:sym typeface="Arial"/>
              </a:rPr>
              <a:t>Rendu du DM:</a:t>
            </a:r>
            <a:r>
              <a:rPr lang="it" b="1" dirty="0">
                <a:solidFill>
                  <a:schemeClr val="dk1"/>
                </a:solidFill>
              </a:rPr>
              <a:t> 15</a:t>
            </a:r>
            <a:r>
              <a:rPr lang="it" b="1" i="0" u="none" strike="noStrike" cap="none" dirty="0">
                <a:solidFill>
                  <a:schemeClr val="dk1"/>
                </a:solidFill>
                <a:latin typeface="Arial"/>
                <a:ea typeface="Arial"/>
                <a:cs typeface="Arial"/>
                <a:sym typeface="Arial"/>
              </a:rPr>
              <a:t>/</a:t>
            </a:r>
            <a:r>
              <a:rPr lang="it" b="1" dirty="0">
                <a:solidFill>
                  <a:schemeClr val="dk1"/>
                </a:solidFill>
              </a:rPr>
              <a:t>01</a:t>
            </a:r>
            <a:endParaRPr b="1" i="0" u="none" strike="noStrike" cap="none" dirty="0">
              <a:solidFill>
                <a:schemeClr val="dk1"/>
              </a:solidFill>
              <a:latin typeface="Arial"/>
              <a:ea typeface="Arial"/>
              <a:cs typeface="Arial"/>
              <a:sym typeface="Arial"/>
            </a:endParaRPr>
          </a:p>
        </p:txBody>
      </p:sp>
      <p:sp>
        <p:nvSpPr>
          <p:cNvPr id="106" name="Google Shape;106;g3a661288f2b_0_53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sldNum" idx="12"/>
          </p:nvPr>
        </p:nvSpPr>
        <p:spPr>
          <a:xfrm>
            <a:off x="8703483" y="4879958"/>
            <a:ext cx="437100" cy="2667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it"/>
              <a:t>4</a:t>
            </a:fld>
            <a:endParaRPr/>
          </a:p>
        </p:txBody>
      </p:sp>
      <p:sp>
        <p:nvSpPr>
          <p:cNvPr id="113" name="Google Shape;113;p4"/>
          <p:cNvSpPr txBox="1"/>
          <p:nvPr/>
        </p:nvSpPr>
        <p:spPr>
          <a:xfrm>
            <a:off x="1353006" y="1617652"/>
            <a:ext cx="6438000" cy="869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Exemple applicatif 1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notion d’incertitude</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a661288f2b_0_0"/>
          <p:cNvSpPr/>
          <p:nvPr/>
        </p:nvSpPr>
        <p:spPr>
          <a:xfrm>
            <a:off x="190200" y="3405313"/>
            <a:ext cx="8763600" cy="1140900"/>
          </a:xfrm>
          <a:prstGeom prst="rect">
            <a:avLst/>
          </a:prstGeom>
          <a:solidFill>
            <a:srgbClr val="FFF2CC">
              <a:alpha val="44710"/>
            </a:srgbClr>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9" name="Google Shape;119;g3a661288f2b_0_0"/>
          <p:cNvSpPr/>
          <p:nvPr/>
        </p:nvSpPr>
        <p:spPr>
          <a:xfrm>
            <a:off x="149925" y="2488276"/>
            <a:ext cx="8763600" cy="696000"/>
          </a:xfrm>
          <a:prstGeom prst="rect">
            <a:avLst/>
          </a:prstGeom>
          <a:solidFill>
            <a:srgbClr val="D9EAD3">
              <a:alpha val="44710"/>
            </a:srgbClr>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0" name="Google Shape;120;g3a661288f2b_0_0"/>
          <p:cNvSpPr/>
          <p:nvPr/>
        </p:nvSpPr>
        <p:spPr>
          <a:xfrm>
            <a:off x="149925" y="557363"/>
            <a:ext cx="8763600" cy="1734000"/>
          </a:xfrm>
          <a:prstGeom prst="rect">
            <a:avLst/>
          </a:prstGeom>
          <a:solidFill>
            <a:srgbClr val="F4CCCC">
              <a:alpha val="35290"/>
            </a:srgbClr>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1" name="Google Shape;121;g3a661288f2b_0_0"/>
          <p:cNvSpPr/>
          <p:nvPr/>
        </p:nvSpPr>
        <p:spPr>
          <a:xfrm>
            <a:off x="265800" y="521744"/>
            <a:ext cx="8612400" cy="4313400"/>
          </a:xfrm>
          <a:prstGeom prst="rect">
            <a:avLst/>
          </a:prstGeom>
          <a:noFill/>
          <a:ln>
            <a:noFill/>
          </a:ln>
        </p:spPr>
        <p:txBody>
          <a:bodyPr spcFirstLastPara="1" wrap="square" lIns="68575" tIns="34275" rIns="68575" bIns="34275" anchor="t" anchorCtr="0">
            <a:noAutofit/>
          </a:bodyPr>
          <a:lstStyle/>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Problématique initiale : qu’est-ce qu’est l’incertitude ? </a:t>
            </a:r>
            <a:endParaRPr sz="1400" b="0"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Répons très générale (et abstraite) : mobilisation de plusieures conceptions de l’incertitude, faisant appel à différentes disciplines</a:t>
            </a:r>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Choix de suivre la définition linguistique d’incertitude → manque d’une définition unique pour cette notion</a:t>
            </a:r>
            <a:br>
              <a:rPr lang="it" sz="1400" b="0" i="0" u="none" strike="noStrike" cap="none">
                <a:solidFill>
                  <a:schemeClr val="dk1"/>
                </a:solidFill>
                <a:latin typeface="Quattrocento Sans"/>
                <a:ea typeface="Quattrocento Sans"/>
                <a:cs typeface="Quattrocento Sans"/>
                <a:sym typeface="Quattrocento Sans"/>
              </a:rPr>
            </a:br>
            <a:endParaRPr sz="1400" b="0"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Nous avons mobilisé des données (nos “observables”) : des extraits de textes journalistiques et fiction </a:t>
            </a:r>
            <a:endParaRPr sz="1400" b="0"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En faisant appui sur notre intuition, nous avons cherché l’incertitude dans nos données</a:t>
            </a:r>
            <a:endParaRPr sz="1400" b="0" i="0" u="none" strike="noStrike" cap="none">
              <a:solidFill>
                <a:schemeClr val="dk1"/>
              </a:solidFill>
              <a:latin typeface="Quattrocento Sans"/>
              <a:ea typeface="Quattrocento Sans"/>
              <a:cs typeface="Quattrocento Sans"/>
              <a:sym typeface="Quattrocento Sans"/>
            </a:endParaRPr>
          </a:p>
          <a:p>
            <a:pPr marL="457200" marR="0" lvl="0" indent="-228600" algn="l" rtl="0">
              <a:lnSpc>
                <a:spcPct val="150000"/>
              </a:lnSpc>
              <a:spcBef>
                <a:spcPts val="0"/>
              </a:spcBef>
              <a:spcAft>
                <a:spcPts val="0"/>
              </a:spcAft>
              <a:buClr>
                <a:schemeClr val="dk1"/>
              </a:buClr>
              <a:buSzPts val="1400"/>
              <a:buFont typeface="Quattrocento Sans"/>
              <a:buNone/>
            </a:pPr>
            <a:endParaRPr sz="1400" b="0"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Nous avons confrontés nos résultats → Cela nous a permis d’identifier des critères qui nous permettent d’identifier des nuances d’incertitude</a:t>
            </a:r>
            <a:endParaRPr/>
          </a:p>
          <a:p>
            <a:pPr marL="457200" marR="0" lvl="0" indent="-317500" algn="l" rtl="0">
              <a:lnSpc>
                <a:spcPct val="150000"/>
              </a:lnSpc>
              <a:spcBef>
                <a:spcPts val="0"/>
              </a:spcBef>
              <a:spcAft>
                <a:spcPts val="0"/>
              </a:spcAft>
              <a:buClr>
                <a:schemeClr val="dk1"/>
              </a:buClr>
              <a:buSzPts val="1400"/>
              <a:buFont typeface="Quattrocento Sans"/>
              <a:buAutoNum type="arabicPeriod"/>
            </a:pPr>
            <a:r>
              <a:rPr lang="it" sz="1400" b="0" i="0" u="none" strike="noStrike" cap="none">
                <a:solidFill>
                  <a:schemeClr val="dk1"/>
                </a:solidFill>
                <a:latin typeface="Quattrocento Sans"/>
                <a:ea typeface="Quattrocento Sans"/>
                <a:cs typeface="Quattrocento Sans"/>
                <a:sym typeface="Quattrocento Sans"/>
              </a:rPr>
              <a:t>Nous avons essayé de classer nos données sur la base de ces critères</a:t>
            </a:r>
            <a:endParaRPr sz="1400" b="0" i="0" u="none" strike="noStrike" cap="none">
              <a:solidFill>
                <a:schemeClr val="dk1"/>
              </a:solidFill>
              <a:latin typeface="Quattrocento Sans"/>
              <a:ea typeface="Quattrocento Sans"/>
              <a:cs typeface="Quattrocento Sans"/>
              <a:sym typeface="Quattrocento Sans"/>
            </a:endParaRPr>
          </a:p>
          <a:p>
            <a:pPr marL="139700" marR="0" lvl="0" indent="0" algn="l" rtl="0">
              <a:lnSpc>
                <a:spcPct val="150000"/>
              </a:lnSpc>
              <a:spcBef>
                <a:spcPts val="0"/>
              </a:spcBef>
              <a:spcAft>
                <a:spcPts val="0"/>
              </a:spcAft>
              <a:buNone/>
            </a:pPr>
            <a:endParaRPr sz="1400" b="0" i="0" u="none" strike="noStrike" cap="none">
              <a:solidFill>
                <a:schemeClr val="dk1"/>
              </a:solidFill>
              <a:latin typeface="Quattrocento Sans"/>
              <a:ea typeface="Quattrocento Sans"/>
              <a:cs typeface="Quattrocento Sans"/>
              <a:sym typeface="Quattrocento Sans"/>
            </a:endParaRPr>
          </a:p>
          <a:p>
            <a:pPr marL="457200" marR="0" lvl="0" indent="-228600" algn="l" rtl="0">
              <a:lnSpc>
                <a:spcPct val="150000"/>
              </a:lnSpc>
              <a:spcBef>
                <a:spcPts val="0"/>
              </a:spcBef>
              <a:spcAft>
                <a:spcPts val="0"/>
              </a:spcAft>
              <a:buClr>
                <a:schemeClr val="dk1"/>
              </a:buClr>
              <a:buSzPts val="1400"/>
              <a:buFont typeface="Quattrocento Sans"/>
              <a:buNone/>
            </a:pPr>
            <a:endParaRPr sz="14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Quattrocento Sans"/>
              <a:ea typeface="Quattrocento Sans"/>
              <a:cs typeface="Quattrocento Sans"/>
              <a:sym typeface="Quattrocento Sans"/>
            </a:endParaRPr>
          </a:p>
        </p:txBody>
      </p:sp>
      <p:sp>
        <p:nvSpPr>
          <p:cNvPr id="122" name="Google Shape;122;g3a661288f2b_0_0"/>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Où est-on ?</a:t>
            </a:r>
            <a:endParaRPr sz="2600" b="1" i="0" u="none" strike="noStrike" cap="none">
              <a:solidFill>
                <a:srgbClr val="097D3F"/>
              </a:solidFill>
              <a:latin typeface="Quattrocento Sans"/>
              <a:ea typeface="Quattrocento Sans"/>
              <a:cs typeface="Quattrocento Sans"/>
              <a:sym typeface="Quattrocento Sans"/>
            </a:endParaRPr>
          </a:p>
        </p:txBody>
      </p:sp>
      <p:sp>
        <p:nvSpPr>
          <p:cNvPr id="123" name="Google Shape;123;g3a661288f2b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5</a:t>
            </a:fld>
            <a:endParaRPr/>
          </a:p>
        </p:txBody>
      </p:sp>
      <p:sp>
        <p:nvSpPr>
          <p:cNvPr id="124" name="Google Shape;124;g3a661288f2b_0_0"/>
          <p:cNvSpPr txBox="1"/>
          <p:nvPr/>
        </p:nvSpPr>
        <p:spPr>
          <a:xfrm>
            <a:off x="7015125" y="280525"/>
            <a:ext cx="18984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étape 0 : problématique</a:t>
            </a:r>
            <a:endParaRPr sz="1200" b="0" i="0" u="none" strike="noStrike" cap="none">
              <a:solidFill>
                <a:schemeClr val="dk1"/>
              </a:solidFill>
              <a:latin typeface="Quattrocento Sans"/>
              <a:ea typeface="Quattrocento Sans"/>
              <a:cs typeface="Quattrocento Sans"/>
              <a:sym typeface="Quattrocento Sans"/>
            </a:endParaRPr>
          </a:p>
        </p:txBody>
      </p:sp>
      <p:sp>
        <p:nvSpPr>
          <p:cNvPr id="125" name="Google Shape;125;g3a661288f2b_0_0"/>
          <p:cNvSpPr txBox="1"/>
          <p:nvPr/>
        </p:nvSpPr>
        <p:spPr>
          <a:xfrm>
            <a:off x="7110375" y="2180476"/>
            <a:ext cx="18984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étape 1 : observation</a:t>
            </a:r>
            <a:endParaRPr sz="1200" b="0" i="0" u="none" strike="noStrike" cap="none">
              <a:solidFill>
                <a:schemeClr val="dk1"/>
              </a:solidFill>
              <a:latin typeface="Quattrocento Sans"/>
              <a:ea typeface="Quattrocento Sans"/>
              <a:cs typeface="Quattrocento Sans"/>
              <a:sym typeface="Quattrocento Sans"/>
            </a:endParaRPr>
          </a:p>
        </p:txBody>
      </p:sp>
      <p:sp>
        <p:nvSpPr>
          <p:cNvPr id="126" name="Google Shape;126;g3a661288f2b_0_0"/>
          <p:cNvSpPr txBox="1"/>
          <p:nvPr/>
        </p:nvSpPr>
        <p:spPr>
          <a:xfrm>
            <a:off x="7110363" y="3097514"/>
            <a:ext cx="1898400" cy="30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étape 2 : description</a:t>
            </a:r>
            <a:endParaRPr sz="12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a661288f2b_0_12"/>
          <p:cNvSpPr/>
          <p:nvPr/>
        </p:nvSpPr>
        <p:spPr>
          <a:xfrm>
            <a:off x="330200" y="878025"/>
            <a:ext cx="8750100" cy="2208600"/>
          </a:xfrm>
          <a:prstGeom prst="rect">
            <a:avLst/>
          </a:prstGeom>
          <a:noFill/>
          <a:ln>
            <a:noFill/>
          </a:ln>
        </p:spPr>
        <p:txBody>
          <a:bodyPr spcFirstLastPara="1" wrap="square" lIns="68575" tIns="34275" rIns="68575" bIns="34275" anchor="t" anchorCtr="0">
            <a:noAutofit/>
          </a:bodyPr>
          <a:lstStyle/>
          <a:p>
            <a:pPr marL="457200" marR="0" lvl="0" indent="-342900" algn="l" rtl="0">
              <a:lnSpc>
                <a:spcPct val="150000"/>
              </a:lnSpc>
              <a:spcBef>
                <a:spcPts val="0"/>
              </a:spcBef>
              <a:spcAft>
                <a:spcPts val="0"/>
              </a:spcAft>
              <a:buClr>
                <a:schemeClr val="dk1"/>
              </a:buClr>
              <a:buSzPts val="1800"/>
              <a:buFont typeface="Quattrocento Sans"/>
              <a:buAutoNum type="arabicPeriod"/>
            </a:pPr>
            <a:r>
              <a:rPr lang="it" sz="1800" b="0" i="0" u="none" strike="noStrike" cap="none">
                <a:solidFill>
                  <a:schemeClr val="dk1"/>
                </a:solidFill>
                <a:latin typeface="Quattrocento Sans"/>
                <a:ea typeface="Quattrocento Sans"/>
                <a:cs typeface="Quattrocento Sans"/>
                <a:sym typeface="Quattrocento Sans"/>
              </a:rPr>
              <a:t>Choisir </a:t>
            </a:r>
            <a:r>
              <a:rPr lang="it" sz="1800" b="1" i="0" u="none" strike="noStrike" cap="none">
                <a:solidFill>
                  <a:schemeClr val="dk1"/>
                </a:solidFill>
                <a:latin typeface="Quattrocento Sans"/>
                <a:ea typeface="Quattrocento Sans"/>
                <a:cs typeface="Quattrocento Sans"/>
                <a:sym typeface="Quattrocento Sans"/>
              </a:rPr>
              <a:t>le niveau</a:t>
            </a:r>
            <a:r>
              <a:rPr lang="it" sz="1800" b="0" i="0" u="none" strike="noStrike" cap="none">
                <a:solidFill>
                  <a:schemeClr val="dk1"/>
                </a:solidFill>
                <a:latin typeface="Quattrocento Sans"/>
                <a:ea typeface="Quattrocento Sans"/>
                <a:cs typeface="Quattrocento Sans"/>
                <a:sym typeface="Quattrocento Sans"/>
              </a:rPr>
              <a:t> auquel on veut analyser les notions :</a:t>
            </a:r>
            <a:r>
              <a:rPr lang="it" sz="1800" b="1" i="0" u="none" strike="noStrike" cap="none">
                <a:solidFill>
                  <a:schemeClr val="dk1"/>
                </a:solidFill>
                <a:latin typeface="Quattrocento Sans"/>
                <a:ea typeface="Quattrocento Sans"/>
                <a:cs typeface="Quattrocento Sans"/>
                <a:sym typeface="Quattrocento Sans"/>
              </a:rPr>
              <a:t> </a:t>
            </a:r>
            <a:endParaRPr sz="18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800"/>
              <a:buFont typeface="Arial"/>
              <a:buNone/>
            </a:pPr>
            <a:endParaRPr sz="1800" b="1" i="0" u="none" strike="noStrike" cap="none">
              <a:solidFill>
                <a:schemeClr val="dk1"/>
              </a:solidFill>
              <a:latin typeface="Quattrocento Sans"/>
              <a:ea typeface="Quattrocento Sans"/>
              <a:cs typeface="Quattrocento Sans"/>
              <a:sym typeface="Quattrocento Sans"/>
            </a:endParaRPr>
          </a:p>
          <a:p>
            <a:pPr marL="457200" marR="0" lvl="0" indent="0" algn="l" rtl="0">
              <a:lnSpc>
                <a:spcPct val="150000"/>
              </a:lnSpc>
              <a:spcBef>
                <a:spcPts val="0"/>
              </a:spcBef>
              <a:spcAft>
                <a:spcPts val="0"/>
              </a:spcAft>
              <a:buClr>
                <a:srgbClr val="000000"/>
              </a:buClr>
              <a:buSzPts val="2400"/>
              <a:buFont typeface="Arial"/>
              <a:buNone/>
            </a:pPr>
            <a:r>
              <a:rPr lang="it" sz="2400" b="0" i="0" u="none" strike="noStrike" cap="none">
                <a:solidFill>
                  <a:schemeClr val="dk1"/>
                </a:solidFill>
                <a:latin typeface="Quattrocento Sans"/>
                <a:ea typeface="Quattrocento Sans"/>
                <a:cs typeface="Quattrocento Sans"/>
                <a:sym typeface="Quattrocento Sans"/>
              </a:rPr>
              <a:t>→ nous nous situons sur le </a:t>
            </a:r>
            <a:r>
              <a:rPr lang="it" sz="2400" b="1" i="0" u="none" strike="noStrike" cap="none">
                <a:solidFill>
                  <a:srgbClr val="097D3F"/>
                </a:solidFill>
                <a:latin typeface="Quattrocento Sans"/>
                <a:ea typeface="Quattrocento Sans"/>
                <a:cs typeface="Quattrocento Sans"/>
                <a:sym typeface="Quattrocento Sans"/>
              </a:rPr>
              <a:t>plan</a:t>
            </a:r>
            <a:r>
              <a:rPr lang="it" sz="2400" b="0" i="0" u="none" strike="noStrike" cap="none">
                <a:solidFill>
                  <a:srgbClr val="097D3F"/>
                </a:solidFill>
                <a:latin typeface="Quattrocento Sans"/>
                <a:ea typeface="Quattrocento Sans"/>
                <a:cs typeface="Quattrocento Sans"/>
                <a:sym typeface="Quattrocento Sans"/>
              </a:rPr>
              <a:t> </a:t>
            </a:r>
            <a:r>
              <a:rPr lang="it" sz="2400" b="1" i="0" u="none" strike="noStrike" cap="none">
                <a:solidFill>
                  <a:srgbClr val="097D3F"/>
                </a:solidFill>
                <a:latin typeface="Quattrocento Sans"/>
                <a:ea typeface="Quattrocento Sans"/>
                <a:cs typeface="Quattrocento Sans"/>
                <a:sym typeface="Quattrocento Sans"/>
              </a:rPr>
              <a:t>sémantique </a:t>
            </a:r>
            <a:r>
              <a:rPr lang="it" sz="1300" i="0" u="none" strike="noStrike" cap="none">
                <a:solidFill>
                  <a:srgbClr val="097D3F"/>
                </a:solidFill>
                <a:latin typeface="Quattrocento Sans"/>
                <a:ea typeface="Quattrocento Sans"/>
                <a:cs typeface="Quattrocento Sans"/>
                <a:sym typeface="Quattrocento Sans"/>
              </a:rPr>
              <a:t>(≠ pra</a:t>
            </a:r>
            <a:r>
              <a:rPr lang="it" sz="1300">
                <a:solidFill>
                  <a:srgbClr val="097D3F"/>
                </a:solidFill>
                <a:latin typeface="Quattrocento Sans"/>
                <a:ea typeface="Quattrocento Sans"/>
                <a:cs typeface="Quattrocento Sans"/>
                <a:sym typeface="Quattrocento Sans"/>
              </a:rPr>
              <a:t>gmatique)</a:t>
            </a:r>
            <a:endParaRPr sz="13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32" name="Google Shape;132;g3a661288f2b_0_12"/>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Choix pour la modélisation :</a:t>
            </a:r>
            <a:endParaRPr sz="2600" b="1" i="0" u="none" strike="noStrike" cap="none">
              <a:solidFill>
                <a:srgbClr val="097D3F"/>
              </a:solidFill>
              <a:latin typeface="Quattrocento Sans"/>
              <a:ea typeface="Quattrocento Sans"/>
              <a:cs typeface="Quattrocento Sans"/>
              <a:sym typeface="Quattrocento Sans"/>
            </a:endParaRPr>
          </a:p>
        </p:txBody>
      </p:sp>
      <p:sp>
        <p:nvSpPr>
          <p:cNvPr id="133" name="Google Shape;133;g3a661288f2b_0_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6</a:t>
            </a:fld>
            <a:endParaRPr/>
          </a:p>
        </p:txBody>
      </p:sp>
      <p:sp>
        <p:nvSpPr>
          <p:cNvPr id="134" name="Google Shape;134;g3a661288f2b_0_12"/>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3a661288f2b_0_19"/>
          <p:cNvSpPr/>
          <p:nvPr/>
        </p:nvSpPr>
        <p:spPr>
          <a:xfrm>
            <a:off x="330200" y="626625"/>
            <a:ext cx="8353500" cy="35205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rgbClr val="000000"/>
              </a:buClr>
              <a:buSzPts val="1700"/>
              <a:buFont typeface="Arial"/>
              <a:buNone/>
            </a:pPr>
            <a:r>
              <a:rPr lang="it" sz="1700" b="1" i="0" u="none" strike="noStrike" cap="none">
                <a:solidFill>
                  <a:schemeClr val="dk1"/>
                </a:solidFill>
                <a:latin typeface="Quattrocento Sans"/>
                <a:ea typeface="Quattrocento Sans"/>
                <a:cs typeface="Quattrocento Sans"/>
                <a:sym typeface="Quattrocento Sans"/>
              </a:rPr>
              <a:t>2.    </a:t>
            </a:r>
            <a:r>
              <a:rPr lang="it" sz="1700" b="0" i="0" u="none" strike="noStrike" cap="none">
                <a:solidFill>
                  <a:schemeClr val="dk1"/>
                </a:solidFill>
                <a:latin typeface="Quattrocento Sans"/>
                <a:ea typeface="Quattrocento Sans"/>
                <a:cs typeface="Quattrocento Sans"/>
                <a:sym typeface="Quattrocento Sans"/>
              </a:rPr>
              <a:t>Choisir le </a:t>
            </a:r>
            <a:r>
              <a:rPr lang="it" sz="1700" b="1" i="0" u="none" strike="noStrike" cap="none">
                <a:solidFill>
                  <a:schemeClr val="dk1"/>
                </a:solidFill>
                <a:latin typeface="Quattrocento Sans"/>
                <a:ea typeface="Quattrocento Sans"/>
                <a:cs typeface="Quattrocento Sans"/>
                <a:sym typeface="Quattrocento Sans"/>
              </a:rPr>
              <a:t>cadre théorique </a:t>
            </a:r>
            <a:r>
              <a:rPr lang="it" sz="1700" b="0" i="0" u="none" strike="noStrike" cap="none">
                <a:solidFill>
                  <a:schemeClr val="dk1"/>
                </a:solidFill>
                <a:latin typeface="Quattrocento Sans"/>
                <a:ea typeface="Quattrocento Sans"/>
                <a:cs typeface="Quattrocento Sans"/>
                <a:sym typeface="Quattrocento Sans"/>
              </a:rPr>
              <a:t>pour définir les notions : </a:t>
            </a:r>
            <a:endParaRPr sz="17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700"/>
              <a:buFont typeface="Arial"/>
              <a:buNone/>
            </a:pPr>
            <a:r>
              <a:rPr lang="it" sz="1700" b="0" i="0" u="none" strike="noStrike" cap="none">
                <a:solidFill>
                  <a:schemeClr val="dk1"/>
                </a:solidFill>
                <a:latin typeface="Quattrocento Sans"/>
                <a:ea typeface="Quattrocento Sans"/>
                <a:cs typeface="Quattrocento Sans"/>
                <a:sym typeface="Quattrocento Sans"/>
              </a:rPr>
              <a:t>	→ cadre théorique proposé par </a:t>
            </a:r>
            <a:r>
              <a:rPr lang="it" sz="1700" b="1" i="0" u="none" strike="noStrike" cap="none">
                <a:solidFill>
                  <a:srgbClr val="097D3F"/>
                </a:solidFill>
                <a:latin typeface="Quattrocento Sans"/>
                <a:ea typeface="Quattrocento Sans"/>
                <a:cs typeface="Quattrocento Sans"/>
                <a:sym typeface="Quattrocento Sans"/>
              </a:rPr>
              <a:t>Laurent Gosselin</a:t>
            </a:r>
            <a:endParaRPr sz="1700" b="0" i="0" u="none" strike="noStrike" cap="none">
              <a:solidFill>
                <a:srgbClr val="097D3F"/>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rgbClr val="FF0000"/>
              </a:solidFill>
              <a:latin typeface="Quattrocento Sans"/>
              <a:ea typeface="Quattrocento Sans"/>
              <a:cs typeface="Quattrocento Sans"/>
              <a:sym typeface="Quattrocento Sans"/>
            </a:endParaRPr>
          </a:p>
          <a:p>
            <a:pPr marL="457200" marR="0" lvl="0" indent="0" algn="l" rtl="0">
              <a:lnSpc>
                <a:spcPct val="150000"/>
              </a:lnSpc>
              <a:spcBef>
                <a:spcPts val="0"/>
              </a:spcBef>
              <a:spcAft>
                <a:spcPts val="0"/>
              </a:spcAft>
              <a:buClr>
                <a:srgbClr val="000000"/>
              </a:buClr>
              <a:buSzPts val="1700"/>
              <a:buFont typeface="Arial"/>
              <a:buNone/>
            </a:pPr>
            <a:r>
              <a:rPr lang="it" sz="1700" b="1" i="0" u="none" strike="noStrike" cap="none">
                <a:solidFill>
                  <a:schemeClr val="dk1"/>
                </a:solidFill>
                <a:latin typeface="Quattrocento Sans"/>
                <a:ea typeface="Quattrocento Sans"/>
                <a:cs typeface="Quattrocento Sans"/>
                <a:sym typeface="Quattrocento Sans"/>
              </a:rPr>
              <a:t>Pourquoi?</a:t>
            </a:r>
            <a:r>
              <a:rPr lang="it" sz="1700" b="0" i="0" u="none" strike="noStrike" cap="none">
                <a:solidFill>
                  <a:schemeClr val="dk1"/>
                </a:solidFill>
                <a:latin typeface="Quattrocento Sans"/>
                <a:ea typeface="Quattrocento Sans"/>
                <a:cs typeface="Quattrocento Sans"/>
                <a:sym typeface="Quattrocento Sans"/>
              </a:rPr>
              <a:t> Parce que fait l’effort de proposer une modélisation inspirée de la logique et de l’informatique. Il conjugue complétude et adaptation à une possible automatisation.</a:t>
            </a:r>
            <a:br>
              <a:rPr lang="it" sz="1700" b="0" i="0" u="none" strike="noStrike" cap="none">
                <a:solidFill>
                  <a:schemeClr val="dk1"/>
                </a:solidFill>
                <a:latin typeface="Quattrocento Sans"/>
                <a:ea typeface="Quattrocento Sans"/>
                <a:cs typeface="Quattrocento Sans"/>
                <a:sym typeface="Quattrocento Sans"/>
              </a:rPr>
            </a:br>
            <a:endParaRPr sz="17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700"/>
              <a:buFont typeface="Arial"/>
              <a:buNone/>
            </a:pPr>
            <a:r>
              <a:rPr lang="it" sz="1700" b="0" i="0" u="none" strike="noStrike" cap="none">
                <a:solidFill>
                  <a:schemeClr val="dk1"/>
                </a:solidFill>
                <a:latin typeface="Quattrocento Sans"/>
                <a:ea typeface="Quattrocento Sans"/>
                <a:cs typeface="Quattrocento Sans"/>
                <a:sym typeface="Quattrocento Sans"/>
              </a:rPr>
              <a:t>→ Il s’agit toujours de faire un </a:t>
            </a:r>
            <a:r>
              <a:rPr lang="it" sz="1700" b="1" i="0" u="none" strike="noStrike" cap="none">
                <a:solidFill>
                  <a:schemeClr val="dk1"/>
                </a:solidFill>
                <a:latin typeface="Quattrocento Sans"/>
                <a:ea typeface="Quattrocento Sans"/>
                <a:cs typeface="Quattrocento Sans"/>
                <a:sym typeface="Quattrocento Sans"/>
              </a:rPr>
              <a:t>choix</a:t>
            </a:r>
            <a:r>
              <a:rPr lang="it" sz="1700" b="0" i="0" u="none" strike="noStrike" cap="none">
                <a:solidFill>
                  <a:schemeClr val="dk1"/>
                </a:solidFill>
                <a:latin typeface="Quattrocento Sans"/>
                <a:ea typeface="Quattrocento Sans"/>
                <a:cs typeface="Quattrocento Sans"/>
                <a:sym typeface="Quattrocento Sans"/>
              </a:rPr>
              <a:t> parmi plusieurs cadres théoriques. C’est une </a:t>
            </a:r>
            <a:r>
              <a:rPr lang="it" sz="1700" b="1" i="0" u="none" strike="noStrike" cap="none">
                <a:solidFill>
                  <a:schemeClr val="dk1"/>
                </a:solidFill>
                <a:latin typeface="Quattrocento Sans"/>
                <a:ea typeface="Quattrocento Sans"/>
                <a:cs typeface="Quattrocento Sans"/>
                <a:sym typeface="Quattrocento Sans"/>
              </a:rPr>
              <a:t>grille</a:t>
            </a:r>
            <a:r>
              <a:rPr lang="it" sz="1700" b="1" i="0" u="none" strike="noStrike" cap="none">
                <a:solidFill>
                  <a:srgbClr val="097D3F"/>
                </a:solidFill>
                <a:latin typeface="Quattrocento Sans"/>
                <a:ea typeface="Quattrocento Sans"/>
                <a:cs typeface="Quattrocento Sans"/>
                <a:sym typeface="Quattrocento Sans"/>
              </a:rPr>
              <a:t> </a:t>
            </a:r>
            <a:r>
              <a:rPr lang="it" sz="1700" b="1" i="0" u="none" strike="noStrike" cap="none">
                <a:solidFill>
                  <a:schemeClr val="dk1"/>
                </a:solidFill>
                <a:latin typeface="Quattrocento Sans"/>
                <a:ea typeface="Quattrocento Sans"/>
                <a:cs typeface="Quattrocento Sans"/>
                <a:sym typeface="Quattrocento Sans"/>
              </a:rPr>
              <a:t>de lecture </a:t>
            </a:r>
            <a:r>
              <a:rPr lang="it" sz="1700" b="0" i="0" u="none" strike="noStrike" cap="none">
                <a:solidFill>
                  <a:schemeClr val="dk1"/>
                </a:solidFill>
                <a:latin typeface="Quattrocento Sans"/>
                <a:ea typeface="Quattrocento Sans"/>
                <a:cs typeface="Quattrocento Sans"/>
                <a:sym typeface="Quattrocento Sans"/>
              </a:rPr>
              <a:t>parmi d’autres. </a:t>
            </a:r>
            <a:endParaRPr sz="17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latin typeface="Quattrocento Sans"/>
              <a:ea typeface="Quattrocento Sans"/>
              <a:cs typeface="Quattrocento Sans"/>
              <a:sym typeface="Quattrocento Sans"/>
            </a:endParaRPr>
          </a:p>
        </p:txBody>
      </p:sp>
      <p:sp>
        <p:nvSpPr>
          <p:cNvPr id="140" name="Google Shape;140;g3a661288f2b_0_19"/>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Choix pour la modélisation :</a:t>
            </a:r>
            <a:endParaRPr sz="2600" b="1" i="0" u="none" strike="noStrike" cap="none">
              <a:solidFill>
                <a:srgbClr val="097D3F"/>
              </a:solidFill>
              <a:latin typeface="Quattrocento Sans"/>
              <a:ea typeface="Quattrocento Sans"/>
              <a:cs typeface="Quattrocento Sans"/>
              <a:sym typeface="Quattrocento Sans"/>
            </a:endParaRPr>
          </a:p>
        </p:txBody>
      </p:sp>
      <p:sp>
        <p:nvSpPr>
          <p:cNvPr id="141" name="Google Shape;141;g3a661288f2b_0_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7</a:t>
            </a:fld>
            <a:endParaRPr/>
          </a:p>
        </p:txBody>
      </p:sp>
      <p:sp>
        <p:nvSpPr>
          <p:cNvPr id="142" name="Google Shape;142;g3a661288f2b_0_19"/>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
        <p:nvSpPr>
          <p:cNvPr id="143" name="Google Shape;143;g3a661288f2b_0_19"/>
          <p:cNvSpPr/>
          <p:nvPr/>
        </p:nvSpPr>
        <p:spPr>
          <a:xfrm>
            <a:off x="6310025" y="511550"/>
            <a:ext cx="1541100" cy="1155900"/>
          </a:xfrm>
          <a:prstGeom prst="foldedCorner">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Clr>
                <a:srgbClr val="000000"/>
              </a:buClr>
              <a:buSzPts val="1000"/>
              <a:buFont typeface="Arial"/>
              <a:buNone/>
            </a:pPr>
            <a:r>
              <a:rPr lang="it" sz="1000" b="1" i="0" u="none" strike="noStrike" cap="none">
                <a:solidFill>
                  <a:schemeClr val="dk1"/>
                </a:solidFill>
                <a:latin typeface="Quattrocento Sans"/>
                <a:ea typeface="Quattrocento Sans"/>
                <a:cs typeface="Quattrocento Sans"/>
                <a:sym typeface="Quattrocento Sans"/>
              </a:rPr>
              <a:t>cadre théorique</a:t>
            </a:r>
            <a:r>
              <a:rPr lang="it" sz="1000" b="0" i="0" u="none" strike="noStrike" cap="none">
                <a:solidFill>
                  <a:schemeClr val="dk1"/>
                </a:solidFill>
                <a:latin typeface="Quattrocento Sans"/>
                <a:ea typeface="Quattrocento Sans"/>
                <a:cs typeface="Quattrocento Sans"/>
                <a:sym typeface="Quattrocento Sans"/>
              </a:rPr>
              <a:t> (en sémantique) : l’implantation théorique (définition, organisation) nécessaire à la définition d’une notion</a:t>
            </a:r>
            <a:endParaRPr sz="14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a661288f2b_0_27"/>
          <p:cNvSpPr/>
          <p:nvPr/>
        </p:nvSpPr>
        <p:spPr>
          <a:xfrm>
            <a:off x="1188275" y="498725"/>
            <a:ext cx="4685100" cy="4526700"/>
          </a:xfrm>
          <a:prstGeom prst="ellipse">
            <a:avLst/>
          </a:prstGeom>
          <a:solidFill>
            <a:srgbClr val="D9EAD3">
              <a:alpha val="498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49" name="Google Shape;149;g3a661288f2b_0_27"/>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L’incertitude chez Gosselin :</a:t>
            </a:r>
            <a:endParaRPr sz="2600" b="1" i="0" u="none" strike="noStrike" cap="none">
              <a:solidFill>
                <a:srgbClr val="097D3F"/>
              </a:solidFill>
              <a:latin typeface="Quattrocento Sans"/>
              <a:ea typeface="Quattrocento Sans"/>
              <a:cs typeface="Quattrocento Sans"/>
              <a:sym typeface="Quattrocento Sans"/>
            </a:endParaRPr>
          </a:p>
        </p:txBody>
      </p:sp>
      <p:sp>
        <p:nvSpPr>
          <p:cNvPr id="150" name="Google Shape;150;g3a661288f2b_0_27"/>
          <p:cNvSpPr/>
          <p:nvPr/>
        </p:nvSpPr>
        <p:spPr>
          <a:xfrm>
            <a:off x="1543450" y="2571750"/>
            <a:ext cx="1295100" cy="1274100"/>
          </a:xfrm>
          <a:prstGeom prst="ellipse">
            <a:avLst/>
          </a:prstGeom>
          <a:solidFill>
            <a:srgbClr val="D9D9D9"/>
          </a:solidFill>
          <a:ln w="9525" cap="flat" cmpd="sng">
            <a:solidFill>
              <a:schemeClr val="dk2"/>
            </a:solidFill>
            <a:prstDash val="solid"/>
            <a:round/>
            <a:headEnd type="none" w="sm" len="sm"/>
            <a:tailEnd type="none" w="sm" len="sm"/>
          </a:ln>
        </p:spPr>
        <p:txBody>
          <a:bodyPr spcFirstLastPara="1" wrap="square" lIns="69875" tIns="69875" rIns="69875" bIns="69875" anchor="ctr" anchorCtr="0">
            <a:noAutofit/>
          </a:bodyPr>
          <a:lstStyle/>
          <a:p>
            <a:pPr marL="0" marR="0" lvl="0" indent="0" algn="ctr" rtl="0">
              <a:lnSpc>
                <a:spcPct val="100000"/>
              </a:lnSpc>
              <a:spcBef>
                <a:spcPts val="0"/>
              </a:spcBef>
              <a:spcAft>
                <a:spcPts val="0"/>
              </a:spcAft>
              <a:buClr>
                <a:srgbClr val="000000"/>
              </a:buClr>
              <a:buSzPts val="1069"/>
              <a:buFont typeface="Arial"/>
              <a:buNone/>
            </a:pPr>
            <a:endParaRPr sz="1069" b="0" i="0" u="none" strike="noStrike" cap="none">
              <a:solidFill>
                <a:srgbClr val="000000"/>
              </a:solidFill>
              <a:latin typeface="Calibri"/>
              <a:ea typeface="Calibri"/>
              <a:cs typeface="Calibri"/>
              <a:sym typeface="Calibri"/>
            </a:endParaRPr>
          </a:p>
        </p:txBody>
      </p:sp>
      <p:sp>
        <p:nvSpPr>
          <p:cNvPr id="151" name="Google Shape;151;g3a661288f2b_0_27"/>
          <p:cNvSpPr/>
          <p:nvPr/>
        </p:nvSpPr>
        <p:spPr>
          <a:xfrm>
            <a:off x="1749773" y="2842262"/>
            <a:ext cx="740100" cy="732900"/>
          </a:xfrm>
          <a:prstGeom prst="ellipse">
            <a:avLst/>
          </a:prstGeom>
          <a:solidFill>
            <a:srgbClr val="C9DAF8"/>
          </a:solidFill>
          <a:ln w="9525" cap="flat" cmpd="sng">
            <a:solidFill>
              <a:schemeClr val="dk2"/>
            </a:solidFill>
            <a:prstDash val="solid"/>
            <a:round/>
            <a:headEnd type="none" w="sm" len="sm"/>
            <a:tailEnd type="none" w="sm" len="sm"/>
          </a:ln>
        </p:spPr>
        <p:txBody>
          <a:bodyPr spcFirstLastPara="1" wrap="square" lIns="69875" tIns="69875" rIns="69875" bIns="69875" anchor="ctr" anchorCtr="0">
            <a:noAutofit/>
          </a:bodyPr>
          <a:lstStyle/>
          <a:p>
            <a:pPr marL="0" marR="0" lvl="0" indent="0" algn="ctr" rtl="0">
              <a:lnSpc>
                <a:spcPct val="100000"/>
              </a:lnSpc>
              <a:spcBef>
                <a:spcPts val="0"/>
              </a:spcBef>
              <a:spcAft>
                <a:spcPts val="0"/>
              </a:spcAft>
              <a:buClr>
                <a:srgbClr val="000000"/>
              </a:buClr>
              <a:buSzPts val="916"/>
              <a:buFont typeface="Arial"/>
              <a:buNone/>
            </a:pPr>
            <a:r>
              <a:rPr lang="it" sz="916" b="0" i="0" u="none" strike="noStrike" cap="none">
                <a:solidFill>
                  <a:srgbClr val="000000"/>
                </a:solidFill>
                <a:latin typeface="Quattrocento Sans"/>
                <a:ea typeface="Quattrocento Sans"/>
                <a:cs typeface="Quattrocento Sans"/>
                <a:sym typeface="Quattrocento Sans"/>
              </a:rPr>
              <a:t>I</a:t>
            </a:r>
            <a:endParaRPr sz="916" b="0" i="0" u="none" strike="noStrike" cap="none">
              <a:solidFill>
                <a:srgbClr val="000000"/>
              </a:solidFill>
              <a:latin typeface="Quattrocento Sans"/>
              <a:ea typeface="Quattrocento Sans"/>
              <a:cs typeface="Quattrocento Sans"/>
              <a:sym typeface="Quattrocento Sans"/>
            </a:endParaRPr>
          </a:p>
        </p:txBody>
      </p:sp>
      <p:sp>
        <p:nvSpPr>
          <p:cNvPr id="152" name="Google Shape;152;g3a661288f2b_0_27"/>
          <p:cNvSpPr txBox="1"/>
          <p:nvPr/>
        </p:nvSpPr>
        <p:spPr>
          <a:xfrm>
            <a:off x="2532484" y="2977403"/>
            <a:ext cx="206400" cy="255900"/>
          </a:xfrm>
          <a:prstGeom prst="rect">
            <a:avLst/>
          </a:prstGeom>
          <a:noFill/>
          <a:ln>
            <a:noFill/>
          </a:ln>
        </p:spPr>
        <p:txBody>
          <a:bodyPr spcFirstLastPara="1" wrap="square" lIns="69875" tIns="69875" rIns="69875" bIns="69875" anchor="t" anchorCtr="0">
            <a:noAutofit/>
          </a:bodyPr>
          <a:lstStyle/>
          <a:p>
            <a:pPr marL="0" marR="0" lvl="0" indent="0" algn="l" rtl="0">
              <a:lnSpc>
                <a:spcPct val="100000"/>
              </a:lnSpc>
              <a:spcBef>
                <a:spcPts val="0"/>
              </a:spcBef>
              <a:spcAft>
                <a:spcPts val="0"/>
              </a:spcAft>
              <a:buClr>
                <a:srgbClr val="000000"/>
              </a:buClr>
              <a:buSzPts val="916"/>
              <a:buFont typeface="Arial"/>
              <a:buNone/>
            </a:pPr>
            <a:r>
              <a:rPr lang="it" sz="916" b="0" i="0" u="none" strike="noStrike" cap="none">
                <a:solidFill>
                  <a:schemeClr val="dk1"/>
                </a:solidFill>
                <a:latin typeface="Quattrocento Sans"/>
                <a:ea typeface="Quattrocento Sans"/>
                <a:cs typeface="Quattrocento Sans"/>
                <a:sym typeface="Quattrocento Sans"/>
              </a:rPr>
              <a:t>?</a:t>
            </a:r>
            <a:endParaRPr sz="916" b="0" i="0" u="none" strike="noStrike" cap="none">
              <a:solidFill>
                <a:schemeClr val="dk1"/>
              </a:solidFill>
              <a:latin typeface="Quattrocento Sans"/>
              <a:ea typeface="Quattrocento Sans"/>
              <a:cs typeface="Quattrocento Sans"/>
              <a:sym typeface="Quattrocento Sans"/>
            </a:endParaRPr>
          </a:p>
        </p:txBody>
      </p:sp>
      <p:sp>
        <p:nvSpPr>
          <p:cNvPr id="153" name="Google Shape;153;g3a661288f2b_0_27"/>
          <p:cNvSpPr txBox="1"/>
          <p:nvPr/>
        </p:nvSpPr>
        <p:spPr>
          <a:xfrm>
            <a:off x="3088125" y="777625"/>
            <a:ext cx="13875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it" sz="1400" b="0" i="0" u="none" strike="noStrike" cap="none">
                <a:solidFill>
                  <a:schemeClr val="dk1"/>
                </a:solidFill>
                <a:latin typeface="Quattrocento Sans"/>
                <a:ea typeface="Quattrocento Sans"/>
                <a:cs typeface="Quattrocento Sans"/>
                <a:sym typeface="Quattrocento Sans"/>
              </a:rPr>
              <a:t>MODALITÉ</a:t>
            </a:r>
            <a:endParaRPr sz="1400" b="0" i="0" u="none" strike="noStrike" cap="none">
              <a:solidFill>
                <a:schemeClr val="dk1"/>
              </a:solidFill>
              <a:latin typeface="Quattrocento Sans"/>
              <a:ea typeface="Quattrocento Sans"/>
              <a:cs typeface="Quattrocento Sans"/>
              <a:sym typeface="Quattrocento Sans"/>
            </a:endParaRPr>
          </a:p>
        </p:txBody>
      </p:sp>
      <p:sp>
        <p:nvSpPr>
          <p:cNvPr id="154" name="Google Shape;154;g3a661288f2b_0_27"/>
          <p:cNvSpPr/>
          <p:nvPr/>
        </p:nvSpPr>
        <p:spPr>
          <a:xfrm>
            <a:off x="4436075" y="2135250"/>
            <a:ext cx="1175100" cy="1150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55" name="Google Shape;155;g3a661288f2b_0_27"/>
          <p:cNvSpPr/>
          <p:nvPr/>
        </p:nvSpPr>
        <p:spPr>
          <a:xfrm>
            <a:off x="1888400" y="1063800"/>
            <a:ext cx="1125000" cy="111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56" name="Google Shape;156;g3a661288f2b_0_27"/>
          <p:cNvSpPr/>
          <p:nvPr/>
        </p:nvSpPr>
        <p:spPr>
          <a:xfrm>
            <a:off x="3122188" y="1288523"/>
            <a:ext cx="1205100" cy="1150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57" name="Google Shape;157;g3a661288f2b_0_27"/>
          <p:cNvSpPr txBox="1"/>
          <p:nvPr/>
        </p:nvSpPr>
        <p:spPr>
          <a:xfrm>
            <a:off x="3589738" y="1666738"/>
            <a:ext cx="270000" cy="51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
        <p:nvSpPr>
          <p:cNvPr id="158" name="Google Shape;158;g3a661288f2b_0_27"/>
          <p:cNvSpPr txBox="1"/>
          <p:nvPr/>
        </p:nvSpPr>
        <p:spPr>
          <a:xfrm>
            <a:off x="2315900" y="1452600"/>
            <a:ext cx="2700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
        <p:nvSpPr>
          <p:cNvPr id="159" name="Google Shape;159;g3a661288f2b_0_27"/>
          <p:cNvSpPr txBox="1"/>
          <p:nvPr/>
        </p:nvSpPr>
        <p:spPr>
          <a:xfrm>
            <a:off x="4888625" y="2512950"/>
            <a:ext cx="270000" cy="39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
        <p:nvSpPr>
          <p:cNvPr id="160" name="Google Shape;160;g3a661288f2b_0_27"/>
          <p:cNvSpPr txBox="1"/>
          <p:nvPr/>
        </p:nvSpPr>
        <p:spPr>
          <a:xfrm>
            <a:off x="6146425" y="3367700"/>
            <a:ext cx="2571900" cy="73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it" sz="1400" b="0" i="0" u="none" strike="noStrike" cap="none">
                <a:solidFill>
                  <a:schemeClr val="dk1"/>
                </a:solidFill>
                <a:latin typeface="Quattrocento Sans"/>
                <a:ea typeface="Quattrocento Sans"/>
                <a:cs typeface="Quattrocento Sans"/>
                <a:sym typeface="Quattrocento Sans"/>
              </a:rPr>
              <a:t>pour arriver à définir l’</a:t>
            </a:r>
            <a:r>
              <a:rPr lang="it" sz="1400" b="0" i="1" u="none" strike="noStrike" cap="none">
                <a:solidFill>
                  <a:schemeClr val="dk1"/>
                </a:solidFill>
                <a:latin typeface="Quattrocento Sans"/>
                <a:ea typeface="Quattrocento Sans"/>
                <a:cs typeface="Quattrocento Sans"/>
                <a:sym typeface="Quattrocento Sans"/>
              </a:rPr>
              <a:t>incertitude</a:t>
            </a:r>
            <a:r>
              <a:rPr lang="it" sz="1400" b="0" i="0" u="none" strike="noStrike" cap="none">
                <a:solidFill>
                  <a:schemeClr val="dk1"/>
                </a:solidFill>
                <a:latin typeface="Quattrocento Sans"/>
                <a:ea typeface="Quattrocento Sans"/>
                <a:cs typeface="Quattrocento Sans"/>
                <a:sym typeface="Quattrocento Sans"/>
              </a:rPr>
              <a:t>, Gosselin mobilise d’abord la notion de </a:t>
            </a:r>
            <a:r>
              <a:rPr lang="it" sz="1400" b="1" i="0" u="none" strike="noStrike" cap="none">
                <a:solidFill>
                  <a:srgbClr val="097D3F"/>
                </a:solidFill>
                <a:latin typeface="Quattrocento Sans"/>
                <a:ea typeface="Quattrocento Sans"/>
                <a:cs typeface="Quattrocento Sans"/>
                <a:sym typeface="Quattrocento Sans"/>
              </a:rPr>
              <a:t>modalité</a:t>
            </a:r>
            <a:endParaRPr sz="1400" b="1" i="0" u="none" strike="noStrike" cap="none">
              <a:solidFill>
                <a:srgbClr val="097D3F"/>
              </a:solidFill>
              <a:latin typeface="Quattrocento Sans"/>
              <a:ea typeface="Quattrocento Sans"/>
              <a:cs typeface="Quattrocento Sans"/>
              <a:sym typeface="Quattrocento Sans"/>
            </a:endParaRPr>
          </a:p>
        </p:txBody>
      </p:sp>
      <p:sp>
        <p:nvSpPr>
          <p:cNvPr id="161" name="Google Shape;161;g3a661288f2b_0_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8</a:t>
            </a:fld>
            <a:endParaRPr/>
          </a:p>
        </p:txBody>
      </p:sp>
      <p:sp>
        <p:nvSpPr>
          <p:cNvPr id="162" name="Google Shape;162;g3a661288f2b_0_27"/>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
        <p:nvSpPr>
          <p:cNvPr id="163" name="Google Shape;163;g3a661288f2b_0_27"/>
          <p:cNvSpPr/>
          <p:nvPr/>
        </p:nvSpPr>
        <p:spPr>
          <a:xfrm>
            <a:off x="3211188" y="2695048"/>
            <a:ext cx="1205100" cy="1150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4" name="Google Shape;164;g3a661288f2b_0_27"/>
          <p:cNvSpPr txBox="1"/>
          <p:nvPr/>
        </p:nvSpPr>
        <p:spPr>
          <a:xfrm>
            <a:off x="3678738" y="3073263"/>
            <a:ext cx="270000" cy="51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
        <p:nvSpPr>
          <p:cNvPr id="165" name="Google Shape;165;g3a661288f2b_0_27"/>
          <p:cNvSpPr/>
          <p:nvPr/>
        </p:nvSpPr>
        <p:spPr>
          <a:xfrm>
            <a:off x="2532463" y="3776573"/>
            <a:ext cx="1205100" cy="1150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66" name="Google Shape;166;g3a661288f2b_0_27"/>
          <p:cNvSpPr txBox="1"/>
          <p:nvPr/>
        </p:nvSpPr>
        <p:spPr>
          <a:xfrm>
            <a:off x="3000013" y="4154788"/>
            <a:ext cx="270000" cy="51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cxnSp>
        <p:nvCxnSpPr>
          <p:cNvPr id="167" name="Google Shape;167;g3a661288f2b_0_27"/>
          <p:cNvCxnSpPr>
            <a:stCxn id="151" idx="6"/>
            <a:endCxn id="160" idx="1"/>
          </p:cNvCxnSpPr>
          <p:nvPr/>
        </p:nvCxnSpPr>
        <p:spPr>
          <a:xfrm>
            <a:off x="2489873" y="3208712"/>
            <a:ext cx="3656700" cy="5253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a661288f2b_0_50"/>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a:t>
            </a:r>
            <a:endParaRPr sz="2600" b="1" i="0" u="none" strike="noStrike" cap="none">
              <a:solidFill>
                <a:srgbClr val="097D3F"/>
              </a:solidFill>
              <a:latin typeface="Quattrocento Sans"/>
              <a:ea typeface="Quattrocento Sans"/>
              <a:cs typeface="Quattrocento Sans"/>
              <a:sym typeface="Quattrocento Sans"/>
            </a:endParaRPr>
          </a:p>
        </p:txBody>
      </p:sp>
      <p:sp>
        <p:nvSpPr>
          <p:cNvPr id="173" name="Google Shape;173;g3a661288f2b_0_50"/>
          <p:cNvSpPr/>
          <p:nvPr/>
        </p:nvSpPr>
        <p:spPr>
          <a:xfrm>
            <a:off x="4374950" y="406075"/>
            <a:ext cx="4506900" cy="4467900"/>
          </a:xfrm>
          <a:prstGeom prst="ellipse">
            <a:avLst/>
          </a:prstGeom>
          <a:solidFill>
            <a:srgbClr val="D9EAD3">
              <a:alpha val="498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74" name="Google Shape;174;g3a661288f2b_0_50"/>
          <p:cNvSpPr/>
          <p:nvPr/>
        </p:nvSpPr>
        <p:spPr>
          <a:xfrm>
            <a:off x="4505375" y="2474325"/>
            <a:ext cx="1294200" cy="1304700"/>
          </a:xfrm>
          <a:prstGeom prst="ellipse">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75" name="Google Shape;175;g3a661288f2b_0_50"/>
          <p:cNvSpPr txBox="1"/>
          <p:nvPr/>
        </p:nvSpPr>
        <p:spPr>
          <a:xfrm>
            <a:off x="4645625" y="2902375"/>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épistémique</a:t>
            </a:r>
            <a:endParaRPr sz="1200" b="0" i="0" u="none" strike="noStrike" cap="none">
              <a:solidFill>
                <a:schemeClr val="dk1"/>
              </a:solidFill>
              <a:latin typeface="Quattrocento Sans"/>
              <a:ea typeface="Quattrocento Sans"/>
              <a:cs typeface="Quattrocento Sans"/>
              <a:sym typeface="Quattrocento Sans"/>
            </a:endParaRPr>
          </a:p>
        </p:txBody>
      </p:sp>
      <p:sp>
        <p:nvSpPr>
          <p:cNvPr id="176" name="Google Shape;176;g3a661288f2b_0_50"/>
          <p:cNvSpPr txBox="1"/>
          <p:nvPr/>
        </p:nvSpPr>
        <p:spPr>
          <a:xfrm>
            <a:off x="6019500" y="777625"/>
            <a:ext cx="13875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it" sz="1400" b="0" i="0" u="none" strike="noStrike" cap="none">
                <a:solidFill>
                  <a:schemeClr val="dk1"/>
                </a:solidFill>
                <a:latin typeface="Quattrocento Sans"/>
                <a:ea typeface="Quattrocento Sans"/>
                <a:cs typeface="Quattrocento Sans"/>
                <a:sym typeface="Quattrocento Sans"/>
              </a:rPr>
              <a:t>MODALITÉ</a:t>
            </a:r>
            <a:endParaRPr sz="1400" b="0" i="0" u="none" strike="noStrike" cap="none">
              <a:solidFill>
                <a:schemeClr val="dk1"/>
              </a:solidFill>
              <a:latin typeface="Quattrocento Sans"/>
              <a:ea typeface="Quattrocento Sans"/>
              <a:cs typeface="Quattrocento Sans"/>
              <a:sym typeface="Quattrocento Sans"/>
            </a:endParaRPr>
          </a:p>
        </p:txBody>
      </p:sp>
      <p:sp>
        <p:nvSpPr>
          <p:cNvPr id="177" name="Google Shape;177;g3a661288f2b_0_50"/>
          <p:cNvSpPr/>
          <p:nvPr/>
        </p:nvSpPr>
        <p:spPr>
          <a:xfrm>
            <a:off x="5745225" y="3392675"/>
            <a:ext cx="1294200" cy="13047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78" name="Google Shape;178;g3a661288f2b_0_50"/>
          <p:cNvSpPr txBox="1"/>
          <p:nvPr/>
        </p:nvSpPr>
        <p:spPr>
          <a:xfrm>
            <a:off x="5968975" y="3877475"/>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boulique</a:t>
            </a:r>
            <a:endParaRPr sz="1200" b="0" i="0" u="none" strike="noStrike" cap="none">
              <a:solidFill>
                <a:schemeClr val="dk1"/>
              </a:solidFill>
              <a:latin typeface="Quattrocento Sans"/>
              <a:ea typeface="Quattrocento Sans"/>
              <a:cs typeface="Quattrocento Sans"/>
              <a:sym typeface="Quattrocento Sans"/>
            </a:endParaRPr>
          </a:p>
        </p:txBody>
      </p:sp>
      <p:sp>
        <p:nvSpPr>
          <p:cNvPr id="179" name="Google Shape;179;g3a661288f2b_0_50"/>
          <p:cNvSpPr/>
          <p:nvPr/>
        </p:nvSpPr>
        <p:spPr>
          <a:xfrm>
            <a:off x="5074925" y="1065525"/>
            <a:ext cx="1294200" cy="1304700"/>
          </a:xfrm>
          <a:prstGeom prst="ellipse">
            <a:avLst/>
          </a:prstGeom>
          <a:solidFill>
            <a:srgbClr val="EAD1E0">
              <a:alpha val="6902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80" name="Google Shape;180;g3a661288f2b_0_50"/>
          <p:cNvSpPr txBox="1"/>
          <p:nvPr/>
        </p:nvSpPr>
        <p:spPr>
          <a:xfrm>
            <a:off x="5215175" y="1493575"/>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appréciative</a:t>
            </a:r>
            <a:endParaRPr sz="1200" b="0" i="0" u="none" strike="noStrike" cap="none">
              <a:solidFill>
                <a:schemeClr val="dk1"/>
              </a:solidFill>
              <a:latin typeface="Quattrocento Sans"/>
              <a:ea typeface="Quattrocento Sans"/>
              <a:cs typeface="Quattrocento Sans"/>
              <a:sym typeface="Quattrocento Sans"/>
            </a:endParaRPr>
          </a:p>
        </p:txBody>
      </p:sp>
      <p:sp>
        <p:nvSpPr>
          <p:cNvPr id="181" name="Google Shape;181;g3a661288f2b_0_50"/>
          <p:cNvSpPr/>
          <p:nvPr/>
        </p:nvSpPr>
        <p:spPr>
          <a:xfrm>
            <a:off x="6172950" y="1958325"/>
            <a:ext cx="1294200" cy="1304700"/>
          </a:xfrm>
          <a:prstGeom prst="ellipse">
            <a:avLst/>
          </a:prstGeom>
          <a:solidFill>
            <a:srgbClr val="FFF2CC">
              <a:alpha val="451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82" name="Google Shape;182;g3a661288f2b_0_50"/>
          <p:cNvSpPr txBox="1"/>
          <p:nvPr/>
        </p:nvSpPr>
        <p:spPr>
          <a:xfrm>
            <a:off x="6369125" y="2409688"/>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aléthique</a:t>
            </a:r>
            <a:endParaRPr sz="1200" b="0" i="0" u="none" strike="noStrike" cap="none">
              <a:solidFill>
                <a:schemeClr val="dk1"/>
              </a:solidFill>
              <a:latin typeface="Quattrocento Sans"/>
              <a:ea typeface="Quattrocento Sans"/>
              <a:cs typeface="Quattrocento Sans"/>
              <a:sym typeface="Quattrocento Sans"/>
            </a:endParaRPr>
          </a:p>
        </p:txBody>
      </p:sp>
      <p:sp>
        <p:nvSpPr>
          <p:cNvPr id="183" name="Google Shape;183;g3a661288f2b_0_50"/>
          <p:cNvSpPr/>
          <p:nvPr/>
        </p:nvSpPr>
        <p:spPr>
          <a:xfrm>
            <a:off x="7195300" y="1021550"/>
            <a:ext cx="1294200" cy="1304700"/>
          </a:xfrm>
          <a:prstGeom prst="ellipse">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84" name="Google Shape;184;g3a661288f2b_0_50"/>
          <p:cNvSpPr txBox="1"/>
          <p:nvPr/>
        </p:nvSpPr>
        <p:spPr>
          <a:xfrm>
            <a:off x="7335550" y="1449600"/>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axiologique</a:t>
            </a:r>
            <a:endParaRPr sz="1200" b="0" i="0" u="none" strike="noStrike" cap="none">
              <a:solidFill>
                <a:schemeClr val="dk1"/>
              </a:solidFill>
              <a:latin typeface="Quattrocento Sans"/>
              <a:ea typeface="Quattrocento Sans"/>
              <a:cs typeface="Quattrocento Sans"/>
              <a:sym typeface="Quattrocento Sans"/>
            </a:endParaRPr>
          </a:p>
        </p:txBody>
      </p:sp>
      <p:sp>
        <p:nvSpPr>
          <p:cNvPr id="185" name="Google Shape;185;g3a661288f2b_0_50"/>
          <p:cNvSpPr/>
          <p:nvPr/>
        </p:nvSpPr>
        <p:spPr>
          <a:xfrm>
            <a:off x="7253125" y="2828225"/>
            <a:ext cx="1294200" cy="1304700"/>
          </a:xfrm>
          <a:prstGeom prst="ellipse">
            <a:avLst/>
          </a:prstGeom>
          <a:solidFill>
            <a:srgbClr val="212323">
              <a:alpha val="200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86" name="Google Shape;186;g3a661288f2b_0_50"/>
          <p:cNvSpPr txBox="1"/>
          <p:nvPr/>
        </p:nvSpPr>
        <p:spPr>
          <a:xfrm>
            <a:off x="7393375" y="3256275"/>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chemeClr val="dk1"/>
                </a:solidFill>
                <a:latin typeface="Quattrocento Sans"/>
                <a:ea typeface="Quattrocento Sans"/>
                <a:cs typeface="Quattrocento Sans"/>
                <a:sym typeface="Quattrocento Sans"/>
              </a:rPr>
              <a:t>déontique</a:t>
            </a:r>
            <a:endParaRPr sz="1200" b="0" i="0" u="none" strike="noStrike" cap="none">
              <a:solidFill>
                <a:schemeClr val="dk1"/>
              </a:solidFill>
              <a:latin typeface="Quattrocento Sans"/>
              <a:ea typeface="Quattrocento Sans"/>
              <a:cs typeface="Quattrocento Sans"/>
              <a:sym typeface="Quattrocento Sans"/>
            </a:endParaRPr>
          </a:p>
        </p:txBody>
      </p:sp>
      <p:sp>
        <p:nvSpPr>
          <p:cNvPr id="187" name="Google Shape;187;g3a661288f2b_0_50"/>
          <p:cNvSpPr txBox="1"/>
          <p:nvPr/>
        </p:nvSpPr>
        <p:spPr>
          <a:xfrm>
            <a:off x="184450" y="1404913"/>
            <a:ext cx="3836100" cy="15468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600"/>
              <a:buFont typeface="Arial"/>
              <a:buNone/>
            </a:pPr>
            <a:r>
              <a:rPr lang="it" sz="1600" b="1" i="0" u="none" strike="noStrike" cap="none">
                <a:solidFill>
                  <a:schemeClr val="dk1"/>
                </a:solidFill>
                <a:latin typeface="Quattrocento Sans"/>
                <a:ea typeface="Quattrocento Sans"/>
                <a:cs typeface="Quattrocento Sans"/>
                <a:sym typeface="Quattrocento Sans"/>
              </a:rPr>
              <a:t>Définition</a:t>
            </a:r>
            <a:r>
              <a:rPr lang="it" sz="1600" b="0" i="0" u="none" strike="noStrike" cap="none">
                <a:solidFill>
                  <a:schemeClr val="dk1"/>
                </a:solidFill>
                <a:latin typeface="Quattrocento Sans"/>
                <a:ea typeface="Quattrocento Sans"/>
                <a:cs typeface="Quattrocento Sans"/>
                <a:sym typeface="Quattrocento Sans"/>
              </a:rPr>
              <a:t> : “tout mode de validation sur un contenu propositionnel”</a:t>
            </a:r>
            <a:endParaRPr sz="1600" b="0" i="0" u="none" strike="noStrike" cap="none">
              <a:solidFill>
                <a:schemeClr val="dk1"/>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600" b="0" i="1" u="none" strike="noStrike" cap="none">
                <a:solidFill>
                  <a:schemeClr val="dk1"/>
                </a:solidFill>
                <a:latin typeface="Quattrocento Sans"/>
                <a:ea typeface="Quattrocento Sans"/>
                <a:cs typeface="Quattrocento Sans"/>
                <a:sym typeface="Quattrocento Sans"/>
              </a:rPr>
              <a:t>Autrement dit</a:t>
            </a:r>
            <a:r>
              <a:rPr lang="it" sz="1600" b="0" i="0" u="none" strike="noStrike" cap="none">
                <a:solidFill>
                  <a:schemeClr val="dk1"/>
                </a:solidFill>
                <a:latin typeface="Quattrocento Sans"/>
                <a:ea typeface="Quattrocento Sans"/>
                <a:cs typeface="Quattrocento Sans"/>
                <a:sym typeface="Quattrocento Sans"/>
              </a:rPr>
              <a:t>: </a:t>
            </a:r>
            <a:endParaRPr sz="1600" b="0" i="0" u="none" strike="noStrike" cap="none">
              <a:solidFill>
                <a:schemeClr val="dk1"/>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600" b="0" i="0" u="none" strike="noStrike" cap="none">
                <a:solidFill>
                  <a:schemeClr val="dk1"/>
                </a:solidFill>
                <a:latin typeface="Quattrocento Sans"/>
                <a:ea typeface="Quattrocento Sans"/>
                <a:cs typeface="Quattrocento Sans"/>
                <a:sym typeface="Quattrocento Sans"/>
              </a:rPr>
              <a:t>“L’attitude du locuteur vis-à-vis de ce qu’il dit”</a:t>
            </a:r>
            <a:endParaRPr sz="1600" b="0" i="0" u="none" strike="noStrike" cap="none">
              <a:solidFill>
                <a:schemeClr val="dk1"/>
              </a:solidFill>
              <a:latin typeface="Quattrocento Sans"/>
              <a:ea typeface="Quattrocento Sans"/>
              <a:cs typeface="Quattrocento Sans"/>
              <a:sym typeface="Quattrocento Sans"/>
            </a:endParaRPr>
          </a:p>
        </p:txBody>
      </p:sp>
      <p:sp>
        <p:nvSpPr>
          <p:cNvPr id="188" name="Google Shape;188;g3a661288f2b_0_50"/>
          <p:cNvSpPr txBox="1"/>
          <p:nvPr/>
        </p:nvSpPr>
        <p:spPr>
          <a:xfrm>
            <a:off x="184450" y="3459763"/>
            <a:ext cx="3836100" cy="617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it" sz="1600" b="0" i="0" u="none" strike="noStrike" cap="none">
                <a:solidFill>
                  <a:schemeClr val="dk1"/>
                </a:solidFill>
                <a:latin typeface="Quattrocento Sans"/>
                <a:ea typeface="Quattrocento Sans"/>
                <a:cs typeface="Quattrocento Sans"/>
                <a:sym typeface="Quattrocento Sans"/>
              </a:rPr>
              <a:t>6 “modes de validation” / “attitudes” possibles</a:t>
            </a:r>
            <a:endParaRPr sz="1600" b="0" i="0" u="none" strike="noStrike" cap="none">
              <a:solidFill>
                <a:schemeClr val="dk1"/>
              </a:solidFill>
              <a:latin typeface="Quattrocento Sans"/>
              <a:ea typeface="Quattrocento Sans"/>
              <a:cs typeface="Quattrocento Sans"/>
              <a:sym typeface="Quattrocento Sans"/>
            </a:endParaRPr>
          </a:p>
        </p:txBody>
      </p:sp>
      <p:cxnSp>
        <p:nvCxnSpPr>
          <p:cNvPr id="189" name="Google Shape;189;g3a661288f2b_0_50"/>
          <p:cNvCxnSpPr>
            <a:stCxn id="187" idx="2"/>
            <a:endCxn id="188" idx="0"/>
          </p:cNvCxnSpPr>
          <p:nvPr/>
        </p:nvCxnSpPr>
        <p:spPr>
          <a:xfrm>
            <a:off x="2102500" y="2951713"/>
            <a:ext cx="0" cy="508200"/>
          </a:xfrm>
          <a:prstGeom prst="straightConnector1">
            <a:avLst/>
          </a:prstGeom>
          <a:noFill/>
          <a:ln w="9525" cap="flat" cmpd="sng">
            <a:solidFill>
              <a:schemeClr val="dk2"/>
            </a:solidFill>
            <a:prstDash val="solid"/>
            <a:round/>
            <a:headEnd type="none" w="sm" len="sm"/>
            <a:tailEnd type="triangle" w="med" len="med"/>
          </a:ln>
        </p:spPr>
      </p:cxnSp>
      <p:sp>
        <p:nvSpPr>
          <p:cNvPr id="190" name="Google Shape;190;g3a661288f2b_0_5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9</a:t>
            </a:fld>
            <a:endParaRPr/>
          </a:p>
        </p:txBody>
      </p:sp>
      <p:sp>
        <p:nvSpPr>
          <p:cNvPr id="191" name="Google Shape;191;g3a661288f2b_0_50"/>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a661288f2b_0_73"/>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a:t>
            </a:r>
            <a:endParaRPr sz="2600" b="1" i="0" u="none" strike="noStrike" cap="none">
              <a:solidFill>
                <a:srgbClr val="097D3F"/>
              </a:solidFill>
              <a:latin typeface="Quattrocento Sans"/>
              <a:ea typeface="Quattrocento Sans"/>
              <a:cs typeface="Quattrocento Sans"/>
              <a:sym typeface="Quattrocento Sans"/>
            </a:endParaRPr>
          </a:p>
        </p:txBody>
      </p:sp>
      <p:sp>
        <p:nvSpPr>
          <p:cNvPr id="197" name="Google Shape;197;g3a661288f2b_0_73"/>
          <p:cNvSpPr txBox="1"/>
          <p:nvPr/>
        </p:nvSpPr>
        <p:spPr>
          <a:xfrm>
            <a:off x="184450" y="1024950"/>
            <a:ext cx="6510900" cy="4016100"/>
          </a:xfrm>
          <a:prstGeom prst="rect">
            <a:avLst/>
          </a:prstGeom>
          <a:noFill/>
          <a:ln>
            <a:noFill/>
          </a:ln>
        </p:spPr>
        <p:txBody>
          <a:bodyPr spcFirstLastPara="1" wrap="square" lIns="91425" tIns="91425" rIns="91425" bIns="91425" anchor="t" anchorCtr="0">
            <a:noAutofit/>
          </a:bodyPr>
          <a:lstStyle/>
          <a:p>
            <a:pPr marL="457200" marR="0" lvl="0" indent="-330200" algn="just" rtl="0">
              <a:lnSpc>
                <a:spcPct val="100000"/>
              </a:lnSpc>
              <a:spcBef>
                <a:spcPts val="0"/>
              </a:spcBef>
              <a:spcAft>
                <a:spcPts val="0"/>
              </a:spcAft>
              <a:buClr>
                <a:schemeClr val="dk1"/>
              </a:buClr>
              <a:buSzPts val="1600"/>
              <a:buFont typeface="Quattrocento Sans"/>
              <a:buChar char="●"/>
            </a:pPr>
            <a:r>
              <a:rPr lang="it" sz="1600" b="1" i="0" u="none" strike="noStrike" cap="none">
                <a:solidFill>
                  <a:schemeClr val="dk1"/>
                </a:solidFill>
                <a:latin typeface="Quattrocento Sans"/>
                <a:ea typeface="Quattrocento Sans"/>
                <a:cs typeface="Quattrocento Sans"/>
                <a:sym typeface="Quattrocento Sans"/>
              </a:rPr>
              <a:t>Un modèle à base de paramètres : </a:t>
            </a:r>
            <a:r>
              <a:rPr lang="it" sz="1600" b="0" i="0" u="none" strike="noStrike" cap="none">
                <a:solidFill>
                  <a:schemeClr val="dk1"/>
                </a:solidFill>
                <a:latin typeface="Quattrocento Sans"/>
                <a:ea typeface="Quattrocento Sans"/>
                <a:cs typeface="Quattrocento Sans"/>
                <a:sym typeface="Quattrocento Sans"/>
              </a:rPr>
              <a:t>Gosselin définit </a:t>
            </a:r>
            <a:r>
              <a:rPr lang="it" sz="1600" b="1" i="0" u="none" strike="noStrike" cap="none">
                <a:solidFill>
                  <a:schemeClr val="dk1"/>
                </a:solidFill>
                <a:latin typeface="Quattrocento Sans"/>
                <a:ea typeface="Quattrocento Sans"/>
                <a:cs typeface="Quattrocento Sans"/>
                <a:sym typeface="Quattrocento Sans"/>
              </a:rPr>
              <a:t>9 paramètres</a:t>
            </a:r>
            <a:r>
              <a:rPr lang="it" sz="1600" b="0" i="0" u="none" strike="noStrike" cap="none">
                <a:solidFill>
                  <a:schemeClr val="dk1"/>
                </a:solidFill>
                <a:latin typeface="Quattrocento Sans"/>
                <a:ea typeface="Quattrocento Sans"/>
                <a:cs typeface="Quattrocento Sans"/>
                <a:sym typeface="Quattrocento Sans"/>
              </a:rPr>
              <a:t> qui, combinés, permettent de définir chaque occurrence de </a:t>
            </a:r>
            <a:r>
              <a:rPr lang="it" sz="1600" b="0" i="0" u="none" strike="noStrike" cap="none">
                <a:solidFill>
                  <a:schemeClr val="dk1"/>
                </a:solidFill>
                <a:highlight>
                  <a:srgbClr val="FFF2CC"/>
                </a:highlight>
                <a:latin typeface="Quattrocento Sans"/>
                <a:ea typeface="Quattrocento Sans"/>
                <a:cs typeface="Quattrocento Sans"/>
                <a:sym typeface="Quattrocento Sans"/>
              </a:rPr>
              <a:t>marqueur modal*</a:t>
            </a:r>
            <a:r>
              <a:rPr lang="it" sz="1600" b="0" i="0" u="none" strike="noStrike" cap="none">
                <a:solidFill>
                  <a:schemeClr val="dk1"/>
                </a:solidFill>
                <a:latin typeface="Quattrocento Sans"/>
                <a:ea typeface="Quattrocento Sans"/>
                <a:cs typeface="Quattrocento Sans"/>
                <a:sym typeface="Quattrocento Sans"/>
              </a:rPr>
              <a:t> dans toutes ses facettes. Chaque occurrence de marqueur modal est caractérisé par une combinaison différente de valeurs associées à ces 9 paramètres.  </a:t>
            </a:r>
            <a:endParaRPr sz="1600" b="0" i="0" u="none" strike="noStrike" cap="none">
              <a:solidFill>
                <a:schemeClr val="dk1"/>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Quattrocento Sans"/>
              <a:ea typeface="Quattrocento Sans"/>
              <a:cs typeface="Quattrocento Sans"/>
              <a:sym typeface="Quattrocento Sans"/>
            </a:endParaRPr>
          </a:p>
          <a:p>
            <a:pPr marL="457200" marR="0" lvl="0" indent="-330200" algn="just" rtl="0">
              <a:lnSpc>
                <a:spcPct val="100000"/>
              </a:lnSpc>
              <a:spcBef>
                <a:spcPts val="0"/>
              </a:spcBef>
              <a:spcAft>
                <a:spcPts val="0"/>
              </a:spcAft>
              <a:buClr>
                <a:schemeClr val="dk1"/>
              </a:buClr>
              <a:buSzPts val="1600"/>
              <a:buFont typeface="Quattrocento Sans"/>
              <a:buChar char="●"/>
            </a:pPr>
            <a:r>
              <a:rPr lang="it" sz="1600" b="1" i="0" u="none" strike="noStrike" cap="none">
                <a:solidFill>
                  <a:schemeClr val="dk1"/>
                </a:solidFill>
                <a:latin typeface="Quattrocento Sans"/>
                <a:ea typeface="Quattrocento Sans"/>
                <a:cs typeface="Quattrocento Sans"/>
                <a:sym typeface="Quattrocento Sans"/>
              </a:rPr>
              <a:t>Niveau lexical : </a:t>
            </a:r>
            <a:r>
              <a:rPr lang="it" sz="1600" b="0" i="0" u="none" strike="noStrike" cap="none">
                <a:solidFill>
                  <a:schemeClr val="dk1"/>
                </a:solidFill>
                <a:latin typeface="Quattrocento Sans"/>
                <a:ea typeface="Quattrocento Sans"/>
                <a:cs typeface="Quattrocento Sans"/>
                <a:sym typeface="Quattrocento Sans"/>
              </a:rPr>
              <a:t>la modalité (dans la définition de Gosselin) est toujours marqué par un </a:t>
            </a:r>
            <a:r>
              <a:rPr lang="it" sz="1600" b="1" i="0" u="none" strike="noStrike" cap="none">
                <a:solidFill>
                  <a:schemeClr val="dk1"/>
                </a:solidFill>
                <a:latin typeface="Quattrocento Sans"/>
                <a:ea typeface="Quattrocento Sans"/>
                <a:cs typeface="Quattrocento Sans"/>
                <a:sym typeface="Quattrocento Sans"/>
              </a:rPr>
              <a:t>lexème</a:t>
            </a:r>
            <a:r>
              <a:rPr lang="it" sz="1600" b="0" i="0" u="none" strike="noStrike" cap="none">
                <a:solidFill>
                  <a:schemeClr val="dk1"/>
                </a:solidFill>
                <a:latin typeface="Quattrocento Sans"/>
                <a:ea typeface="Quattrocento Sans"/>
                <a:cs typeface="Quattrocento Sans"/>
                <a:sym typeface="Quattrocento Sans"/>
              </a:rPr>
              <a:t> (un “mot” ou un </a:t>
            </a:r>
            <a:r>
              <a:rPr lang="it" sz="1600">
                <a:solidFill>
                  <a:schemeClr val="dk1"/>
                </a:solidFill>
                <a:latin typeface="Quattrocento Sans"/>
                <a:ea typeface="Quattrocento Sans"/>
                <a:cs typeface="Quattrocento Sans"/>
                <a:sym typeface="Quattrocento Sans"/>
              </a:rPr>
              <a:t>“groupe de mots”</a:t>
            </a:r>
            <a:r>
              <a:rPr lang="it" sz="1600" b="0" i="0" u="none" strike="noStrike" cap="none">
                <a:solidFill>
                  <a:schemeClr val="dk1"/>
                </a:solidFill>
                <a:latin typeface="Quattrocento Sans"/>
                <a:ea typeface="Quattrocento Sans"/>
                <a:cs typeface="Quattrocento Sans"/>
                <a:sym typeface="Quattrocento Sans"/>
              </a:rPr>
              <a:t>)</a:t>
            </a:r>
            <a:endParaRPr sz="1600" b="0" i="0" u="none" strike="noStrike" cap="none">
              <a:solidFill>
                <a:schemeClr val="dk1"/>
              </a:solidFill>
              <a:latin typeface="Quattrocento Sans"/>
              <a:ea typeface="Quattrocento Sans"/>
              <a:cs typeface="Quattrocento Sans"/>
              <a:sym typeface="Quattrocento Sans"/>
            </a:endParaRPr>
          </a:p>
          <a:p>
            <a:pPr marL="457200" marR="0" lvl="0" indent="0" algn="just" rtl="0">
              <a:lnSpc>
                <a:spcPct val="100000"/>
              </a:lnSpc>
              <a:spcBef>
                <a:spcPts val="0"/>
              </a:spcBef>
              <a:spcAft>
                <a:spcPts val="0"/>
              </a:spcAft>
              <a:buClr>
                <a:srgbClr val="000000"/>
              </a:buClr>
              <a:buSzPts val="1600"/>
              <a:buFont typeface="Arial"/>
              <a:buNone/>
            </a:pPr>
            <a:r>
              <a:rPr lang="it" sz="1600" b="0" i="0" u="none" strike="noStrike" cap="none">
                <a:solidFill>
                  <a:schemeClr val="dk1"/>
                </a:solidFill>
                <a:latin typeface="Quattrocento Sans"/>
                <a:ea typeface="Quattrocento Sans"/>
                <a:cs typeface="Quattrocento Sans"/>
                <a:sym typeface="Quattrocento Sans"/>
              </a:rPr>
              <a:t>(Par ex. : mode conditionnel ou forme interrogative → pas pris en compte par le modèle de Gosselin)</a:t>
            </a:r>
            <a:endParaRPr sz="1600" b="0" i="0" u="none" strike="noStrike" cap="none">
              <a:solidFill>
                <a:schemeClr val="dk1"/>
              </a:solidFill>
              <a:latin typeface="Quattrocento Sans"/>
              <a:ea typeface="Quattrocento Sans"/>
              <a:cs typeface="Quattrocento Sans"/>
              <a:sym typeface="Quattrocento Sans"/>
            </a:endParaRPr>
          </a:p>
        </p:txBody>
      </p:sp>
      <p:sp>
        <p:nvSpPr>
          <p:cNvPr id="198" name="Google Shape;198;g3a661288f2b_0_7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10</a:t>
            </a:fld>
            <a:endParaRPr/>
          </a:p>
        </p:txBody>
      </p:sp>
      <p:sp>
        <p:nvSpPr>
          <p:cNvPr id="199" name="Google Shape;199;g3a661288f2b_0_73"/>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
        <p:nvSpPr>
          <p:cNvPr id="200" name="Google Shape;200;g3a661288f2b_0_73"/>
          <p:cNvSpPr/>
          <p:nvPr/>
        </p:nvSpPr>
        <p:spPr>
          <a:xfrm>
            <a:off x="7009975" y="864725"/>
            <a:ext cx="2010000" cy="1579800"/>
          </a:xfrm>
          <a:prstGeom prst="foldedCorner">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Clr>
                <a:schemeClr val="dk1"/>
              </a:buClr>
              <a:buSzPts val="1100"/>
              <a:buFont typeface="Arial"/>
              <a:buNone/>
            </a:pPr>
            <a:r>
              <a:rPr lang="it" sz="1000" b="0" i="0" u="none" strike="noStrike" cap="none">
                <a:solidFill>
                  <a:schemeClr val="dk1"/>
                </a:solidFill>
                <a:latin typeface="Quattrocento Sans"/>
                <a:ea typeface="Quattrocento Sans"/>
                <a:cs typeface="Quattrocento Sans"/>
                <a:sym typeface="Quattrocento Sans"/>
              </a:rPr>
              <a:t>*un </a:t>
            </a:r>
            <a:r>
              <a:rPr lang="it" sz="1000" b="1" i="0" u="none" strike="noStrike" cap="none">
                <a:solidFill>
                  <a:schemeClr val="dk1"/>
                </a:solidFill>
                <a:highlight>
                  <a:srgbClr val="FFF2CC"/>
                </a:highlight>
                <a:latin typeface="Quattrocento Sans"/>
                <a:ea typeface="Quattrocento Sans"/>
                <a:cs typeface="Quattrocento Sans"/>
                <a:sym typeface="Quattrocento Sans"/>
              </a:rPr>
              <a:t>marqueur modal</a:t>
            </a:r>
            <a:r>
              <a:rPr lang="it" sz="1000" b="0" i="0" u="none" strike="noStrike" cap="none">
                <a:solidFill>
                  <a:schemeClr val="dk1"/>
                </a:solidFill>
                <a:latin typeface="Quattrocento Sans"/>
                <a:ea typeface="Quattrocento Sans"/>
                <a:cs typeface="Quattrocento Sans"/>
                <a:sym typeface="Quattrocento Sans"/>
              </a:rPr>
              <a:t> est un lexème qui marque la modalité. </a:t>
            </a:r>
            <a:endParaRPr sz="1000" b="0" i="0" u="none" strike="noStrike" cap="none">
              <a:solidFill>
                <a:schemeClr val="dk1"/>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chemeClr val="dk1"/>
              </a:buClr>
              <a:buSzPts val="1100"/>
              <a:buFont typeface="Arial"/>
              <a:buNone/>
            </a:pPr>
            <a:r>
              <a:rPr lang="it" sz="1000" b="0" i="0" u="none" strike="noStrike" cap="none">
                <a:solidFill>
                  <a:schemeClr val="dk1"/>
                </a:solidFill>
                <a:latin typeface="Quattrocento Sans"/>
                <a:ea typeface="Quattrocento Sans"/>
                <a:cs typeface="Quattrocento Sans"/>
                <a:sym typeface="Quattrocento Sans"/>
              </a:rPr>
              <a:t>Par exemple, dans la phrase “Il viendra certainement” il y a une modalité épistémique, marquée par le lexème </a:t>
            </a:r>
            <a:r>
              <a:rPr lang="it" sz="1000" b="0" i="1" u="none" strike="noStrike" cap="none">
                <a:solidFill>
                  <a:schemeClr val="dk1"/>
                </a:solidFill>
                <a:latin typeface="Quattrocento Sans"/>
                <a:ea typeface="Quattrocento Sans"/>
                <a:cs typeface="Quattrocento Sans"/>
                <a:sym typeface="Quattrocento Sans"/>
              </a:rPr>
              <a:t>certainement</a:t>
            </a:r>
            <a:r>
              <a:rPr lang="it" sz="1000" b="0" i="0" u="none" strike="noStrike" cap="none">
                <a:solidFill>
                  <a:schemeClr val="dk1"/>
                </a:solidFill>
                <a:latin typeface="Quattrocento Sans"/>
                <a:ea typeface="Quattrocento Sans"/>
                <a:cs typeface="Quattrocento Sans"/>
                <a:sym typeface="Quattrocento Sans"/>
              </a:rPr>
              <a:t>. Autrement dit, </a:t>
            </a:r>
            <a:r>
              <a:rPr lang="it" sz="1000" b="0" i="1" u="none" strike="noStrike" cap="none">
                <a:solidFill>
                  <a:schemeClr val="dk1"/>
                </a:solidFill>
                <a:latin typeface="Quattrocento Sans"/>
                <a:ea typeface="Quattrocento Sans"/>
                <a:cs typeface="Quattrocento Sans"/>
                <a:sym typeface="Quattrocento Sans"/>
              </a:rPr>
              <a:t>certainement</a:t>
            </a:r>
            <a:r>
              <a:rPr lang="it" sz="1000" b="0" i="0" u="none" strike="noStrike" cap="none">
                <a:solidFill>
                  <a:schemeClr val="dk1"/>
                </a:solidFill>
                <a:latin typeface="Quattrocento Sans"/>
                <a:ea typeface="Quattrocento Sans"/>
                <a:cs typeface="Quattrocento Sans"/>
                <a:sym typeface="Quattrocento Sans"/>
              </a:rPr>
              <a:t> est un marqueur épistémique.</a:t>
            </a:r>
            <a:endParaRPr sz="1000"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a661288f2b_0_8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11</a:t>
            </a:fld>
            <a:endParaRPr/>
          </a:p>
        </p:txBody>
      </p:sp>
      <p:sp>
        <p:nvSpPr>
          <p:cNvPr id="206" name="Google Shape;206;g3a661288f2b_0_81"/>
          <p:cNvSpPr txBox="1"/>
          <p:nvPr/>
        </p:nvSpPr>
        <p:spPr>
          <a:xfrm>
            <a:off x="503200" y="645575"/>
            <a:ext cx="8320800" cy="41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it" sz="1400" b="0" i="0" u="sng" strike="noStrike" cap="none">
                <a:solidFill>
                  <a:srgbClr val="000000"/>
                </a:solidFill>
                <a:latin typeface="Quattrocento Sans"/>
                <a:ea typeface="Quattrocento Sans"/>
                <a:cs typeface="Quattrocento Sans"/>
                <a:sym typeface="Quattrocento Sans"/>
              </a:rPr>
              <a:t>Prenons un exemple * : </a:t>
            </a:r>
            <a:endParaRPr sz="1400" b="0" i="0" u="sng"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p:txBody>
      </p:sp>
      <p:sp>
        <p:nvSpPr>
          <p:cNvPr id="207" name="Google Shape;207;g3a661288f2b_0_81"/>
          <p:cNvSpPr txBox="1"/>
          <p:nvPr/>
        </p:nvSpPr>
        <p:spPr>
          <a:xfrm>
            <a:off x="5028875" y="1628950"/>
            <a:ext cx="2699700" cy="41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p:txBody>
      </p:sp>
      <p:sp>
        <p:nvSpPr>
          <p:cNvPr id="208" name="Google Shape;208;g3a661288f2b_0_81"/>
          <p:cNvSpPr txBox="1"/>
          <p:nvPr/>
        </p:nvSpPr>
        <p:spPr>
          <a:xfrm>
            <a:off x="0" y="0"/>
            <a:ext cx="30000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it" sz="900" b="0" i="0" u="sng" strike="noStrike" cap="none">
                <a:solidFill>
                  <a:schemeClr val="dk1"/>
                </a:solidFill>
                <a:latin typeface="Quattrocento Sans"/>
                <a:ea typeface="Quattrocento Sans"/>
                <a:cs typeface="Quattrocento Sans"/>
                <a:sym typeface="Quattrocento Sans"/>
              </a:rPr>
              <a:t>*on prendra en compte seulement 3 paramètres par souci d’espace, mais chez Gosselin ils sont bien 9</a:t>
            </a:r>
            <a:endParaRPr sz="900" b="0" i="0" u="none" strike="noStrike" cap="none">
              <a:solidFill>
                <a:srgbClr val="000000"/>
              </a:solidFill>
              <a:latin typeface="Arial"/>
              <a:ea typeface="Arial"/>
              <a:cs typeface="Arial"/>
              <a:sym typeface="Arial"/>
            </a:endParaRPr>
          </a:p>
        </p:txBody>
      </p:sp>
      <p:sp>
        <p:nvSpPr>
          <p:cNvPr id="209" name="Google Shape;209;g3a661288f2b_0_81"/>
          <p:cNvSpPr txBox="1"/>
          <p:nvPr/>
        </p:nvSpPr>
        <p:spPr>
          <a:xfrm>
            <a:off x="545350" y="1678363"/>
            <a:ext cx="2283600" cy="411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0" i="0" u="none" strike="noStrike" cap="none">
                <a:solidFill>
                  <a:srgbClr val="000000"/>
                </a:solidFill>
                <a:latin typeface="Quattrocento Sans"/>
                <a:ea typeface="Quattrocento Sans"/>
                <a:cs typeface="Quattrocento Sans"/>
                <a:sym typeface="Quattrocento Sans"/>
              </a:rPr>
              <a:t>Paramètre 1 = </a:t>
            </a:r>
            <a:r>
              <a:rPr lang="it" sz="1200" b="1">
                <a:latin typeface="Quattrocento Sans"/>
                <a:ea typeface="Quattrocento Sans"/>
                <a:cs typeface="Quattrocento Sans"/>
                <a:sym typeface="Quattrocento Sans"/>
              </a:rPr>
              <a:t>f</a:t>
            </a:r>
            <a:r>
              <a:rPr lang="it" sz="1200" b="1" i="0" u="none" strike="noStrike" cap="none">
                <a:solidFill>
                  <a:srgbClr val="000000"/>
                </a:solidFill>
                <a:latin typeface="Quattrocento Sans"/>
                <a:ea typeface="Quattrocento Sans"/>
                <a:cs typeface="Quattrocento Sans"/>
                <a:sym typeface="Quattrocento Sans"/>
              </a:rPr>
              <a:t>orme </a:t>
            </a:r>
            <a:endParaRPr sz="1200" b="1"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0" name="Google Shape;210;g3a661288f2b_0_81"/>
          <p:cNvSpPr txBox="1"/>
          <p:nvPr/>
        </p:nvSpPr>
        <p:spPr>
          <a:xfrm>
            <a:off x="2551825" y="2529888"/>
            <a:ext cx="1145700" cy="11997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jaune</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orange</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bleu</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vert</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rouge</a:t>
            </a:r>
            <a:endParaRPr sz="12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1" name="Google Shape;211;g3a661288f2b_0_81"/>
          <p:cNvSpPr txBox="1"/>
          <p:nvPr/>
        </p:nvSpPr>
        <p:spPr>
          <a:xfrm>
            <a:off x="503200" y="2874800"/>
            <a:ext cx="2283600" cy="411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0" i="0" u="none" strike="noStrike" cap="none">
                <a:solidFill>
                  <a:srgbClr val="000000"/>
                </a:solidFill>
                <a:latin typeface="Quattrocento Sans"/>
                <a:ea typeface="Quattrocento Sans"/>
                <a:cs typeface="Quattrocento Sans"/>
                <a:sym typeface="Quattrocento Sans"/>
              </a:rPr>
              <a:t>Paramètre 2 = </a:t>
            </a:r>
            <a:r>
              <a:rPr lang="it" sz="1200" b="1" i="0" u="none" strike="noStrike" cap="none">
                <a:solidFill>
                  <a:srgbClr val="000000"/>
                </a:solidFill>
                <a:latin typeface="Quattrocento Sans"/>
                <a:ea typeface="Quattrocento Sans"/>
                <a:cs typeface="Quattrocento Sans"/>
                <a:sym typeface="Quattrocento Sans"/>
              </a:rPr>
              <a:t>couleur </a:t>
            </a: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2" name="Google Shape;212;g3a661288f2b_0_81"/>
          <p:cNvSpPr txBox="1"/>
          <p:nvPr/>
        </p:nvSpPr>
        <p:spPr>
          <a:xfrm>
            <a:off x="2499025" y="1413908"/>
            <a:ext cx="1251300" cy="9399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cercle</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triangle</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rond</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carré</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3" name="Google Shape;213;g3a661288f2b_0_81"/>
          <p:cNvSpPr txBox="1"/>
          <p:nvPr/>
        </p:nvSpPr>
        <p:spPr>
          <a:xfrm>
            <a:off x="7152725" y="1456450"/>
            <a:ext cx="1145700" cy="7560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AABB</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ABAB</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BBAA</a:t>
            </a:r>
            <a:endParaRPr sz="12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4" name="Google Shape;214;g3a661288f2b_0_81"/>
          <p:cNvSpPr txBox="1"/>
          <p:nvPr/>
        </p:nvSpPr>
        <p:spPr>
          <a:xfrm>
            <a:off x="5104100" y="1628938"/>
            <a:ext cx="2283600" cy="411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0" i="0" u="none" strike="noStrike" cap="none">
                <a:solidFill>
                  <a:srgbClr val="000000"/>
                </a:solidFill>
                <a:latin typeface="Quattrocento Sans"/>
                <a:ea typeface="Quattrocento Sans"/>
                <a:cs typeface="Quattrocento Sans"/>
                <a:sym typeface="Quattrocento Sans"/>
              </a:rPr>
              <a:t>Paramètre 3 = </a:t>
            </a:r>
            <a:r>
              <a:rPr lang="it" sz="1200" b="1" i="0" u="none" strike="noStrike" cap="none">
                <a:solidFill>
                  <a:srgbClr val="000000"/>
                </a:solidFill>
                <a:latin typeface="Quattrocento Sans"/>
                <a:ea typeface="Quattrocento Sans"/>
                <a:cs typeface="Quattrocento Sans"/>
                <a:sym typeface="Quattrocento Sans"/>
              </a:rPr>
              <a:t>nom </a:t>
            </a: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5" name="Google Shape;215;g3a661288f2b_0_81"/>
          <p:cNvSpPr txBox="1"/>
          <p:nvPr/>
        </p:nvSpPr>
        <p:spPr>
          <a:xfrm>
            <a:off x="5028875" y="2873075"/>
            <a:ext cx="2699700" cy="41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p:txBody>
      </p:sp>
      <p:sp>
        <p:nvSpPr>
          <p:cNvPr id="216" name="Google Shape;216;g3a661288f2b_0_81"/>
          <p:cNvSpPr txBox="1"/>
          <p:nvPr/>
        </p:nvSpPr>
        <p:spPr>
          <a:xfrm>
            <a:off x="7152725" y="2702300"/>
            <a:ext cx="1145700" cy="7560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petit</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moyen</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0" i="0" u="none" strike="noStrike" cap="none">
                <a:solidFill>
                  <a:srgbClr val="000000"/>
                </a:solidFill>
                <a:latin typeface="Quattrocento Sans"/>
                <a:ea typeface="Quattrocento Sans"/>
                <a:cs typeface="Quattrocento Sans"/>
                <a:sym typeface="Quattrocento Sans"/>
              </a:rPr>
              <a:t>grand</a:t>
            </a:r>
            <a:endParaRPr sz="12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sp>
        <p:nvSpPr>
          <p:cNvPr id="217" name="Google Shape;217;g3a661288f2b_0_81"/>
          <p:cNvSpPr txBox="1"/>
          <p:nvPr/>
        </p:nvSpPr>
        <p:spPr>
          <a:xfrm>
            <a:off x="5104100" y="2873063"/>
            <a:ext cx="2283600" cy="411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0" i="0" u="none" strike="noStrike" cap="none">
                <a:solidFill>
                  <a:srgbClr val="000000"/>
                </a:solidFill>
                <a:latin typeface="Quattrocento Sans"/>
                <a:ea typeface="Quattrocento Sans"/>
                <a:cs typeface="Quattrocento Sans"/>
                <a:sym typeface="Quattrocento Sans"/>
              </a:rPr>
              <a:t>Paramètre 4 = </a:t>
            </a:r>
            <a:r>
              <a:rPr lang="it" sz="1200" b="1" i="0" u="none" strike="noStrike" cap="none">
                <a:solidFill>
                  <a:srgbClr val="000000"/>
                </a:solidFill>
                <a:latin typeface="Quattrocento Sans"/>
                <a:ea typeface="Quattrocento Sans"/>
                <a:cs typeface="Quattrocento Sans"/>
                <a:sym typeface="Quattrocento Sans"/>
              </a:rPr>
              <a:t>largeur </a:t>
            </a: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0" i="0" u="none" strike="noStrike" cap="none">
                <a:solidFill>
                  <a:srgbClr val="000000"/>
                </a:solidFill>
                <a:latin typeface="Quattrocento Sans"/>
                <a:ea typeface="Quattrocento Sans"/>
                <a:cs typeface="Quattrocento Sans"/>
                <a:sym typeface="Quattrocento Sans"/>
              </a:rPr>
              <a:t> </a:t>
            </a:r>
            <a:endParaRPr sz="1400" b="0" i="0" u="none" strike="noStrike" cap="none">
              <a:solidFill>
                <a:srgbClr val="000000"/>
              </a:solidFill>
              <a:latin typeface="Quattrocento Sans"/>
              <a:ea typeface="Quattrocento Sans"/>
              <a:cs typeface="Quattrocento Sans"/>
              <a:sym typeface="Quattrocento Sans"/>
            </a:endParaRPr>
          </a:p>
        </p:txBody>
      </p:sp>
      <p:cxnSp>
        <p:nvCxnSpPr>
          <p:cNvPr id="218" name="Google Shape;218;g3a661288f2b_0_81"/>
          <p:cNvCxnSpPr/>
          <p:nvPr/>
        </p:nvCxnSpPr>
        <p:spPr>
          <a:xfrm>
            <a:off x="2012075" y="1886750"/>
            <a:ext cx="729300" cy="281100"/>
          </a:xfrm>
          <a:prstGeom prst="straightConnector1">
            <a:avLst/>
          </a:prstGeom>
          <a:noFill/>
          <a:ln w="9525" cap="flat" cmpd="sng">
            <a:solidFill>
              <a:schemeClr val="dk2"/>
            </a:solidFill>
            <a:prstDash val="solid"/>
            <a:round/>
            <a:headEnd type="none" w="sm" len="sm"/>
            <a:tailEnd type="triangle" w="med" len="med"/>
          </a:ln>
        </p:spPr>
      </p:cxnSp>
      <p:cxnSp>
        <p:nvCxnSpPr>
          <p:cNvPr id="219" name="Google Shape;219;g3a661288f2b_0_81"/>
          <p:cNvCxnSpPr/>
          <p:nvPr/>
        </p:nvCxnSpPr>
        <p:spPr>
          <a:xfrm>
            <a:off x="2027275" y="1886750"/>
            <a:ext cx="721800" cy="91200"/>
          </a:xfrm>
          <a:prstGeom prst="straightConnector1">
            <a:avLst/>
          </a:prstGeom>
          <a:noFill/>
          <a:ln w="9525" cap="flat" cmpd="sng">
            <a:solidFill>
              <a:schemeClr val="dk2"/>
            </a:solidFill>
            <a:prstDash val="solid"/>
            <a:round/>
            <a:headEnd type="none" w="sm" len="sm"/>
            <a:tailEnd type="triangle" w="med" len="med"/>
          </a:ln>
        </p:spPr>
      </p:cxnSp>
      <p:cxnSp>
        <p:nvCxnSpPr>
          <p:cNvPr id="220" name="Google Shape;220;g3a661288f2b_0_81"/>
          <p:cNvCxnSpPr/>
          <p:nvPr/>
        </p:nvCxnSpPr>
        <p:spPr>
          <a:xfrm rot="10800000" flipH="1">
            <a:off x="2034875" y="1810750"/>
            <a:ext cx="714300" cy="68400"/>
          </a:xfrm>
          <a:prstGeom prst="straightConnector1">
            <a:avLst/>
          </a:prstGeom>
          <a:noFill/>
          <a:ln w="9525" cap="flat" cmpd="sng">
            <a:solidFill>
              <a:schemeClr val="dk2"/>
            </a:solidFill>
            <a:prstDash val="solid"/>
            <a:round/>
            <a:headEnd type="none" w="sm" len="sm"/>
            <a:tailEnd type="triangle" w="med" len="med"/>
          </a:ln>
        </p:spPr>
      </p:cxnSp>
      <p:cxnSp>
        <p:nvCxnSpPr>
          <p:cNvPr id="221" name="Google Shape;221;g3a661288f2b_0_81"/>
          <p:cNvCxnSpPr/>
          <p:nvPr/>
        </p:nvCxnSpPr>
        <p:spPr>
          <a:xfrm rot="10800000" flipH="1">
            <a:off x="2027275" y="1620850"/>
            <a:ext cx="714300" cy="258300"/>
          </a:xfrm>
          <a:prstGeom prst="straightConnector1">
            <a:avLst/>
          </a:prstGeom>
          <a:noFill/>
          <a:ln w="9525" cap="flat" cmpd="sng">
            <a:solidFill>
              <a:schemeClr val="dk2"/>
            </a:solidFill>
            <a:prstDash val="solid"/>
            <a:round/>
            <a:headEnd type="none" w="sm" len="sm"/>
            <a:tailEnd type="triangle" w="med" len="med"/>
          </a:ln>
        </p:spPr>
      </p:cxnSp>
      <p:cxnSp>
        <p:nvCxnSpPr>
          <p:cNvPr id="222" name="Google Shape;222;g3a661288f2b_0_81"/>
          <p:cNvCxnSpPr/>
          <p:nvPr/>
        </p:nvCxnSpPr>
        <p:spPr>
          <a:xfrm>
            <a:off x="2080450" y="3087150"/>
            <a:ext cx="706500" cy="364800"/>
          </a:xfrm>
          <a:prstGeom prst="straightConnector1">
            <a:avLst/>
          </a:prstGeom>
          <a:noFill/>
          <a:ln w="9525" cap="flat" cmpd="sng">
            <a:solidFill>
              <a:schemeClr val="dk2"/>
            </a:solidFill>
            <a:prstDash val="solid"/>
            <a:round/>
            <a:headEnd type="none" w="sm" len="sm"/>
            <a:tailEnd type="triangle" w="med" len="med"/>
          </a:ln>
        </p:spPr>
      </p:cxnSp>
      <p:cxnSp>
        <p:nvCxnSpPr>
          <p:cNvPr id="223" name="Google Shape;223;g3a661288f2b_0_81"/>
          <p:cNvCxnSpPr/>
          <p:nvPr/>
        </p:nvCxnSpPr>
        <p:spPr>
          <a:xfrm>
            <a:off x="2080450" y="3079550"/>
            <a:ext cx="676200" cy="189900"/>
          </a:xfrm>
          <a:prstGeom prst="straightConnector1">
            <a:avLst/>
          </a:prstGeom>
          <a:noFill/>
          <a:ln w="9525" cap="flat" cmpd="sng">
            <a:solidFill>
              <a:schemeClr val="dk2"/>
            </a:solidFill>
            <a:prstDash val="solid"/>
            <a:round/>
            <a:headEnd type="none" w="sm" len="sm"/>
            <a:tailEnd type="triangle" w="med" len="med"/>
          </a:ln>
        </p:spPr>
      </p:cxnSp>
      <p:cxnSp>
        <p:nvCxnSpPr>
          <p:cNvPr id="224" name="Google Shape;224;g3a661288f2b_0_81"/>
          <p:cNvCxnSpPr>
            <a:endCxn id="211" idx="3"/>
          </p:cNvCxnSpPr>
          <p:nvPr/>
        </p:nvCxnSpPr>
        <p:spPr>
          <a:xfrm>
            <a:off x="2095600" y="3079400"/>
            <a:ext cx="691200" cy="900"/>
          </a:xfrm>
          <a:prstGeom prst="straightConnector1">
            <a:avLst/>
          </a:prstGeom>
          <a:noFill/>
          <a:ln w="9525" cap="flat" cmpd="sng">
            <a:solidFill>
              <a:schemeClr val="dk2"/>
            </a:solidFill>
            <a:prstDash val="solid"/>
            <a:round/>
            <a:headEnd type="none" w="sm" len="sm"/>
            <a:tailEnd type="triangle" w="med" len="med"/>
          </a:ln>
        </p:spPr>
      </p:cxnSp>
      <p:cxnSp>
        <p:nvCxnSpPr>
          <p:cNvPr id="225" name="Google Shape;225;g3a661288f2b_0_81"/>
          <p:cNvCxnSpPr/>
          <p:nvPr/>
        </p:nvCxnSpPr>
        <p:spPr>
          <a:xfrm rot="10800000" flipH="1">
            <a:off x="2080450" y="2920050"/>
            <a:ext cx="706500" cy="167100"/>
          </a:xfrm>
          <a:prstGeom prst="straightConnector1">
            <a:avLst/>
          </a:prstGeom>
          <a:noFill/>
          <a:ln w="9525" cap="flat" cmpd="sng">
            <a:solidFill>
              <a:schemeClr val="dk2"/>
            </a:solidFill>
            <a:prstDash val="solid"/>
            <a:round/>
            <a:headEnd type="none" w="sm" len="sm"/>
            <a:tailEnd type="triangle" w="med" len="med"/>
          </a:ln>
        </p:spPr>
      </p:cxnSp>
      <p:cxnSp>
        <p:nvCxnSpPr>
          <p:cNvPr id="226" name="Google Shape;226;g3a661288f2b_0_81"/>
          <p:cNvCxnSpPr/>
          <p:nvPr/>
        </p:nvCxnSpPr>
        <p:spPr>
          <a:xfrm rot="10800000" flipH="1">
            <a:off x="2080450" y="2737650"/>
            <a:ext cx="683700" cy="326700"/>
          </a:xfrm>
          <a:prstGeom prst="straightConnector1">
            <a:avLst/>
          </a:prstGeom>
          <a:noFill/>
          <a:ln w="9525" cap="flat" cmpd="sng">
            <a:solidFill>
              <a:schemeClr val="dk2"/>
            </a:solidFill>
            <a:prstDash val="solid"/>
            <a:round/>
            <a:headEnd type="none" w="sm" len="sm"/>
            <a:tailEnd type="triangle" w="med" len="med"/>
          </a:ln>
        </p:spPr>
      </p:cxnSp>
      <p:cxnSp>
        <p:nvCxnSpPr>
          <p:cNvPr id="227" name="Google Shape;227;g3a661288f2b_0_81"/>
          <p:cNvCxnSpPr/>
          <p:nvPr/>
        </p:nvCxnSpPr>
        <p:spPr>
          <a:xfrm>
            <a:off x="6658400" y="3087150"/>
            <a:ext cx="702300" cy="189900"/>
          </a:xfrm>
          <a:prstGeom prst="straightConnector1">
            <a:avLst/>
          </a:prstGeom>
          <a:noFill/>
          <a:ln w="9525" cap="flat" cmpd="sng">
            <a:solidFill>
              <a:schemeClr val="dk2"/>
            </a:solidFill>
            <a:prstDash val="solid"/>
            <a:round/>
            <a:headEnd type="none" w="sm" len="sm"/>
            <a:tailEnd type="triangle" w="med" len="med"/>
          </a:ln>
        </p:spPr>
      </p:cxnSp>
      <p:cxnSp>
        <p:nvCxnSpPr>
          <p:cNvPr id="228" name="Google Shape;228;g3a661288f2b_0_81"/>
          <p:cNvCxnSpPr>
            <a:endCxn id="217" idx="3"/>
          </p:cNvCxnSpPr>
          <p:nvPr/>
        </p:nvCxnSpPr>
        <p:spPr>
          <a:xfrm rot="10800000" flipH="1">
            <a:off x="6669200" y="3078563"/>
            <a:ext cx="718500" cy="900"/>
          </a:xfrm>
          <a:prstGeom prst="straightConnector1">
            <a:avLst/>
          </a:prstGeom>
          <a:noFill/>
          <a:ln w="9525" cap="flat" cmpd="sng">
            <a:solidFill>
              <a:schemeClr val="dk2"/>
            </a:solidFill>
            <a:prstDash val="solid"/>
            <a:round/>
            <a:headEnd type="none" w="sm" len="sm"/>
            <a:tailEnd type="triangle" w="med" len="med"/>
          </a:ln>
        </p:spPr>
      </p:cxnSp>
      <p:cxnSp>
        <p:nvCxnSpPr>
          <p:cNvPr id="229" name="Google Shape;229;g3a661288f2b_0_81"/>
          <p:cNvCxnSpPr/>
          <p:nvPr/>
        </p:nvCxnSpPr>
        <p:spPr>
          <a:xfrm rot="10800000" flipH="1">
            <a:off x="6669350" y="2912450"/>
            <a:ext cx="699000" cy="167100"/>
          </a:xfrm>
          <a:prstGeom prst="straightConnector1">
            <a:avLst/>
          </a:prstGeom>
          <a:noFill/>
          <a:ln w="9525" cap="flat" cmpd="sng">
            <a:solidFill>
              <a:schemeClr val="dk2"/>
            </a:solidFill>
            <a:prstDash val="solid"/>
            <a:round/>
            <a:headEnd type="none" w="sm" len="sm"/>
            <a:tailEnd type="triangle" w="med" len="med"/>
          </a:ln>
        </p:spPr>
      </p:cxnSp>
      <p:cxnSp>
        <p:nvCxnSpPr>
          <p:cNvPr id="230" name="Google Shape;230;g3a661288f2b_0_81"/>
          <p:cNvCxnSpPr/>
          <p:nvPr/>
        </p:nvCxnSpPr>
        <p:spPr>
          <a:xfrm>
            <a:off x="6457950" y="1824275"/>
            <a:ext cx="910500" cy="206700"/>
          </a:xfrm>
          <a:prstGeom prst="straightConnector1">
            <a:avLst/>
          </a:prstGeom>
          <a:noFill/>
          <a:ln w="9525" cap="flat" cmpd="sng">
            <a:solidFill>
              <a:schemeClr val="dk2"/>
            </a:solidFill>
            <a:prstDash val="solid"/>
            <a:round/>
            <a:headEnd type="none" w="sm" len="sm"/>
            <a:tailEnd type="triangle" w="med" len="med"/>
          </a:ln>
        </p:spPr>
      </p:cxnSp>
      <p:cxnSp>
        <p:nvCxnSpPr>
          <p:cNvPr id="231" name="Google Shape;231;g3a661288f2b_0_81"/>
          <p:cNvCxnSpPr>
            <a:endCxn id="214" idx="3"/>
          </p:cNvCxnSpPr>
          <p:nvPr/>
        </p:nvCxnSpPr>
        <p:spPr>
          <a:xfrm>
            <a:off x="6458000" y="1824238"/>
            <a:ext cx="929700" cy="10200"/>
          </a:xfrm>
          <a:prstGeom prst="straightConnector1">
            <a:avLst/>
          </a:prstGeom>
          <a:noFill/>
          <a:ln w="9525" cap="flat" cmpd="sng">
            <a:solidFill>
              <a:schemeClr val="dk2"/>
            </a:solidFill>
            <a:prstDash val="solid"/>
            <a:round/>
            <a:headEnd type="none" w="sm" len="sm"/>
            <a:tailEnd type="triangle" w="med" len="med"/>
          </a:ln>
        </p:spPr>
      </p:cxnSp>
      <p:cxnSp>
        <p:nvCxnSpPr>
          <p:cNvPr id="232" name="Google Shape;232;g3a661288f2b_0_81"/>
          <p:cNvCxnSpPr/>
          <p:nvPr/>
        </p:nvCxnSpPr>
        <p:spPr>
          <a:xfrm rot="10800000" flipH="1">
            <a:off x="6471800" y="1658775"/>
            <a:ext cx="850800" cy="159600"/>
          </a:xfrm>
          <a:prstGeom prst="straightConnector1">
            <a:avLst/>
          </a:prstGeom>
          <a:noFill/>
          <a:ln w="9525" cap="flat" cmpd="sng">
            <a:solidFill>
              <a:schemeClr val="dk2"/>
            </a:solidFill>
            <a:prstDash val="solid"/>
            <a:round/>
            <a:headEnd type="none" w="sm" len="sm"/>
            <a:tailEnd type="triangle" w="med" len="med"/>
          </a:ln>
        </p:spPr>
      </p:cxnSp>
      <p:sp>
        <p:nvSpPr>
          <p:cNvPr id="233" name="Google Shape;233;g3a661288f2b_0_81"/>
          <p:cNvSpPr txBox="1"/>
          <p:nvPr/>
        </p:nvSpPr>
        <p:spPr>
          <a:xfrm>
            <a:off x="1353000" y="-2"/>
            <a:ext cx="6438000" cy="469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it" sz="2600" b="1">
                <a:solidFill>
                  <a:srgbClr val="097D3F"/>
                </a:solidFill>
                <a:latin typeface="Quattrocento Sans"/>
                <a:ea typeface="Quattrocento Sans"/>
                <a:cs typeface="Quattrocento Sans"/>
                <a:sym typeface="Quattrocento Sans"/>
              </a:rPr>
              <a:t>Exemple paramètres</a:t>
            </a:r>
            <a:r>
              <a:rPr lang="it" sz="2600" b="1" i="0" u="none" strike="noStrike" cap="none">
                <a:solidFill>
                  <a:srgbClr val="097D3F"/>
                </a:solidFill>
                <a:latin typeface="Quattrocento Sans"/>
                <a:ea typeface="Quattrocento Sans"/>
                <a:cs typeface="Quattrocento Sans"/>
                <a:sym typeface="Quattrocento Sans"/>
              </a:rPr>
              <a:t> </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3a661288f2b_0_1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12</a:t>
            </a:fld>
            <a:endParaRPr/>
          </a:p>
        </p:txBody>
      </p:sp>
      <p:sp>
        <p:nvSpPr>
          <p:cNvPr id="239" name="Google Shape;239;g3a661288f2b_0_113"/>
          <p:cNvSpPr txBox="1"/>
          <p:nvPr/>
        </p:nvSpPr>
        <p:spPr>
          <a:xfrm>
            <a:off x="1353000" y="-2"/>
            <a:ext cx="6438000" cy="469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it" sz="2600" b="1">
                <a:solidFill>
                  <a:srgbClr val="097D3F"/>
                </a:solidFill>
                <a:latin typeface="Quattrocento Sans"/>
                <a:ea typeface="Quattrocento Sans"/>
                <a:cs typeface="Quattrocento Sans"/>
                <a:sym typeface="Quattrocento Sans"/>
              </a:rPr>
              <a:t>Exemple paramètres</a:t>
            </a:r>
            <a:r>
              <a:rPr lang="it" sz="2600" b="1" i="0" u="none" strike="noStrike" cap="none">
                <a:solidFill>
                  <a:srgbClr val="097D3F"/>
                </a:solidFill>
                <a:latin typeface="Quattrocento Sans"/>
                <a:ea typeface="Quattrocento Sans"/>
                <a:cs typeface="Quattrocento Sans"/>
                <a:sym typeface="Quattrocento Sans"/>
              </a:rPr>
              <a:t> </a:t>
            </a:r>
            <a:endParaRPr sz="1100" b="0" i="0" u="none" strike="noStrike" cap="none">
              <a:solidFill>
                <a:srgbClr val="000000"/>
              </a:solidFill>
              <a:latin typeface="Arial"/>
              <a:ea typeface="Arial"/>
              <a:cs typeface="Arial"/>
              <a:sym typeface="Arial"/>
            </a:endParaRPr>
          </a:p>
        </p:txBody>
      </p:sp>
      <p:sp>
        <p:nvSpPr>
          <p:cNvPr id="240" name="Google Shape;240;g3a661288f2b_0_113"/>
          <p:cNvSpPr txBox="1"/>
          <p:nvPr/>
        </p:nvSpPr>
        <p:spPr>
          <a:xfrm>
            <a:off x="503200" y="645575"/>
            <a:ext cx="8320800" cy="41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it" sz="1400" b="0" i="0" u="sng" strike="noStrike" cap="none">
                <a:solidFill>
                  <a:srgbClr val="000000"/>
                </a:solidFill>
                <a:latin typeface="Quattrocento Sans"/>
                <a:ea typeface="Quattrocento Sans"/>
                <a:cs typeface="Quattrocento Sans"/>
                <a:sym typeface="Quattrocento Sans"/>
              </a:rPr>
              <a:t>Un exemple * : </a:t>
            </a:r>
            <a:endParaRPr sz="1400" b="0" i="0" u="sng"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600"/>
              <a:buFont typeface="Arial"/>
              <a:buNone/>
            </a:pPr>
            <a:endParaRPr sz="1400" b="0" i="0" u="sng"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Quattrocento Sans"/>
              <a:ea typeface="Quattrocento Sans"/>
              <a:cs typeface="Quattrocento Sans"/>
              <a:sym typeface="Quattrocento Sans"/>
            </a:endParaRPr>
          </a:p>
        </p:txBody>
      </p:sp>
      <p:sp>
        <p:nvSpPr>
          <p:cNvPr id="241" name="Google Shape;241;g3a661288f2b_0_113"/>
          <p:cNvSpPr txBox="1"/>
          <p:nvPr/>
        </p:nvSpPr>
        <p:spPr>
          <a:xfrm>
            <a:off x="0" y="0"/>
            <a:ext cx="30000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it" sz="900" b="0" i="0" u="sng" strike="noStrike" cap="none">
                <a:solidFill>
                  <a:schemeClr val="dk1"/>
                </a:solidFill>
                <a:latin typeface="Quattrocento Sans"/>
                <a:ea typeface="Quattrocento Sans"/>
                <a:cs typeface="Quattrocento Sans"/>
                <a:sym typeface="Quattrocento Sans"/>
              </a:rPr>
              <a:t>*on prendra en compte seulement 3 paramètres par souci d’espace, mais chez Gosselin ils sont bien 9</a:t>
            </a:r>
            <a:endParaRPr sz="900" b="0" i="0" u="none" strike="noStrike" cap="none">
              <a:solidFill>
                <a:srgbClr val="000000"/>
              </a:solidFill>
              <a:latin typeface="Arial"/>
              <a:ea typeface="Arial"/>
              <a:cs typeface="Arial"/>
              <a:sym typeface="Arial"/>
            </a:endParaRPr>
          </a:p>
        </p:txBody>
      </p:sp>
      <p:sp>
        <p:nvSpPr>
          <p:cNvPr id="242" name="Google Shape;242;g3a661288f2b_0_113"/>
          <p:cNvSpPr txBox="1"/>
          <p:nvPr/>
        </p:nvSpPr>
        <p:spPr>
          <a:xfrm>
            <a:off x="2025250" y="1232650"/>
            <a:ext cx="2453700" cy="134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1" i="0" u="none" strike="noStrike" cap="none">
                <a:solidFill>
                  <a:srgbClr val="000000"/>
                </a:solidFill>
                <a:latin typeface="Quattrocento Sans"/>
                <a:ea typeface="Quattrocento Sans"/>
                <a:cs typeface="Quattrocento Sans"/>
                <a:sym typeface="Quattrocento Sans"/>
              </a:rPr>
              <a:t>Marqueur modal 1 :</a:t>
            </a:r>
            <a:endParaRPr sz="12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200" b="1"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1 : </a:t>
            </a:r>
            <a:r>
              <a:rPr lang="it" sz="1200" b="0" i="0" u="none" strike="noStrike" cap="none">
                <a:solidFill>
                  <a:srgbClr val="000000"/>
                </a:solidFill>
                <a:latin typeface="Quattrocento Sans"/>
                <a:ea typeface="Quattrocento Sans"/>
                <a:cs typeface="Quattrocento Sans"/>
                <a:sym typeface="Quattrocento Sans"/>
              </a:rPr>
              <a:t>rond</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2 : </a:t>
            </a:r>
            <a:r>
              <a:rPr lang="it" sz="1200" b="0" i="0" u="none" strike="noStrike" cap="none">
                <a:solidFill>
                  <a:srgbClr val="FF0000"/>
                </a:solidFill>
                <a:latin typeface="Quattrocento Sans"/>
                <a:ea typeface="Quattrocento Sans"/>
                <a:cs typeface="Quattrocento Sans"/>
                <a:sym typeface="Quattrocento Sans"/>
              </a:rPr>
              <a:t>bleu</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3 : </a:t>
            </a:r>
            <a:r>
              <a:rPr lang="it" sz="1200" b="0" i="0" u="none" strike="noStrike" cap="none">
                <a:solidFill>
                  <a:srgbClr val="000000"/>
                </a:solidFill>
                <a:latin typeface="Quattrocento Sans"/>
                <a:ea typeface="Quattrocento Sans"/>
                <a:cs typeface="Quattrocento Sans"/>
                <a:sym typeface="Quattrocento Sans"/>
              </a:rPr>
              <a:t>AABB</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4 : </a:t>
            </a:r>
            <a:r>
              <a:rPr lang="it" sz="1200" b="0" i="0" u="none" strike="noStrike" cap="none">
                <a:solidFill>
                  <a:srgbClr val="000000"/>
                </a:solidFill>
                <a:latin typeface="Quattrocento Sans"/>
                <a:ea typeface="Quattrocento Sans"/>
                <a:cs typeface="Quattrocento Sans"/>
                <a:sym typeface="Quattrocento Sans"/>
              </a:rPr>
              <a:t>moyen</a:t>
            </a:r>
            <a:endParaRPr sz="12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1"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1" i="0" u="none" strike="noStrike" cap="none">
                <a:solidFill>
                  <a:srgbClr val="000000"/>
                </a:solidFill>
                <a:latin typeface="Quattrocento Sans"/>
                <a:ea typeface="Quattrocento Sans"/>
                <a:cs typeface="Quattrocento Sans"/>
                <a:sym typeface="Quattrocento Sans"/>
              </a:rPr>
              <a:t> </a:t>
            </a:r>
            <a:endParaRPr sz="1400" b="1" i="0" u="none" strike="noStrike" cap="none">
              <a:solidFill>
                <a:srgbClr val="000000"/>
              </a:solidFill>
              <a:latin typeface="Quattrocento Sans"/>
              <a:ea typeface="Quattrocento Sans"/>
              <a:cs typeface="Quattrocento Sans"/>
              <a:sym typeface="Quattrocento Sans"/>
            </a:endParaRPr>
          </a:p>
        </p:txBody>
      </p:sp>
      <p:sp>
        <p:nvSpPr>
          <p:cNvPr id="243" name="Google Shape;243;g3a661288f2b_0_113"/>
          <p:cNvSpPr txBox="1"/>
          <p:nvPr/>
        </p:nvSpPr>
        <p:spPr>
          <a:xfrm>
            <a:off x="4927075" y="1232650"/>
            <a:ext cx="2233500" cy="134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1" i="0" u="none" strike="noStrike" cap="none">
                <a:solidFill>
                  <a:srgbClr val="000000"/>
                </a:solidFill>
                <a:latin typeface="Quattrocento Sans"/>
                <a:ea typeface="Quattrocento Sans"/>
                <a:cs typeface="Quattrocento Sans"/>
                <a:sym typeface="Quattrocento Sans"/>
              </a:rPr>
              <a:t>Marqueur modal 2 :</a:t>
            </a:r>
            <a:endParaRPr sz="12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200" b="1"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1 : </a:t>
            </a:r>
            <a:r>
              <a:rPr lang="it" sz="1200" b="0" i="0" u="none" strike="noStrike" cap="none">
                <a:solidFill>
                  <a:srgbClr val="000000"/>
                </a:solidFill>
                <a:latin typeface="Quattrocento Sans"/>
                <a:ea typeface="Quattrocento Sans"/>
                <a:cs typeface="Quattrocento Sans"/>
                <a:sym typeface="Quattrocento Sans"/>
              </a:rPr>
              <a:t>rond</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2 : </a:t>
            </a:r>
            <a:r>
              <a:rPr lang="it" sz="1200" b="0" i="0" u="none" strike="noStrike" cap="none">
                <a:solidFill>
                  <a:srgbClr val="FF0000"/>
                </a:solidFill>
                <a:latin typeface="Quattrocento Sans"/>
                <a:ea typeface="Quattrocento Sans"/>
                <a:cs typeface="Quattrocento Sans"/>
                <a:sym typeface="Quattrocento Sans"/>
              </a:rPr>
              <a:t>vert</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3 : </a:t>
            </a:r>
            <a:r>
              <a:rPr lang="it" sz="1200" b="0" i="0" u="none" strike="noStrike" cap="none">
                <a:solidFill>
                  <a:srgbClr val="000000"/>
                </a:solidFill>
                <a:latin typeface="Quattrocento Sans"/>
                <a:ea typeface="Quattrocento Sans"/>
                <a:cs typeface="Quattrocento Sans"/>
                <a:sym typeface="Quattrocento Sans"/>
              </a:rPr>
              <a:t>AABB</a:t>
            </a:r>
            <a:endParaRPr sz="1200" b="0"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000000"/>
              </a:buClr>
              <a:buSzPts val="1200"/>
              <a:buFont typeface="Quattrocento Sans"/>
              <a:buChar char="-"/>
            </a:pPr>
            <a:r>
              <a:rPr lang="it" sz="1200" b="1" i="0" u="none" strike="noStrike" cap="none">
                <a:solidFill>
                  <a:srgbClr val="000000"/>
                </a:solidFill>
                <a:latin typeface="Quattrocento Sans"/>
                <a:ea typeface="Quattrocento Sans"/>
                <a:cs typeface="Quattrocento Sans"/>
                <a:sym typeface="Quattrocento Sans"/>
              </a:rPr>
              <a:t>paramètre 4 : </a:t>
            </a:r>
            <a:r>
              <a:rPr lang="it" sz="1200" b="0" i="0" u="none" strike="noStrike" cap="none">
                <a:solidFill>
                  <a:srgbClr val="000000"/>
                </a:solidFill>
                <a:latin typeface="Quattrocento Sans"/>
                <a:ea typeface="Quattrocento Sans"/>
                <a:cs typeface="Quattrocento Sans"/>
                <a:sym typeface="Quattrocento Sans"/>
              </a:rPr>
              <a:t>moyen</a:t>
            </a:r>
            <a:endParaRPr sz="1200" b="0"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1"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1" i="0" u="none" strike="noStrike" cap="none">
                <a:solidFill>
                  <a:srgbClr val="000000"/>
                </a:solidFill>
                <a:latin typeface="Quattrocento Sans"/>
                <a:ea typeface="Quattrocento Sans"/>
                <a:cs typeface="Quattrocento Sans"/>
                <a:sym typeface="Quattrocento Sans"/>
              </a:rPr>
              <a:t> </a:t>
            </a:r>
            <a:endParaRPr sz="1400" b="1" i="0" u="none" strike="noStrike" cap="none">
              <a:solidFill>
                <a:srgbClr val="000000"/>
              </a:solidFill>
              <a:latin typeface="Quattrocento Sans"/>
              <a:ea typeface="Quattrocento Sans"/>
              <a:cs typeface="Quattrocento Sans"/>
              <a:sym typeface="Quattrocento Sans"/>
            </a:endParaRPr>
          </a:p>
        </p:txBody>
      </p:sp>
      <p:sp>
        <p:nvSpPr>
          <p:cNvPr id="244" name="Google Shape;244;g3a661288f2b_0_113"/>
          <p:cNvSpPr txBox="1"/>
          <p:nvPr/>
        </p:nvSpPr>
        <p:spPr>
          <a:xfrm>
            <a:off x="2160725" y="3263100"/>
            <a:ext cx="2453700" cy="134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1" i="0" u="none" strike="noStrike" cap="none">
                <a:solidFill>
                  <a:srgbClr val="000000"/>
                </a:solidFill>
                <a:latin typeface="Quattrocento Sans"/>
                <a:ea typeface="Quattrocento Sans"/>
                <a:cs typeface="Quattrocento Sans"/>
                <a:sym typeface="Quattrocento Sans"/>
              </a:rPr>
              <a:t>Marqueur modal 3 :</a:t>
            </a:r>
            <a:endParaRPr sz="12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200" b="1"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1 : </a:t>
            </a:r>
            <a:r>
              <a:rPr lang="it" sz="1200" b="0" i="0" u="none" strike="noStrike" cap="none">
                <a:solidFill>
                  <a:srgbClr val="FF0000"/>
                </a:solidFill>
                <a:latin typeface="Quattrocento Sans"/>
                <a:ea typeface="Quattrocento Sans"/>
                <a:cs typeface="Quattrocento Sans"/>
                <a:sym typeface="Quattrocento Sans"/>
              </a:rPr>
              <a:t>triangle</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2 : </a:t>
            </a:r>
            <a:r>
              <a:rPr lang="it" sz="1200" b="0" i="0" u="none" strike="noStrike" cap="none">
                <a:solidFill>
                  <a:srgbClr val="FF0000"/>
                </a:solidFill>
                <a:latin typeface="Quattrocento Sans"/>
                <a:ea typeface="Quattrocento Sans"/>
                <a:cs typeface="Quattrocento Sans"/>
                <a:sym typeface="Quattrocento Sans"/>
              </a:rPr>
              <a:t>bleu</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3 : </a:t>
            </a:r>
            <a:r>
              <a:rPr lang="it" sz="1200" b="0" i="0" u="none" strike="noStrike" cap="none">
                <a:solidFill>
                  <a:srgbClr val="FF0000"/>
                </a:solidFill>
                <a:latin typeface="Quattrocento Sans"/>
                <a:ea typeface="Quattrocento Sans"/>
                <a:cs typeface="Quattrocento Sans"/>
                <a:sym typeface="Quattrocento Sans"/>
              </a:rPr>
              <a:t>AABB</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4 : </a:t>
            </a:r>
            <a:r>
              <a:rPr lang="it" sz="1200" b="0" i="0" u="none" strike="noStrike" cap="none">
                <a:solidFill>
                  <a:srgbClr val="FF0000"/>
                </a:solidFill>
                <a:latin typeface="Quattrocento Sans"/>
                <a:ea typeface="Quattrocento Sans"/>
                <a:cs typeface="Quattrocento Sans"/>
                <a:sym typeface="Quattrocento Sans"/>
              </a:rPr>
              <a:t>moyen</a:t>
            </a:r>
            <a:endParaRPr sz="1200" b="0" i="0" u="none" strike="noStrike" cap="none">
              <a:solidFill>
                <a:srgbClr val="FF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1"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1" i="0" u="none" strike="noStrike" cap="none">
                <a:solidFill>
                  <a:srgbClr val="000000"/>
                </a:solidFill>
                <a:latin typeface="Quattrocento Sans"/>
                <a:ea typeface="Quattrocento Sans"/>
                <a:cs typeface="Quattrocento Sans"/>
                <a:sym typeface="Quattrocento Sans"/>
              </a:rPr>
              <a:t> </a:t>
            </a:r>
            <a:endParaRPr sz="1400" b="1" i="0" u="none" strike="noStrike" cap="none">
              <a:solidFill>
                <a:srgbClr val="000000"/>
              </a:solidFill>
              <a:latin typeface="Quattrocento Sans"/>
              <a:ea typeface="Quattrocento Sans"/>
              <a:cs typeface="Quattrocento Sans"/>
              <a:sym typeface="Quattrocento Sans"/>
            </a:endParaRPr>
          </a:p>
        </p:txBody>
      </p:sp>
      <p:sp>
        <p:nvSpPr>
          <p:cNvPr id="245" name="Google Shape;245;g3a661288f2b_0_113"/>
          <p:cNvSpPr txBox="1"/>
          <p:nvPr/>
        </p:nvSpPr>
        <p:spPr>
          <a:xfrm>
            <a:off x="5062550" y="3263100"/>
            <a:ext cx="2233500" cy="134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it" sz="1200" b="1" i="0" u="none" strike="noStrike" cap="none">
                <a:solidFill>
                  <a:srgbClr val="000000"/>
                </a:solidFill>
                <a:latin typeface="Quattrocento Sans"/>
                <a:ea typeface="Quattrocento Sans"/>
                <a:cs typeface="Quattrocento Sans"/>
                <a:sym typeface="Quattrocento Sans"/>
              </a:rPr>
              <a:t>Marqueur modal 4 :</a:t>
            </a:r>
            <a:endParaRPr sz="12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200" b="1" i="0" u="none" strike="noStrike" cap="none">
              <a:solidFill>
                <a:srgbClr val="00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1 : </a:t>
            </a:r>
            <a:r>
              <a:rPr lang="it" sz="1200" b="0" i="0" u="none" strike="noStrike" cap="none">
                <a:solidFill>
                  <a:srgbClr val="FF0000"/>
                </a:solidFill>
                <a:latin typeface="Quattrocento Sans"/>
                <a:ea typeface="Quattrocento Sans"/>
                <a:cs typeface="Quattrocento Sans"/>
                <a:sym typeface="Quattrocento Sans"/>
              </a:rPr>
              <a:t>rond</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2 : </a:t>
            </a:r>
            <a:r>
              <a:rPr lang="it" sz="1200" b="0" i="0" u="none" strike="noStrike" cap="none">
                <a:solidFill>
                  <a:srgbClr val="FF0000"/>
                </a:solidFill>
                <a:latin typeface="Quattrocento Sans"/>
                <a:ea typeface="Quattrocento Sans"/>
                <a:cs typeface="Quattrocento Sans"/>
                <a:sym typeface="Quattrocento Sans"/>
              </a:rPr>
              <a:t>vert</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3 : </a:t>
            </a:r>
            <a:r>
              <a:rPr lang="it" sz="1200" b="0" i="0" u="none" strike="noStrike" cap="none">
                <a:solidFill>
                  <a:srgbClr val="FF0000"/>
                </a:solidFill>
                <a:latin typeface="Quattrocento Sans"/>
                <a:ea typeface="Quattrocento Sans"/>
                <a:cs typeface="Quattrocento Sans"/>
                <a:sym typeface="Quattrocento Sans"/>
              </a:rPr>
              <a:t>ABAB</a:t>
            </a:r>
            <a:endParaRPr sz="1200" b="0" i="0" u="none" strike="noStrike" cap="none">
              <a:solidFill>
                <a:srgbClr val="FF0000"/>
              </a:solidFill>
              <a:latin typeface="Quattrocento Sans"/>
              <a:ea typeface="Quattrocento Sans"/>
              <a:cs typeface="Quattrocento Sans"/>
              <a:sym typeface="Quattrocento Sans"/>
            </a:endParaRPr>
          </a:p>
          <a:p>
            <a:pPr marL="457200" marR="0" lvl="0" indent="-304800" algn="l" rtl="0">
              <a:lnSpc>
                <a:spcPct val="100000"/>
              </a:lnSpc>
              <a:spcBef>
                <a:spcPts val="0"/>
              </a:spcBef>
              <a:spcAft>
                <a:spcPts val="0"/>
              </a:spcAft>
              <a:buClr>
                <a:srgbClr val="FF0000"/>
              </a:buClr>
              <a:buSzPts val="1200"/>
              <a:buFont typeface="Quattrocento Sans"/>
              <a:buChar char="-"/>
            </a:pPr>
            <a:r>
              <a:rPr lang="it" sz="1200" b="1" i="0" u="none" strike="noStrike" cap="none">
                <a:solidFill>
                  <a:srgbClr val="FF0000"/>
                </a:solidFill>
                <a:latin typeface="Quattrocento Sans"/>
                <a:ea typeface="Quattrocento Sans"/>
                <a:cs typeface="Quattrocento Sans"/>
                <a:sym typeface="Quattrocento Sans"/>
              </a:rPr>
              <a:t>paramètre 4 : </a:t>
            </a:r>
            <a:r>
              <a:rPr lang="it" sz="1200" b="0" i="0" u="none" strike="noStrike" cap="none">
                <a:solidFill>
                  <a:srgbClr val="FF0000"/>
                </a:solidFill>
                <a:latin typeface="Quattrocento Sans"/>
                <a:ea typeface="Quattrocento Sans"/>
                <a:cs typeface="Quattrocento Sans"/>
                <a:sym typeface="Quattrocento Sans"/>
              </a:rPr>
              <a:t>petit</a:t>
            </a:r>
            <a:endParaRPr sz="1200" b="0" i="0" u="none" strike="noStrike" cap="none">
              <a:solidFill>
                <a:srgbClr val="FF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endParaRPr sz="1400" b="1" i="0" u="none" strike="noStrike" cap="none">
              <a:solidFill>
                <a:srgbClr val="000000"/>
              </a:solidFill>
              <a:latin typeface="Quattrocento Sans"/>
              <a:ea typeface="Quattrocento Sans"/>
              <a:cs typeface="Quattrocento Sans"/>
              <a:sym typeface="Quattrocento Sans"/>
            </a:endParaRPr>
          </a:p>
          <a:p>
            <a:pPr marL="0" marR="0" lvl="0" indent="0" algn="just" rtl="0">
              <a:lnSpc>
                <a:spcPct val="100000"/>
              </a:lnSpc>
              <a:spcBef>
                <a:spcPts val="0"/>
              </a:spcBef>
              <a:spcAft>
                <a:spcPts val="0"/>
              </a:spcAft>
              <a:buClr>
                <a:srgbClr val="000000"/>
              </a:buClr>
              <a:buSzPts val="1600"/>
              <a:buFont typeface="Arial"/>
              <a:buNone/>
            </a:pPr>
            <a:r>
              <a:rPr lang="it" sz="1400" b="1" i="0" u="none" strike="noStrike" cap="none">
                <a:solidFill>
                  <a:srgbClr val="000000"/>
                </a:solidFill>
                <a:latin typeface="Quattrocento Sans"/>
                <a:ea typeface="Quattrocento Sans"/>
                <a:cs typeface="Quattrocento Sans"/>
                <a:sym typeface="Quattrocento Sans"/>
              </a:rPr>
              <a:t> </a:t>
            </a:r>
            <a:endParaRPr sz="1400" b="1" i="0" u="none" strike="noStrike" cap="none">
              <a:solidFill>
                <a:srgbClr val="000000"/>
              </a:solidFill>
              <a:latin typeface="Quattrocento Sans"/>
              <a:ea typeface="Quattrocento Sans"/>
              <a:cs typeface="Quattrocento Sans"/>
              <a:sym typeface="Quattrocento Sans"/>
            </a:endParaRPr>
          </a:p>
        </p:txBody>
      </p:sp>
      <p:sp>
        <p:nvSpPr>
          <p:cNvPr id="246" name="Google Shape;246;g3a661288f2b_0_113"/>
          <p:cNvSpPr txBox="1"/>
          <p:nvPr/>
        </p:nvSpPr>
        <p:spPr>
          <a:xfrm>
            <a:off x="604850" y="2750325"/>
            <a:ext cx="8320800" cy="41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it" sz="1400" b="0" i="0" u="sng" strike="noStrike" cap="none">
                <a:solidFill>
                  <a:srgbClr val="000000"/>
                </a:solidFill>
                <a:latin typeface="Quattrocento Sans"/>
                <a:ea typeface="Quattrocento Sans"/>
                <a:cs typeface="Quattrocento Sans"/>
                <a:sym typeface="Quattrocento Sans"/>
              </a:rPr>
              <a:t>Un autre exemple * : </a:t>
            </a:r>
            <a:endParaRPr sz="1600" b="0" i="0" u="none" strike="noStrike" cap="none">
              <a:solidFill>
                <a:srgbClr val="000000"/>
              </a:solidFill>
              <a:latin typeface="Quattrocento Sans"/>
              <a:ea typeface="Quattrocento Sans"/>
              <a:cs typeface="Quattrocento Sans"/>
              <a:sym typeface="Quattrocento Sans"/>
            </a:endParaRPr>
          </a:p>
        </p:txBody>
      </p:sp>
      <p:cxnSp>
        <p:nvCxnSpPr>
          <p:cNvPr id="247" name="Google Shape;247;g3a661288f2b_0_113"/>
          <p:cNvCxnSpPr/>
          <p:nvPr/>
        </p:nvCxnSpPr>
        <p:spPr>
          <a:xfrm rot="10800000" flipH="1">
            <a:off x="608000" y="2750325"/>
            <a:ext cx="8314500" cy="32100"/>
          </a:xfrm>
          <a:prstGeom prst="straightConnector1">
            <a:avLst/>
          </a:prstGeom>
          <a:noFill/>
          <a:ln w="9525" cap="flat" cmpd="sng">
            <a:solidFill>
              <a:schemeClr val="dk2"/>
            </a:solidFill>
            <a:prstDash val="solid"/>
            <a:round/>
            <a:headEnd type="none" w="sm" len="sm"/>
            <a:tailEnd type="none" w="sm" len="sm"/>
          </a:ln>
        </p:spPr>
      </p:cxnSp>
      <p:sp>
        <p:nvSpPr>
          <p:cNvPr id="248" name="Google Shape;248;g3a661288f2b_0_113"/>
          <p:cNvSpPr/>
          <p:nvPr/>
        </p:nvSpPr>
        <p:spPr>
          <a:xfrm>
            <a:off x="975750" y="1510038"/>
            <a:ext cx="1048500" cy="993300"/>
          </a:xfrm>
          <a:prstGeom prst="ellipse">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it" sz="1400" b="0" i="0" u="none" strike="noStrike" cap="none">
                <a:solidFill>
                  <a:srgbClr val="000000"/>
                </a:solidFill>
                <a:latin typeface="Calibri"/>
                <a:ea typeface="Calibri"/>
                <a:cs typeface="Calibri"/>
                <a:sym typeface="Calibri"/>
              </a:rPr>
              <a:t>AABB</a:t>
            </a:r>
            <a:endParaRPr sz="1400" b="0" i="0" u="none" strike="noStrike" cap="none">
              <a:solidFill>
                <a:srgbClr val="000000"/>
              </a:solidFill>
              <a:latin typeface="Calibri"/>
              <a:ea typeface="Calibri"/>
              <a:cs typeface="Calibri"/>
              <a:sym typeface="Calibri"/>
            </a:endParaRPr>
          </a:p>
        </p:txBody>
      </p:sp>
      <p:sp>
        <p:nvSpPr>
          <p:cNvPr id="249" name="Google Shape;249;g3a661288f2b_0_113"/>
          <p:cNvSpPr/>
          <p:nvPr/>
        </p:nvSpPr>
        <p:spPr>
          <a:xfrm>
            <a:off x="7296050" y="1510038"/>
            <a:ext cx="1048500" cy="9933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it" sz="1400" b="0" i="0" u="none" strike="noStrike" cap="none">
                <a:solidFill>
                  <a:srgbClr val="000000"/>
                </a:solidFill>
                <a:latin typeface="Calibri"/>
                <a:ea typeface="Calibri"/>
                <a:cs typeface="Calibri"/>
                <a:sym typeface="Calibri"/>
              </a:rPr>
              <a:t>AABB</a:t>
            </a:r>
            <a:endParaRPr sz="1400" b="0" i="0" u="none" strike="noStrike" cap="none">
              <a:solidFill>
                <a:srgbClr val="000000"/>
              </a:solidFill>
              <a:latin typeface="Calibri"/>
              <a:ea typeface="Calibri"/>
              <a:cs typeface="Calibri"/>
              <a:sym typeface="Calibri"/>
            </a:endParaRPr>
          </a:p>
        </p:txBody>
      </p:sp>
      <p:sp>
        <p:nvSpPr>
          <p:cNvPr id="250" name="Google Shape;250;g3a661288f2b_0_113"/>
          <p:cNvSpPr/>
          <p:nvPr/>
        </p:nvSpPr>
        <p:spPr>
          <a:xfrm>
            <a:off x="7527925" y="3789175"/>
            <a:ext cx="707100" cy="6768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it" sz="1100" b="0" i="0" u="none" strike="noStrike" cap="none">
                <a:solidFill>
                  <a:srgbClr val="000000"/>
                </a:solidFill>
                <a:latin typeface="Calibri"/>
                <a:ea typeface="Calibri"/>
                <a:cs typeface="Calibri"/>
                <a:sym typeface="Calibri"/>
              </a:rPr>
              <a:t>ABAB</a:t>
            </a:r>
            <a:endParaRPr sz="1100" b="0" i="0" u="none" strike="noStrike" cap="none">
              <a:solidFill>
                <a:srgbClr val="000000"/>
              </a:solidFill>
              <a:latin typeface="Calibri"/>
              <a:ea typeface="Calibri"/>
              <a:cs typeface="Calibri"/>
              <a:sym typeface="Calibri"/>
            </a:endParaRPr>
          </a:p>
        </p:txBody>
      </p:sp>
      <p:sp>
        <p:nvSpPr>
          <p:cNvPr id="251" name="Google Shape;251;g3a661288f2b_0_113"/>
          <p:cNvSpPr/>
          <p:nvPr/>
        </p:nvSpPr>
        <p:spPr>
          <a:xfrm>
            <a:off x="976750" y="3683425"/>
            <a:ext cx="1184100" cy="888300"/>
          </a:xfrm>
          <a:prstGeom prst="triangle">
            <a:avLst>
              <a:gd name="adj" fmla="val 50000"/>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it" sz="1400" b="0" i="0" u="none" strike="noStrike" cap="none">
                <a:solidFill>
                  <a:srgbClr val="000000"/>
                </a:solidFill>
                <a:latin typeface="Calibri"/>
                <a:ea typeface="Calibri"/>
                <a:cs typeface="Calibri"/>
                <a:sym typeface="Calibri"/>
              </a:rPr>
              <a:t>AABB</a:t>
            </a: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a661288f2b_0_130"/>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Les types de modalité</a:t>
            </a:r>
            <a:endParaRPr sz="2600" b="1" i="0" u="none" strike="noStrike" cap="none">
              <a:solidFill>
                <a:srgbClr val="097D3F"/>
              </a:solidFill>
              <a:latin typeface="Quattrocento Sans"/>
              <a:ea typeface="Quattrocento Sans"/>
              <a:cs typeface="Quattrocento Sans"/>
              <a:sym typeface="Quattrocento Sans"/>
            </a:endParaRPr>
          </a:p>
        </p:txBody>
      </p:sp>
      <p:sp>
        <p:nvSpPr>
          <p:cNvPr id="257" name="Google Shape;257;g3a661288f2b_0_130"/>
          <p:cNvSpPr/>
          <p:nvPr/>
        </p:nvSpPr>
        <p:spPr>
          <a:xfrm>
            <a:off x="278700" y="557375"/>
            <a:ext cx="2297400" cy="2104500"/>
          </a:xfrm>
          <a:prstGeom prst="ellipse">
            <a:avLst/>
          </a:prstGeom>
          <a:solidFill>
            <a:srgbClr val="FFF2CC">
              <a:alpha val="451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58" name="Google Shape;258;g3a661288f2b_0_130"/>
          <p:cNvSpPr txBox="1"/>
          <p:nvPr/>
        </p:nvSpPr>
        <p:spPr>
          <a:xfrm>
            <a:off x="1032350" y="6534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aléthique</a:t>
            </a:r>
            <a:endParaRPr sz="1200" b="1" i="0" u="none" strike="noStrike" cap="none">
              <a:solidFill>
                <a:schemeClr val="dk1"/>
              </a:solidFill>
              <a:latin typeface="Quattrocento Sans"/>
              <a:ea typeface="Quattrocento Sans"/>
              <a:cs typeface="Quattrocento Sans"/>
              <a:sym typeface="Quattrocento Sans"/>
            </a:endParaRPr>
          </a:p>
        </p:txBody>
      </p:sp>
      <p:sp>
        <p:nvSpPr>
          <p:cNvPr id="259" name="Google Shape;259;g3a661288f2b_0_130"/>
          <p:cNvSpPr txBox="1"/>
          <p:nvPr/>
        </p:nvSpPr>
        <p:spPr>
          <a:xfrm>
            <a:off x="278700" y="951275"/>
            <a:ext cx="2334900" cy="1662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Jugement présenté comme une vérité objective, indépendante du locuteur.</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Il </a:t>
            </a:r>
            <a:r>
              <a:rPr lang="it" sz="1200" b="0" i="1" u="sng" strike="noStrike" cap="none">
                <a:solidFill>
                  <a:srgbClr val="000000"/>
                </a:solidFill>
                <a:latin typeface="Quattrocento Sans"/>
                <a:ea typeface="Quattrocento Sans"/>
                <a:cs typeface="Quattrocento Sans"/>
                <a:sym typeface="Quattrocento Sans"/>
              </a:rPr>
              <a:t>neige</a:t>
            </a:r>
            <a:r>
              <a:rPr lang="it" sz="1200" b="0" i="1" u="none" strike="noStrike" cap="none">
                <a:solidFill>
                  <a:srgbClr val="000000"/>
                </a:solidFill>
                <a:latin typeface="Quattrocento Sans"/>
                <a:ea typeface="Quattrocento Sans"/>
                <a:cs typeface="Quattrocento Sans"/>
                <a:sym typeface="Quattrocento Sans"/>
              </a:rPr>
              <a:t>.</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Un triangle a </a:t>
            </a:r>
            <a:r>
              <a:rPr lang="it" sz="1200" b="0" i="1" u="sng" strike="noStrike" cap="none">
                <a:solidFill>
                  <a:srgbClr val="000000"/>
                </a:solidFill>
                <a:latin typeface="Quattrocento Sans"/>
                <a:ea typeface="Quattrocento Sans"/>
                <a:cs typeface="Quattrocento Sans"/>
                <a:sym typeface="Quattrocento Sans"/>
              </a:rPr>
              <a:t>nécessairement</a:t>
            </a:r>
            <a:r>
              <a:rPr lang="it" sz="1200" b="0" i="1" u="none" strike="noStrike" cap="none">
                <a:solidFill>
                  <a:srgbClr val="000000"/>
                </a:solidFill>
                <a:latin typeface="Quattrocento Sans"/>
                <a:ea typeface="Quattrocento Sans"/>
                <a:cs typeface="Quattrocento Sans"/>
                <a:sym typeface="Quattrocento Sans"/>
              </a:rPr>
              <a:t> trois angles.</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000000"/>
              </a:solidFill>
              <a:latin typeface="Quattrocento Sans"/>
              <a:ea typeface="Quattrocento Sans"/>
              <a:cs typeface="Quattrocento Sans"/>
              <a:sym typeface="Quattrocento Sans"/>
            </a:endParaRPr>
          </a:p>
        </p:txBody>
      </p:sp>
      <p:sp>
        <p:nvSpPr>
          <p:cNvPr id="260" name="Google Shape;260;g3a661288f2b_0_130"/>
          <p:cNvSpPr/>
          <p:nvPr/>
        </p:nvSpPr>
        <p:spPr>
          <a:xfrm>
            <a:off x="2693700" y="686850"/>
            <a:ext cx="2297400" cy="21045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61" name="Google Shape;261;g3a661288f2b_0_130"/>
          <p:cNvSpPr txBox="1"/>
          <p:nvPr/>
        </p:nvSpPr>
        <p:spPr>
          <a:xfrm>
            <a:off x="3261125" y="900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épistémique</a:t>
            </a:r>
            <a:endParaRPr sz="1200" b="1" i="0" u="none" strike="noStrike" cap="none">
              <a:solidFill>
                <a:schemeClr val="dk1"/>
              </a:solidFill>
              <a:latin typeface="Quattrocento Sans"/>
              <a:ea typeface="Quattrocento Sans"/>
              <a:cs typeface="Quattrocento Sans"/>
              <a:sym typeface="Quattrocento Sans"/>
            </a:endParaRPr>
          </a:p>
        </p:txBody>
      </p:sp>
      <p:sp>
        <p:nvSpPr>
          <p:cNvPr id="262" name="Google Shape;262;g3a661288f2b_0_130"/>
          <p:cNvSpPr txBox="1"/>
          <p:nvPr/>
        </p:nvSpPr>
        <p:spPr>
          <a:xfrm>
            <a:off x="2693700" y="1080750"/>
            <a:ext cx="23349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Jugements subjectifs sur la réalité (mais pas de valeur).</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La pièce est </a:t>
            </a:r>
            <a:r>
              <a:rPr lang="it" sz="1200" b="0" i="1" u="sng" strike="noStrike" cap="none">
                <a:solidFill>
                  <a:srgbClr val="000000"/>
                </a:solidFill>
                <a:latin typeface="Quattrocento Sans"/>
                <a:ea typeface="Quattrocento Sans"/>
                <a:cs typeface="Quattrocento Sans"/>
                <a:sym typeface="Quattrocento Sans"/>
              </a:rPr>
              <a:t>petite</a:t>
            </a:r>
            <a:r>
              <a:rPr lang="it" sz="1200" b="0" i="1" u="none" strike="noStrike" cap="none">
                <a:solidFill>
                  <a:srgbClr val="000000"/>
                </a:solidFill>
                <a:latin typeface="Quattrocento Sans"/>
                <a:ea typeface="Quattrocento Sans"/>
                <a:cs typeface="Quattrocento Sans"/>
                <a:sym typeface="Quattrocento Sans"/>
              </a:rPr>
              <a:t>.</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Il est </a:t>
            </a:r>
            <a:r>
              <a:rPr lang="it" sz="1200" b="0" i="1" u="sng" strike="noStrike" cap="none">
                <a:solidFill>
                  <a:srgbClr val="000000"/>
                </a:solidFill>
                <a:latin typeface="Quattrocento Sans"/>
                <a:ea typeface="Quattrocento Sans"/>
                <a:cs typeface="Quattrocento Sans"/>
                <a:sym typeface="Quattrocento Sans"/>
              </a:rPr>
              <a:t>certainement</a:t>
            </a:r>
            <a:r>
              <a:rPr lang="it" sz="1200" b="0" i="1" u="none" strike="noStrike" cap="none">
                <a:solidFill>
                  <a:srgbClr val="000000"/>
                </a:solidFill>
                <a:latin typeface="Quattrocento Sans"/>
                <a:ea typeface="Quattrocento Sans"/>
                <a:cs typeface="Quattrocento Sans"/>
                <a:sym typeface="Quattrocento Sans"/>
              </a:rPr>
              <a:t> malade</a:t>
            </a:r>
            <a:endParaRPr sz="1200" b="0" i="1" u="none" strike="noStrike" cap="none">
              <a:solidFill>
                <a:srgbClr val="000000"/>
              </a:solidFill>
              <a:latin typeface="Quattrocento Sans"/>
              <a:ea typeface="Quattrocento Sans"/>
              <a:cs typeface="Quattrocento Sans"/>
              <a:sym typeface="Quattrocento Sans"/>
            </a:endParaRPr>
          </a:p>
        </p:txBody>
      </p:sp>
      <p:sp>
        <p:nvSpPr>
          <p:cNvPr id="263" name="Google Shape;263;g3a661288f2b_0_130"/>
          <p:cNvSpPr/>
          <p:nvPr/>
        </p:nvSpPr>
        <p:spPr>
          <a:xfrm>
            <a:off x="5018200" y="87875"/>
            <a:ext cx="2297400" cy="2104500"/>
          </a:xfrm>
          <a:prstGeom prst="ellipse">
            <a:avLst/>
          </a:prstGeom>
          <a:solidFill>
            <a:srgbClr val="EAD1E0">
              <a:alpha val="6902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64" name="Google Shape;264;g3a661288f2b_0_130"/>
          <p:cNvSpPr txBox="1"/>
          <p:nvPr/>
        </p:nvSpPr>
        <p:spPr>
          <a:xfrm>
            <a:off x="5660050" y="15506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appréciative</a:t>
            </a:r>
            <a:endParaRPr sz="1200" b="1" i="0" u="none" strike="noStrike" cap="none">
              <a:solidFill>
                <a:schemeClr val="dk1"/>
              </a:solidFill>
              <a:latin typeface="Quattrocento Sans"/>
              <a:ea typeface="Quattrocento Sans"/>
              <a:cs typeface="Quattrocento Sans"/>
              <a:sym typeface="Quattrocento Sans"/>
            </a:endParaRPr>
          </a:p>
        </p:txBody>
      </p:sp>
      <p:sp>
        <p:nvSpPr>
          <p:cNvPr id="265" name="Google Shape;265;g3a661288f2b_0_130"/>
          <p:cNvSpPr txBox="1"/>
          <p:nvPr/>
        </p:nvSpPr>
        <p:spPr>
          <a:xfrm>
            <a:off x="5018200" y="481775"/>
            <a:ext cx="23349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it" sz="1200" b="0" i="0" u="none" strike="noStrike" cap="none">
                <a:solidFill>
                  <a:schemeClr val="dk1"/>
                </a:solidFill>
                <a:latin typeface="Quattrocento Sans"/>
                <a:ea typeface="Quattrocento Sans"/>
                <a:cs typeface="Quattrocento Sans"/>
                <a:sym typeface="Quattrocento Sans"/>
              </a:rPr>
              <a:t>Jugements subjectifs de valeur sur la réalité.</a:t>
            </a:r>
            <a:endParaRPr sz="12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Il est </a:t>
            </a:r>
            <a:r>
              <a:rPr lang="it" sz="1200" b="0" i="1" u="sng" strike="noStrike" cap="none">
                <a:solidFill>
                  <a:srgbClr val="000000"/>
                </a:solidFill>
                <a:latin typeface="Quattrocento Sans"/>
                <a:ea typeface="Quattrocento Sans"/>
                <a:cs typeface="Quattrocento Sans"/>
                <a:sym typeface="Quattrocento Sans"/>
              </a:rPr>
              <a:t>joli.</a:t>
            </a:r>
            <a:endParaRPr sz="1200" b="0" i="1" u="sng"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sng" strike="noStrike" cap="none">
                <a:solidFill>
                  <a:srgbClr val="000000"/>
                </a:solidFill>
                <a:latin typeface="Quattrocento Sans"/>
                <a:ea typeface="Quattrocento Sans"/>
                <a:cs typeface="Quattrocento Sans"/>
                <a:sym typeface="Quattrocento Sans"/>
              </a:rPr>
              <a:t>Heureusement</a:t>
            </a:r>
            <a:r>
              <a:rPr lang="it" sz="1200" b="0" i="1" u="none" strike="noStrike" cap="none">
                <a:solidFill>
                  <a:srgbClr val="000000"/>
                </a:solidFill>
                <a:latin typeface="Quattrocento Sans"/>
                <a:ea typeface="Quattrocento Sans"/>
                <a:cs typeface="Quattrocento Sans"/>
                <a:sym typeface="Quattrocento Sans"/>
              </a:rPr>
              <a:t> qu’il est venu</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000000"/>
              </a:solidFill>
              <a:latin typeface="Quattrocento Sans"/>
              <a:ea typeface="Quattrocento Sans"/>
              <a:cs typeface="Quattrocento Sans"/>
              <a:sym typeface="Quattrocento Sans"/>
            </a:endParaRPr>
          </a:p>
        </p:txBody>
      </p:sp>
      <p:sp>
        <p:nvSpPr>
          <p:cNvPr id="266" name="Google Shape;266;g3a661288f2b_0_130"/>
          <p:cNvSpPr/>
          <p:nvPr/>
        </p:nvSpPr>
        <p:spPr>
          <a:xfrm>
            <a:off x="6738350" y="1794950"/>
            <a:ext cx="2297400" cy="2104500"/>
          </a:xfrm>
          <a:prstGeom prst="ellipse">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67" name="Google Shape;267;g3a661288f2b_0_130"/>
          <p:cNvSpPr txBox="1"/>
          <p:nvPr/>
        </p:nvSpPr>
        <p:spPr>
          <a:xfrm>
            <a:off x="7380200" y="192826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axiologique</a:t>
            </a:r>
            <a:endParaRPr sz="1200" b="1" i="0" u="none" strike="noStrike" cap="none">
              <a:solidFill>
                <a:schemeClr val="dk1"/>
              </a:solidFill>
              <a:latin typeface="Quattrocento Sans"/>
              <a:ea typeface="Quattrocento Sans"/>
              <a:cs typeface="Quattrocento Sans"/>
              <a:sym typeface="Quattrocento Sans"/>
            </a:endParaRPr>
          </a:p>
        </p:txBody>
      </p:sp>
      <p:sp>
        <p:nvSpPr>
          <p:cNvPr id="268" name="Google Shape;268;g3a661288f2b_0_130"/>
          <p:cNvSpPr txBox="1"/>
          <p:nvPr/>
        </p:nvSpPr>
        <p:spPr>
          <a:xfrm>
            <a:off x="6738350" y="2188850"/>
            <a:ext cx="2334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Jugements fondés sur la morale/éthique/idéologie</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Il est un </a:t>
            </a:r>
            <a:r>
              <a:rPr lang="it" sz="1200" b="0" i="1" u="sng" strike="noStrike" cap="none">
                <a:solidFill>
                  <a:srgbClr val="000000"/>
                </a:solidFill>
                <a:latin typeface="Quattrocento Sans"/>
                <a:ea typeface="Quattrocento Sans"/>
                <a:cs typeface="Quattrocento Sans"/>
                <a:sym typeface="Quattrocento Sans"/>
              </a:rPr>
              <a:t>salaud</a:t>
            </a:r>
            <a:r>
              <a:rPr lang="it" sz="1200" b="0" i="1" u="none" strike="noStrike" cap="none">
                <a:solidFill>
                  <a:srgbClr val="000000"/>
                </a:solidFill>
                <a:latin typeface="Quattrocento Sans"/>
                <a:ea typeface="Quattrocento Sans"/>
                <a:cs typeface="Quattrocento Sans"/>
                <a:sym typeface="Quattrocento Sans"/>
              </a:rPr>
              <a:t>.</a:t>
            </a:r>
            <a:endParaRPr sz="1200" b="0" i="1" u="none" strike="noStrike" cap="none">
              <a:solidFill>
                <a:srgbClr val="000000"/>
              </a:solidFill>
              <a:latin typeface="Quattrocento Sans"/>
              <a:ea typeface="Quattrocento Sans"/>
              <a:cs typeface="Quattrocento Sans"/>
              <a:sym typeface="Quattrocento Sans"/>
            </a:endParaRPr>
          </a:p>
        </p:txBody>
      </p:sp>
      <p:sp>
        <p:nvSpPr>
          <p:cNvPr id="269" name="Google Shape;269;g3a661288f2b_0_130"/>
          <p:cNvSpPr/>
          <p:nvPr/>
        </p:nvSpPr>
        <p:spPr>
          <a:xfrm>
            <a:off x="4100825" y="3007475"/>
            <a:ext cx="2297400" cy="2104500"/>
          </a:xfrm>
          <a:prstGeom prst="ellipse">
            <a:avLst/>
          </a:prstGeom>
          <a:solidFill>
            <a:srgbClr val="212323">
              <a:alpha val="200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70" name="Google Shape;270;g3a661288f2b_0_130"/>
          <p:cNvSpPr txBox="1"/>
          <p:nvPr/>
        </p:nvSpPr>
        <p:spPr>
          <a:xfrm>
            <a:off x="4854475" y="3103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déontique</a:t>
            </a:r>
            <a:endParaRPr sz="1200" b="1" i="0" u="none" strike="noStrike" cap="none">
              <a:solidFill>
                <a:schemeClr val="dk1"/>
              </a:solidFill>
              <a:latin typeface="Quattrocento Sans"/>
              <a:ea typeface="Quattrocento Sans"/>
              <a:cs typeface="Quattrocento Sans"/>
              <a:sym typeface="Quattrocento Sans"/>
            </a:endParaRPr>
          </a:p>
        </p:txBody>
      </p:sp>
      <p:sp>
        <p:nvSpPr>
          <p:cNvPr id="271" name="Google Shape;271;g3a661288f2b_0_130"/>
          <p:cNvSpPr txBox="1"/>
          <p:nvPr/>
        </p:nvSpPr>
        <p:spPr>
          <a:xfrm>
            <a:off x="4100825" y="3401375"/>
            <a:ext cx="23349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obligation / interdiction / permission / facultativité</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Vous </a:t>
            </a:r>
            <a:r>
              <a:rPr lang="it" sz="1200" b="0" i="1" u="sng" strike="noStrike" cap="none">
                <a:solidFill>
                  <a:srgbClr val="000000"/>
                </a:solidFill>
                <a:latin typeface="Quattrocento Sans"/>
                <a:ea typeface="Quattrocento Sans"/>
                <a:cs typeface="Quattrocento Sans"/>
                <a:sym typeface="Quattrocento Sans"/>
              </a:rPr>
              <a:t>devez</a:t>
            </a:r>
            <a:r>
              <a:rPr lang="it" sz="1200" b="0" i="1" u="none" strike="noStrike" cap="none">
                <a:solidFill>
                  <a:srgbClr val="000000"/>
                </a:solidFill>
                <a:latin typeface="Quattrocento Sans"/>
                <a:ea typeface="Quattrocento Sans"/>
                <a:cs typeface="Quattrocento Sans"/>
                <a:sym typeface="Quattrocento Sans"/>
              </a:rPr>
              <a:t> sortir.</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000000"/>
              </a:solidFill>
              <a:latin typeface="Quattrocento Sans"/>
              <a:ea typeface="Quattrocento Sans"/>
              <a:cs typeface="Quattrocento Sans"/>
              <a:sym typeface="Quattrocento Sans"/>
            </a:endParaRPr>
          </a:p>
        </p:txBody>
      </p:sp>
      <p:sp>
        <p:nvSpPr>
          <p:cNvPr id="272" name="Google Shape;272;g3a661288f2b_0_130"/>
          <p:cNvSpPr/>
          <p:nvPr/>
        </p:nvSpPr>
        <p:spPr>
          <a:xfrm>
            <a:off x="1528350" y="3007475"/>
            <a:ext cx="2297400" cy="21045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73" name="Google Shape;273;g3a661288f2b_0_130"/>
          <p:cNvSpPr txBox="1"/>
          <p:nvPr/>
        </p:nvSpPr>
        <p:spPr>
          <a:xfrm>
            <a:off x="2282000" y="3103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boulique</a:t>
            </a:r>
            <a:endParaRPr sz="1200" b="1" i="0" u="none" strike="noStrike" cap="none">
              <a:solidFill>
                <a:schemeClr val="dk1"/>
              </a:solidFill>
              <a:latin typeface="Quattrocento Sans"/>
              <a:ea typeface="Quattrocento Sans"/>
              <a:cs typeface="Quattrocento Sans"/>
              <a:sym typeface="Quattrocento Sans"/>
            </a:endParaRPr>
          </a:p>
        </p:txBody>
      </p:sp>
      <p:sp>
        <p:nvSpPr>
          <p:cNvPr id="274" name="Google Shape;274;g3a661288f2b_0_130"/>
          <p:cNvSpPr txBox="1"/>
          <p:nvPr/>
        </p:nvSpPr>
        <p:spPr>
          <a:xfrm>
            <a:off x="1528350" y="3401375"/>
            <a:ext cx="2334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Désirs / volontés / souhaits</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Je </a:t>
            </a:r>
            <a:r>
              <a:rPr lang="it" sz="1200" b="0" i="1" u="sng" strike="noStrike" cap="none">
                <a:solidFill>
                  <a:srgbClr val="000000"/>
                </a:solidFill>
                <a:latin typeface="Quattrocento Sans"/>
                <a:ea typeface="Quattrocento Sans"/>
                <a:cs typeface="Quattrocento Sans"/>
                <a:sym typeface="Quattrocento Sans"/>
              </a:rPr>
              <a:t>veux</a:t>
            </a:r>
            <a:r>
              <a:rPr lang="it" sz="1200" b="0" i="1" u="none" strike="noStrike" cap="none">
                <a:solidFill>
                  <a:srgbClr val="000000"/>
                </a:solidFill>
                <a:latin typeface="Quattrocento Sans"/>
                <a:ea typeface="Quattrocento Sans"/>
                <a:cs typeface="Quattrocento Sans"/>
                <a:sym typeface="Quattrocento Sans"/>
              </a:rPr>
              <a:t> sortir.</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000000"/>
              </a:solidFill>
              <a:latin typeface="Quattrocento Sans"/>
              <a:ea typeface="Quattrocento Sans"/>
              <a:cs typeface="Quattrocento Sans"/>
              <a:sym typeface="Quattrocento Sans"/>
            </a:endParaRPr>
          </a:p>
        </p:txBody>
      </p:sp>
      <p:sp>
        <p:nvSpPr>
          <p:cNvPr id="275" name="Google Shape;275;g3a661288f2b_0_130"/>
          <p:cNvSpPr/>
          <p:nvPr/>
        </p:nvSpPr>
        <p:spPr>
          <a:xfrm>
            <a:off x="6200" y="2501725"/>
            <a:ext cx="8147675" cy="2635175"/>
          </a:xfrm>
          <a:custGeom>
            <a:avLst/>
            <a:gdLst/>
            <a:ahLst/>
            <a:cxnLst/>
            <a:rect l="l" t="t" r="r" b="b"/>
            <a:pathLst>
              <a:path w="325907" h="105407" extrusionOk="0">
                <a:moveTo>
                  <a:pt x="0" y="0"/>
                </a:moveTo>
                <a:cubicBezTo>
                  <a:pt x="19165" y="19165"/>
                  <a:pt x="51653" y="23856"/>
                  <a:pt x="78590" y="20858"/>
                </a:cubicBezTo>
                <a:cubicBezTo>
                  <a:pt x="92724" y="19285"/>
                  <a:pt x="106116" y="12864"/>
                  <a:pt x="120306" y="11919"/>
                </a:cubicBezTo>
                <a:cubicBezTo>
                  <a:pt x="127549" y="11437"/>
                  <a:pt x="135191" y="13237"/>
                  <a:pt x="141537" y="16761"/>
                </a:cubicBezTo>
                <a:cubicBezTo>
                  <a:pt x="148678" y="20726"/>
                  <a:pt x="156882" y="27539"/>
                  <a:pt x="164630" y="24955"/>
                </a:cubicBezTo>
                <a:cubicBezTo>
                  <a:pt x="174857" y="21544"/>
                  <a:pt x="183028" y="13557"/>
                  <a:pt x="192937" y="9311"/>
                </a:cubicBezTo>
                <a:cubicBezTo>
                  <a:pt x="201410" y="5681"/>
                  <a:pt x="211430" y="5428"/>
                  <a:pt x="220499" y="7077"/>
                </a:cubicBezTo>
                <a:cubicBezTo>
                  <a:pt x="236630" y="10010"/>
                  <a:pt x="249131" y="23790"/>
                  <a:pt x="260725" y="35384"/>
                </a:cubicBezTo>
                <a:cubicBezTo>
                  <a:pt x="263940" y="38599"/>
                  <a:pt x="268262" y="40478"/>
                  <a:pt x="271899" y="43206"/>
                </a:cubicBezTo>
                <a:cubicBezTo>
                  <a:pt x="279630" y="49004"/>
                  <a:pt x="284807" y="57603"/>
                  <a:pt x="291640" y="64436"/>
                </a:cubicBezTo>
                <a:cubicBezTo>
                  <a:pt x="304229" y="77025"/>
                  <a:pt x="325907" y="87603"/>
                  <a:pt x="325907" y="10540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6" name="Google Shape;276;g3a661288f2b_0_13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13</a:t>
            </a:fld>
            <a:endParaRPr/>
          </a:p>
        </p:txBody>
      </p:sp>
      <p:sp>
        <p:nvSpPr>
          <p:cNvPr id="277" name="Google Shape;277;g3a661288f2b_0_130"/>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a661288f2b_0_155"/>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Les types de modalité</a:t>
            </a:r>
            <a:endParaRPr sz="2600" b="1" i="0" u="none" strike="noStrike" cap="none">
              <a:solidFill>
                <a:srgbClr val="097D3F"/>
              </a:solidFill>
              <a:latin typeface="Quattrocento Sans"/>
              <a:ea typeface="Quattrocento Sans"/>
              <a:cs typeface="Quattrocento Sans"/>
              <a:sym typeface="Quattrocento Sans"/>
            </a:endParaRPr>
          </a:p>
        </p:txBody>
      </p:sp>
      <p:sp>
        <p:nvSpPr>
          <p:cNvPr id="283" name="Google Shape;283;g3a661288f2b_0_155"/>
          <p:cNvSpPr/>
          <p:nvPr/>
        </p:nvSpPr>
        <p:spPr>
          <a:xfrm>
            <a:off x="278700" y="557375"/>
            <a:ext cx="2297400" cy="21045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84" name="Google Shape;284;g3a661288f2b_0_155"/>
          <p:cNvSpPr txBox="1"/>
          <p:nvPr/>
        </p:nvSpPr>
        <p:spPr>
          <a:xfrm>
            <a:off x="1032350" y="6534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666666"/>
                </a:solidFill>
                <a:latin typeface="Quattrocento Sans"/>
                <a:ea typeface="Quattrocento Sans"/>
                <a:cs typeface="Quattrocento Sans"/>
                <a:sym typeface="Quattrocento Sans"/>
              </a:rPr>
              <a:t>aléthique</a:t>
            </a:r>
            <a:endParaRPr sz="1200" b="1" i="0" u="none" strike="noStrike" cap="none">
              <a:solidFill>
                <a:srgbClr val="666666"/>
              </a:solidFill>
              <a:latin typeface="Quattrocento Sans"/>
              <a:ea typeface="Quattrocento Sans"/>
              <a:cs typeface="Quattrocento Sans"/>
              <a:sym typeface="Quattrocento Sans"/>
            </a:endParaRPr>
          </a:p>
        </p:txBody>
      </p:sp>
      <p:sp>
        <p:nvSpPr>
          <p:cNvPr id="285" name="Google Shape;285;g3a661288f2b_0_155"/>
          <p:cNvSpPr txBox="1"/>
          <p:nvPr/>
        </p:nvSpPr>
        <p:spPr>
          <a:xfrm>
            <a:off x="278700" y="951275"/>
            <a:ext cx="2334900" cy="1662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666666"/>
                </a:solidFill>
                <a:latin typeface="Quattrocento Sans"/>
                <a:ea typeface="Quattrocento Sans"/>
                <a:cs typeface="Quattrocento Sans"/>
                <a:sym typeface="Quattrocento Sans"/>
              </a:rPr>
              <a:t>Jugement présenté comme une vérité objective, indépendante du locuteur.</a:t>
            </a: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Il </a:t>
            </a:r>
            <a:r>
              <a:rPr lang="it" sz="1200" b="0" i="1" u="sng" strike="noStrike" cap="none">
                <a:solidFill>
                  <a:srgbClr val="666666"/>
                </a:solidFill>
                <a:latin typeface="Quattrocento Sans"/>
                <a:ea typeface="Quattrocento Sans"/>
                <a:cs typeface="Quattrocento Sans"/>
                <a:sym typeface="Quattrocento Sans"/>
              </a:rPr>
              <a:t>neige</a:t>
            </a:r>
            <a:r>
              <a:rPr lang="it" sz="1200" b="0" i="1" u="none" strike="noStrike" cap="none">
                <a:solidFill>
                  <a:srgbClr val="666666"/>
                </a:solidFill>
                <a:latin typeface="Quattrocento Sans"/>
                <a:ea typeface="Quattrocento Sans"/>
                <a:cs typeface="Quattrocento Sans"/>
                <a:sym typeface="Quattrocento Sans"/>
              </a:rPr>
              <a:t>.</a:t>
            </a: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Un triangle a </a:t>
            </a:r>
            <a:r>
              <a:rPr lang="it" sz="1200" b="0" i="1" u="sng" strike="noStrike" cap="none">
                <a:solidFill>
                  <a:srgbClr val="666666"/>
                </a:solidFill>
                <a:latin typeface="Quattrocento Sans"/>
                <a:ea typeface="Quattrocento Sans"/>
                <a:cs typeface="Quattrocento Sans"/>
                <a:sym typeface="Quattrocento Sans"/>
              </a:rPr>
              <a:t>nécessairement</a:t>
            </a:r>
            <a:r>
              <a:rPr lang="it" sz="1200" b="0" i="1" u="none" strike="noStrike" cap="none">
                <a:solidFill>
                  <a:srgbClr val="666666"/>
                </a:solidFill>
                <a:latin typeface="Quattrocento Sans"/>
                <a:ea typeface="Quattrocento Sans"/>
                <a:cs typeface="Quattrocento Sans"/>
                <a:sym typeface="Quattrocento Sans"/>
              </a:rPr>
              <a:t> trois angles</a:t>
            </a: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Quattrocento Sans"/>
              <a:ea typeface="Quattrocento Sans"/>
              <a:cs typeface="Quattrocento Sans"/>
              <a:sym typeface="Quattrocento Sans"/>
            </a:endParaRPr>
          </a:p>
        </p:txBody>
      </p:sp>
      <p:sp>
        <p:nvSpPr>
          <p:cNvPr id="286" name="Google Shape;286;g3a661288f2b_0_155"/>
          <p:cNvSpPr/>
          <p:nvPr/>
        </p:nvSpPr>
        <p:spPr>
          <a:xfrm>
            <a:off x="2693700" y="686850"/>
            <a:ext cx="2297400" cy="21045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87" name="Google Shape;287;g3a661288f2b_0_155"/>
          <p:cNvSpPr txBox="1"/>
          <p:nvPr/>
        </p:nvSpPr>
        <p:spPr>
          <a:xfrm>
            <a:off x="3261125" y="900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chemeClr val="dk1"/>
                </a:solidFill>
                <a:latin typeface="Quattrocento Sans"/>
                <a:ea typeface="Quattrocento Sans"/>
                <a:cs typeface="Quattrocento Sans"/>
                <a:sym typeface="Quattrocento Sans"/>
              </a:rPr>
              <a:t>épistémique</a:t>
            </a:r>
            <a:endParaRPr sz="1200" b="1" i="0" u="none" strike="noStrike" cap="none">
              <a:solidFill>
                <a:schemeClr val="dk1"/>
              </a:solidFill>
              <a:latin typeface="Quattrocento Sans"/>
              <a:ea typeface="Quattrocento Sans"/>
              <a:cs typeface="Quattrocento Sans"/>
              <a:sym typeface="Quattrocento Sans"/>
            </a:endParaRPr>
          </a:p>
        </p:txBody>
      </p:sp>
      <p:sp>
        <p:nvSpPr>
          <p:cNvPr id="288" name="Google Shape;288;g3a661288f2b_0_155"/>
          <p:cNvSpPr txBox="1"/>
          <p:nvPr/>
        </p:nvSpPr>
        <p:spPr>
          <a:xfrm>
            <a:off x="2693700" y="1080750"/>
            <a:ext cx="23349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000000"/>
                </a:solidFill>
                <a:latin typeface="Quattrocento Sans"/>
                <a:ea typeface="Quattrocento Sans"/>
                <a:cs typeface="Quattrocento Sans"/>
                <a:sym typeface="Quattrocento Sans"/>
              </a:rPr>
              <a:t>Jugements subjectifs sur la réalité (mais pas de valeur).</a:t>
            </a: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La pièce est </a:t>
            </a:r>
            <a:r>
              <a:rPr lang="it" sz="1200" b="0" i="1" u="sng" strike="noStrike" cap="none">
                <a:solidFill>
                  <a:srgbClr val="000000"/>
                </a:solidFill>
                <a:latin typeface="Quattrocento Sans"/>
                <a:ea typeface="Quattrocento Sans"/>
                <a:cs typeface="Quattrocento Sans"/>
                <a:sym typeface="Quattrocento Sans"/>
              </a:rPr>
              <a:t>petite</a:t>
            </a:r>
            <a:r>
              <a:rPr lang="it" sz="1200" b="0" i="1" u="none" strike="noStrike" cap="none">
                <a:solidFill>
                  <a:srgbClr val="000000"/>
                </a:solidFill>
                <a:latin typeface="Quattrocento Sans"/>
                <a:ea typeface="Quattrocento Sans"/>
                <a:cs typeface="Quattrocento Sans"/>
                <a:sym typeface="Quattrocento Sans"/>
              </a:rPr>
              <a:t>.</a:t>
            </a:r>
            <a:endParaRPr sz="1200" b="0" i="1"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000000"/>
                </a:solidFill>
                <a:latin typeface="Quattrocento Sans"/>
                <a:ea typeface="Quattrocento Sans"/>
                <a:cs typeface="Quattrocento Sans"/>
                <a:sym typeface="Quattrocento Sans"/>
              </a:rPr>
              <a:t>Il est </a:t>
            </a:r>
            <a:r>
              <a:rPr lang="it" sz="1200" b="0" i="1" u="sng" strike="noStrike" cap="none">
                <a:solidFill>
                  <a:srgbClr val="000000"/>
                </a:solidFill>
                <a:latin typeface="Quattrocento Sans"/>
                <a:ea typeface="Quattrocento Sans"/>
                <a:cs typeface="Quattrocento Sans"/>
                <a:sym typeface="Quattrocento Sans"/>
              </a:rPr>
              <a:t>certainement</a:t>
            </a:r>
            <a:r>
              <a:rPr lang="it" sz="1200" b="0" i="1" u="none" strike="noStrike" cap="none">
                <a:solidFill>
                  <a:srgbClr val="000000"/>
                </a:solidFill>
                <a:latin typeface="Quattrocento Sans"/>
                <a:ea typeface="Quattrocento Sans"/>
                <a:cs typeface="Quattrocento Sans"/>
                <a:sym typeface="Quattrocento Sans"/>
              </a:rPr>
              <a:t> malade.</a:t>
            </a:r>
            <a:endParaRPr sz="1200" b="0" i="1" u="none" strike="noStrike" cap="none">
              <a:solidFill>
                <a:srgbClr val="000000"/>
              </a:solidFill>
              <a:latin typeface="Quattrocento Sans"/>
              <a:ea typeface="Quattrocento Sans"/>
              <a:cs typeface="Quattrocento Sans"/>
              <a:sym typeface="Quattrocento Sans"/>
            </a:endParaRPr>
          </a:p>
        </p:txBody>
      </p:sp>
      <p:sp>
        <p:nvSpPr>
          <p:cNvPr id="289" name="Google Shape;289;g3a661288f2b_0_155"/>
          <p:cNvSpPr/>
          <p:nvPr/>
        </p:nvSpPr>
        <p:spPr>
          <a:xfrm>
            <a:off x="5018200" y="87875"/>
            <a:ext cx="2297400" cy="21045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90" name="Google Shape;290;g3a661288f2b_0_155"/>
          <p:cNvSpPr txBox="1"/>
          <p:nvPr/>
        </p:nvSpPr>
        <p:spPr>
          <a:xfrm>
            <a:off x="5660050" y="15506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666666"/>
                </a:solidFill>
                <a:latin typeface="Quattrocento Sans"/>
                <a:ea typeface="Quattrocento Sans"/>
                <a:cs typeface="Quattrocento Sans"/>
                <a:sym typeface="Quattrocento Sans"/>
              </a:rPr>
              <a:t>appréciative</a:t>
            </a:r>
            <a:endParaRPr sz="1200" b="1" i="0" u="none" strike="noStrike" cap="none">
              <a:solidFill>
                <a:srgbClr val="666666"/>
              </a:solidFill>
              <a:latin typeface="Quattrocento Sans"/>
              <a:ea typeface="Quattrocento Sans"/>
              <a:cs typeface="Quattrocento Sans"/>
              <a:sym typeface="Quattrocento Sans"/>
            </a:endParaRPr>
          </a:p>
        </p:txBody>
      </p:sp>
      <p:sp>
        <p:nvSpPr>
          <p:cNvPr id="291" name="Google Shape;291;g3a661288f2b_0_155"/>
          <p:cNvSpPr txBox="1"/>
          <p:nvPr/>
        </p:nvSpPr>
        <p:spPr>
          <a:xfrm>
            <a:off x="5018200" y="481775"/>
            <a:ext cx="23349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666666"/>
                </a:solidFill>
                <a:latin typeface="Quattrocento Sans"/>
                <a:ea typeface="Quattrocento Sans"/>
                <a:cs typeface="Quattrocento Sans"/>
                <a:sym typeface="Quattrocento Sans"/>
              </a:rPr>
              <a:t>Jugements subjectifs de valeur sur la réalité.</a:t>
            </a:r>
            <a:endParaRPr sz="1200" b="0" i="0" u="none" strike="noStrike" cap="none">
              <a:solidFill>
                <a:srgbClr val="666666"/>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Il est </a:t>
            </a:r>
            <a:r>
              <a:rPr lang="it" sz="1200" b="0" i="1" u="sng" strike="noStrike" cap="none">
                <a:solidFill>
                  <a:srgbClr val="666666"/>
                </a:solidFill>
                <a:latin typeface="Quattrocento Sans"/>
                <a:ea typeface="Quattrocento Sans"/>
                <a:cs typeface="Quattrocento Sans"/>
                <a:sym typeface="Quattrocento Sans"/>
              </a:rPr>
              <a:t>joli</a:t>
            </a:r>
            <a:endParaRPr sz="1200" b="0" i="1" u="sng"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sng" strike="noStrike" cap="none">
                <a:solidFill>
                  <a:srgbClr val="666666"/>
                </a:solidFill>
                <a:latin typeface="Quattrocento Sans"/>
                <a:ea typeface="Quattrocento Sans"/>
                <a:cs typeface="Quattrocento Sans"/>
                <a:sym typeface="Quattrocento Sans"/>
              </a:rPr>
              <a:t>Heureusement</a:t>
            </a:r>
            <a:r>
              <a:rPr lang="it" sz="1200" b="0" i="1" u="none" strike="noStrike" cap="none">
                <a:solidFill>
                  <a:srgbClr val="666666"/>
                </a:solidFill>
                <a:latin typeface="Quattrocento Sans"/>
                <a:ea typeface="Quattrocento Sans"/>
                <a:cs typeface="Quattrocento Sans"/>
                <a:sym typeface="Quattrocento Sans"/>
              </a:rPr>
              <a:t> qu’il est venu</a:t>
            </a: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Quattrocento Sans"/>
              <a:ea typeface="Quattrocento Sans"/>
              <a:cs typeface="Quattrocento Sans"/>
              <a:sym typeface="Quattrocento Sans"/>
            </a:endParaRPr>
          </a:p>
        </p:txBody>
      </p:sp>
      <p:sp>
        <p:nvSpPr>
          <p:cNvPr id="292" name="Google Shape;292;g3a661288f2b_0_155"/>
          <p:cNvSpPr/>
          <p:nvPr/>
        </p:nvSpPr>
        <p:spPr>
          <a:xfrm>
            <a:off x="6738350" y="1794950"/>
            <a:ext cx="2297400" cy="21045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93" name="Google Shape;293;g3a661288f2b_0_155"/>
          <p:cNvSpPr txBox="1"/>
          <p:nvPr/>
        </p:nvSpPr>
        <p:spPr>
          <a:xfrm>
            <a:off x="7380200" y="192826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666666"/>
                </a:solidFill>
                <a:latin typeface="Quattrocento Sans"/>
                <a:ea typeface="Quattrocento Sans"/>
                <a:cs typeface="Quattrocento Sans"/>
                <a:sym typeface="Quattrocento Sans"/>
              </a:rPr>
              <a:t>axiologique</a:t>
            </a:r>
            <a:endParaRPr sz="1200" b="1" i="0" u="none" strike="noStrike" cap="none">
              <a:solidFill>
                <a:srgbClr val="666666"/>
              </a:solidFill>
              <a:latin typeface="Quattrocento Sans"/>
              <a:ea typeface="Quattrocento Sans"/>
              <a:cs typeface="Quattrocento Sans"/>
              <a:sym typeface="Quattrocento Sans"/>
            </a:endParaRPr>
          </a:p>
        </p:txBody>
      </p:sp>
      <p:sp>
        <p:nvSpPr>
          <p:cNvPr id="294" name="Google Shape;294;g3a661288f2b_0_155"/>
          <p:cNvSpPr txBox="1"/>
          <p:nvPr/>
        </p:nvSpPr>
        <p:spPr>
          <a:xfrm>
            <a:off x="6738350" y="2188850"/>
            <a:ext cx="2334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666666"/>
                </a:solidFill>
                <a:latin typeface="Quattrocento Sans"/>
                <a:ea typeface="Quattrocento Sans"/>
                <a:cs typeface="Quattrocento Sans"/>
                <a:sym typeface="Quattrocento Sans"/>
              </a:rPr>
              <a:t>Jugements fondés sur la morale/éthique/idéologie</a:t>
            </a: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Il est un </a:t>
            </a:r>
            <a:r>
              <a:rPr lang="it" sz="1200" b="0" i="1" u="sng" strike="noStrike" cap="none">
                <a:solidFill>
                  <a:srgbClr val="666666"/>
                </a:solidFill>
                <a:latin typeface="Quattrocento Sans"/>
                <a:ea typeface="Quattrocento Sans"/>
                <a:cs typeface="Quattrocento Sans"/>
                <a:sym typeface="Quattrocento Sans"/>
              </a:rPr>
              <a:t>salaud</a:t>
            </a:r>
            <a:r>
              <a:rPr lang="it" sz="1200" b="0" i="1" u="none" strike="noStrike" cap="none">
                <a:solidFill>
                  <a:srgbClr val="666666"/>
                </a:solidFill>
                <a:latin typeface="Quattrocento Sans"/>
                <a:ea typeface="Quattrocento Sans"/>
                <a:cs typeface="Quattrocento Sans"/>
                <a:sym typeface="Quattrocento Sans"/>
              </a:rPr>
              <a:t>.</a:t>
            </a:r>
            <a:endParaRPr sz="1200" b="0" i="1" u="none" strike="noStrike" cap="none">
              <a:solidFill>
                <a:srgbClr val="666666"/>
              </a:solidFill>
              <a:latin typeface="Quattrocento Sans"/>
              <a:ea typeface="Quattrocento Sans"/>
              <a:cs typeface="Quattrocento Sans"/>
              <a:sym typeface="Quattrocento Sans"/>
            </a:endParaRPr>
          </a:p>
        </p:txBody>
      </p:sp>
      <p:sp>
        <p:nvSpPr>
          <p:cNvPr id="295" name="Google Shape;295;g3a661288f2b_0_155"/>
          <p:cNvSpPr/>
          <p:nvPr/>
        </p:nvSpPr>
        <p:spPr>
          <a:xfrm>
            <a:off x="4100825" y="3007475"/>
            <a:ext cx="2297400" cy="21045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96" name="Google Shape;296;g3a661288f2b_0_155"/>
          <p:cNvSpPr txBox="1"/>
          <p:nvPr/>
        </p:nvSpPr>
        <p:spPr>
          <a:xfrm>
            <a:off x="4854475" y="3103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666666"/>
                </a:solidFill>
                <a:latin typeface="Quattrocento Sans"/>
                <a:ea typeface="Quattrocento Sans"/>
                <a:cs typeface="Quattrocento Sans"/>
                <a:sym typeface="Quattrocento Sans"/>
              </a:rPr>
              <a:t>déontique</a:t>
            </a:r>
            <a:endParaRPr sz="1200" b="1" i="0" u="none" strike="noStrike" cap="none">
              <a:solidFill>
                <a:srgbClr val="666666"/>
              </a:solidFill>
              <a:latin typeface="Quattrocento Sans"/>
              <a:ea typeface="Quattrocento Sans"/>
              <a:cs typeface="Quattrocento Sans"/>
              <a:sym typeface="Quattrocento Sans"/>
            </a:endParaRPr>
          </a:p>
        </p:txBody>
      </p:sp>
      <p:sp>
        <p:nvSpPr>
          <p:cNvPr id="297" name="Google Shape;297;g3a661288f2b_0_155"/>
          <p:cNvSpPr txBox="1"/>
          <p:nvPr/>
        </p:nvSpPr>
        <p:spPr>
          <a:xfrm>
            <a:off x="4100825" y="3401375"/>
            <a:ext cx="23349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666666"/>
                </a:solidFill>
                <a:latin typeface="Quattrocento Sans"/>
                <a:ea typeface="Quattrocento Sans"/>
                <a:cs typeface="Quattrocento Sans"/>
                <a:sym typeface="Quattrocento Sans"/>
              </a:rPr>
              <a:t>obligation / interdiction / permission / facultativité</a:t>
            </a: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Vous </a:t>
            </a:r>
            <a:r>
              <a:rPr lang="it" sz="1200" b="0" i="1" u="sng" strike="noStrike" cap="none">
                <a:solidFill>
                  <a:srgbClr val="666666"/>
                </a:solidFill>
                <a:latin typeface="Quattrocento Sans"/>
                <a:ea typeface="Quattrocento Sans"/>
                <a:cs typeface="Quattrocento Sans"/>
                <a:sym typeface="Quattrocento Sans"/>
              </a:rPr>
              <a:t>devez</a:t>
            </a:r>
            <a:r>
              <a:rPr lang="it" sz="1200" b="0" i="1" u="none" strike="noStrike" cap="none">
                <a:solidFill>
                  <a:srgbClr val="666666"/>
                </a:solidFill>
                <a:latin typeface="Quattrocento Sans"/>
                <a:ea typeface="Quattrocento Sans"/>
                <a:cs typeface="Quattrocento Sans"/>
                <a:sym typeface="Quattrocento Sans"/>
              </a:rPr>
              <a:t> sortir.</a:t>
            </a: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Quattrocento Sans"/>
              <a:ea typeface="Quattrocento Sans"/>
              <a:cs typeface="Quattrocento Sans"/>
              <a:sym typeface="Quattrocento Sans"/>
            </a:endParaRPr>
          </a:p>
        </p:txBody>
      </p:sp>
      <p:sp>
        <p:nvSpPr>
          <p:cNvPr id="298" name="Google Shape;298;g3a661288f2b_0_155"/>
          <p:cNvSpPr/>
          <p:nvPr/>
        </p:nvSpPr>
        <p:spPr>
          <a:xfrm>
            <a:off x="1528350" y="3007475"/>
            <a:ext cx="2297400" cy="21045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99" name="Google Shape;299;g3a661288f2b_0_155"/>
          <p:cNvSpPr txBox="1"/>
          <p:nvPr/>
        </p:nvSpPr>
        <p:spPr>
          <a:xfrm>
            <a:off x="2282000" y="3103513"/>
            <a:ext cx="1013700" cy="33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666666"/>
                </a:solidFill>
                <a:latin typeface="Quattrocento Sans"/>
                <a:ea typeface="Quattrocento Sans"/>
                <a:cs typeface="Quattrocento Sans"/>
                <a:sym typeface="Quattrocento Sans"/>
              </a:rPr>
              <a:t>boulique</a:t>
            </a:r>
            <a:endParaRPr sz="1200" b="1" i="0" u="none" strike="noStrike" cap="none">
              <a:solidFill>
                <a:srgbClr val="666666"/>
              </a:solidFill>
              <a:latin typeface="Quattrocento Sans"/>
              <a:ea typeface="Quattrocento Sans"/>
              <a:cs typeface="Quattrocento Sans"/>
              <a:sym typeface="Quattrocento Sans"/>
            </a:endParaRPr>
          </a:p>
        </p:txBody>
      </p:sp>
      <p:sp>
        <p:nvSpPr>
          <p:cNvPr id="300" name="Google Shape;300;g3a661288f2b_0_155"/>
          <p:cNvSpPr txBox="1"/>
          <p:nvPr/>
        </p:nvSpPr>
        <p:spPr>
          <a:xfrm>
            <a:off x="1528350" y="3401375"/>
            <a:ext cx="2334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it" sz="1200" b="0" i="0" u="none" strike="noStrike" cap="none">
                <a:solidFill>
                  <a:srgbClr val="666666"/>
                </a:solidFill>
                <a:latin typeface="Quattrocento Sans"/>
                <a:ea typeface="Quattrocento Sans"/>
                <a:cs typeface="Quattrocento Sans"/>
                <a:sym typeface="Quattrocento Sans"/>
              </a:rPr>
              <a:t>Désirs / volontés / souhaits</a:t>
            </a: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r>
              <a:rPr lang="it" sz="1200" b="0" i="1" u="none" strike="noStrike" cap="none">
                <a:solidFill>
                  <a:srgbClr val="666666"/>
                </a:solidFill>
                <a:latin typeface="Quattrocento Sans"/>
                <a:ea typeface="Quattrocento Sans"/>
                <a:cs typeface="Quattrocento Sans"/>
                <a:sym typeface="Quattrocento Sans"/>
              </a:rPr>
              <a:t>Je </a:t>
            </a:r>
            <a:r>
              <a:rPr lang="it" sz="1200" b="0" i="1" u="sng" strike="noStrike" cap="none">
                <a:solidFill>
                  <a:srgbClr val="666666"/>
                </a:solidFill>
                <a:latin typeface="Quattrocento Sans"/>
                <a:ea typeface="Quattrocento Sans"/>
                <a:cs typeface="Quattrocento Sans"/>
                <a:sym typeface="Quattrocento Sans"/>
              </a:rPr>
              <a:t>veux</a:t>
            </a:r>
            <a:r>
              <a:rPr lang="it" sz="1200" b="0" i="1" u="none" strike="noStrike" cap="none">
                <a:solidFill>
                  <a:srgbClr val="666666"/>
                </a:solidFill>
                <a:latin typeface="Quattrocento Sans"/>
                <a:ea typeface="Quattrocento Sans"/>
                <a:cs typeface="Quattrocento Sans"/>
                <a:sym typeface="Quattrocento Sans"/>
              </a:rPr>
              <a:t> sortir.</a:t>
            </a:r>
            <a:endParaRPr sz="1200" b="0" i="1" u="none" strike="noStrike" cap="none">
              <a:solidFill>
                <a:srgbClr val="666666"/>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Quattrocento Sans"/>
              <a:ea typeface="Quattrocento Sans"/>
              <a:cs typeface="Quattrocento Sans"/>
              <a:sym typeface="Quattrocento Sans"/>
            </a:endParaRPr>
          </a:p>
        </p:txBody>
      </p:sp>
      <p:sp>
        <p:nvSpPr>
          <p:cNvPr id="301" name="Google Shape;301;g3a661288f2b_0_155"/>
          <p:cNvSpPr/>
          <p:nvPr/>
        </p:nvSpPr>
        <p:spPr>
          <a:xfrm>
            <a:off x="6200" y="2501725"/>
            <a:ext cx="8147675" cy="2635175"/>
          </a:xfrm>
          <a:custGeom>
            <a:avLst/>
            <a:gdLst/>
            <a:ahLst/>
            <a:cxnLst/>
            <a:rect l="l" t="t" r="r" b="b"/>
            <a:pathLst>
              <a:path w="325907" h="105407" extrusionOk="0">
                <a:moveTo>
                  <a:pt x="0" y="0"/>
                </a:moveTo>
                <a:cubicBezTo>
                  <a:pt x="19165" y="19165"/>
                  <a:pt x="51653" y="23856"/>
                  <a:pt x="78590" y="20858"/>
                </a:cubicBezTo>
                <a:cubicBezTo>
                  <a:pt x="92724" y="19285"/>
                  <a:pt x="106116" y="12864"/>
                  <a:pt x="120306" y="11919"/>
                </a:cubicBezTo>
                <a:cubicBezTo>
                  <a:pt x="127549" y="11437"/>
                  <a:pt x="135191" y="13237"/>
                  <a:pt x="141537" y="16761"/>
                </a:cubicBezTo>
                <a:cubicBezTo>
                  <a:pt x="148678" y="20726"/>
                  <a:pt x="156882" y="27539"/>
                  <a:pt x="164630" y="24955"/>
                </a:cubicBezTo>
                <a:cubicBezTo>
                  <a:pt x="174857" y="21544"/>
                  <a:pt x="183028" y="13557"/>
                  <a:pt x="192937" y="9311"/>
                </a:cubicBezTo>
                <a:cubicBezTo>
                  <a:pt x="201410" y="5681"/>
                  <a:pt x="211430" y="5428"/>
                  <a:pt x="220499" y="7077"/>
                </a:cubicBezTo>
                <a:cubicBezTo>
                  <a:pt x="236630" y="10010"/>
                  <a:pt x="249131" y="23790"/>
                  <a:pt x="260725" y="35384"/>
                </a:cubicBezTo>
                <a:cubicBezTo>
                  <a:pt x="263940" y="38599"/>
                  <a:pt x="268262" y="40478"/>
                  <a:pt x="271899" y="43206"/>
                </a:cubicBezTo>
                <a:cubicBezTo>
                  <a:pt x="279630" y="49004"/>
                  <a:pt x="284807" y="57603"/>
                  <a:pt x="291640" y="64436"/>
                </a:cubicBezTo>
                <a:cubicBezTo>
                  <a:pt x="304229" y="77025"/>
                  <a:pt x="325907" y="87603"/>
                  <a:pt x="325907" y="105407"/>
                </a:cubicBez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 name="Google Shape;302;g3a661288f2b_0_15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14</a:t>
            </a:fld>
            <a:endParaRPr/>
          </a:p>
        </p:txBody>
      </p:sp>
      <p:sp>
        <p:nvSpPr>
          <p:cNvPr id="303" name="Google Shape;303;g3a661288f2b_0_155"/>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a661288f2b_0_180"/>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a:t>
            </a:r>
            <a:endParaRPr sz="2600" b="1" i="0" u="none" strike="noStrike" cap="none">
              <a:solidFill>
                <a:srgbClr val="097D3F"/>
              </a:solidFill>
              <a:latin typeface="Quattrocento Sans"/>
              <a:ea typeface="Quattrocento Sans"/>
              <a:cs typeface="Quattrocento Sans"/>
              <a:sym typeface="Quattrocento Sans"/>
            </a:endParaRPr>
          </a:p>
        </p:txBody>
      </p:sp>
      <p:sp>
        <p:nvSpPr>
          <p:cNvPr id="309" name="Google Shape;309;g3a661288f2b_0_180"/>
          <p:cNvSpPr txBox="1"/>
          <p:nvPr/>
        </p:nvSpPr>
        <p:spPr>
          <a:xfrm>
            <a:off x="376725" y="1082675"/>
            <a:ext cx="8489100" cy="221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0" i="0" u="none" strike="noStrike" cap="none">
                <a:solidFill>
                  <a:srgbClr val="000000"/>
                </a:solidFill>
                <a:latin typeface="Quattrocento Sans"/>
                <a:ea typeface="Quattrocento Sans"/>
                <a:cs typeface="Quattrocento Sans"/>
                <a:sym typeface="Quattrocento Sans"/>
              </a:rPr>
              <a:t>Rappel de la </a:t>
            </a:r>
            <a:r>
              <a:rPr lang="it" sz="1400" b="1" i="0" u="none" strike="noStrike" cap="none">
                <a:solidFill>
                  <a:srgbClr val="000000"/>
                </a:solidFill>
                <a:latin typeface="Quattrocento Sans"/>
                <a:ea typeface="Quattrocento Sans"/>
                <a:cs typeface="Quattrocento Sans"/>
                <a:sym typeface="Quattrocento Sans"/>
              </a:rPr>
              <a:t>définition : </a:t>
            </a:r>
            <a:r>
              <a:rPr lang="it" sz="1400" b="0" i="0" u="none" strike="noStrike" cap="none">
                <a:solidFill>
                  <a:srgbClr val="000000"/>
                </a:solidFill>
                <a:latin typeface="Quattrocento Sans"/>
                <a:ea typeface="Quattrocento Sans"/>
                <a:cs typeface="Quattrocento Sans"/>
                <a:sym typeface="Quattrocento Sans"/>
              </a:rPr>
              <a:t>Jugements subjectifs sur la réalité (mais pas des jugements de valeur).</a:t>
            </a:r>
            <a:endParaRPr sz="1400" b="0" i="0" u="none" strike="noStrike" cap="none">
              <a:solidFill>
                <a:srgbClr val="000000"/>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00000"/>
                </a:solidFill>
                <a:latin typeface="Quattrocento Sans"/>
                <a:ea typeface="Quattrocento Sans"/>
                <a:cs typeface="Quattrocento Sans"/>
                <a:sym typeface="Quattrocento Sans"/>
              </a:rPr>
              <a:t>Quelques exemples :</a:t>
            </a:r>
            <a:endParaRPr sz="1400" b="1" i="0" u="none" strike="noStrike" cap="none">
              <a:solidFill>
                <a:srgbClr val="000000"/>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rgbClr val="000000"/>
              </a:buClr>
              <a:buSzPts val="1200"/>
              <a:buFont typeface="Quattrocento Sans"/>
              <a:buAutoNum type="arabicPeriod"/>
            </a:pPr>
            <a:r>
              <a:rPr lang="it" sz="1200" b="0" i="1" u="none" strike="noStrike" cap="none">
                <a:solidFill>
                  <a:srgbClr val="000000"/>
                </a:solidFill>
                <a:latin typeface="Quattrocento Sans"/>
                <a:ea typeface="Quattrocento Sans"/>
                <a:cs typeface="Quattrocento Sans"/>
                <a:sym typeface="Quattrocento Sans"/>
              </a:rPr>
              <a:t>La pièce est </a:t>
            </a:r>
            <a:r>
              <a:rPr lang="it" sz="1200" b="0" i="1" u="sng" strike="noStrike" cap="none">
                <a:solidFill>
                  <a:srgbClr val="000000"/>
                </a:solidFill>
                <a:latin typeface="Quattrocento Sans"/>
                <a:ea typeface="Quattrocento Sans"/>
                <a:cs typeface="Quattrocento Sans"/>
                <a:sym typeface="Quattrocento Sans"/>
              </a:rPr>
              <a:t>petite</a:t>
            </a:r>
            <a:r>
              <a:rPr lang="it" sz="1200" b="0" i="1" u="none" strike="noStrike" cap="none">
                <a:solidFill>
                  <a:srgbClr val="000000"/>
                </a:solidFill>
                <a:latin typeface="Quattrocento Sans"/>
                <a:ea typeface="Quattrocento Sans"/>
                <a:cs typeface="Quattrocento Sans"/>
                <a:sym typeface="Quattrocento Sans"/>
              </a:rPr>
              <a:t>.</a:t>
            </a:r>
            <a:endParaRPr sz="1200" b="0" i="1" u="none" strike="noStrike" cap="none">
              <a:solidFill>
                <a:srgbClr val="000000"/>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rgbClr val="000000"/>
              </a:buClr>
              <a:buSzPts val="1200"/>
              <a:buFont typeface="Quattrocento Sans"/>
              <a:buAutoNum type="arabicPeriod"/>
            </a:pPr>
            <a:r>
              <a:rPr lang="it" sz="1200" b="0" i="1" u="sng" strike="noStrike" cap="none">
                <a:solidFill>
                  <a:srgbClr val="000000"/>
                </a:solidFill>
                <a:latin typeface="Quattrocento Sans"/>
                <a:ea typeface="Quattrocento Sans"/>
                <a:cs typeface="Quattrocento Sans"/>
                <a:sym typeface="Quattrocento Sans"/>
              </a:rPr>
              <a:t>Je crois</a:t>
            </a:r>
            <a:r>
              <a:rPr lang="it" sz="1200" b="0" i="1" u="none" strike="noStrike" cap="none">
                <a:solidFill>
                  <a:srgbClr val="000000"/>
                </a:solidFill>
                <a:latin typeface="Quattrocento Sans"/>
                <a:ea typeface="Quattrocento Sans"/>
                <a:cs typeface="Quattrocento Sans"/>
                <a:sym typeface="Quattrocento Sans"/>
              </a:rPr>
              <a:t> qu’ils nous ont attaqué</a:t>
            </a:r>
            <a:endParaRPr sz="1200" b="0" i="1" u="none" strike="noStrike" cap="none">
              <a:solidFill>
                <a:srgbClr val="000000"/>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De </a:t>
            </a:r>
            <a:r>
              <a:rPr lang="it" sz="1200" b="0" i="1" u="sng" strike="noStrike" cap="none">
                <a:solidFill>
                  <a:schemeClr val="dk1"/>
                </a:solidFill>
                <a:latin typeface="Quattrocento Sans"/>
                <a:ea typeface="Quattrocento Sans"/>
                <a:cs typeface="Quattrocento Sans"/>
                <a:sym typeface="Quattrocento Sans"/>
              </a:rPr>
              <a:t>nombreuses</a:t>
            </a:r>
            <a:r>
              <a:rPr lang="it" sz="1200" b="0" i="1" u="none" strike="noStrike" cap="none">
                <a:solidFill>
                  <a:schemeClr val="dk1"/>
                </a:solidFill>
                <a:latin typeface="Quattrocento Sans"/>
                <a:ea typeface="Quattrocento Sans"/>
                <a:cs typeface="Quattrocento Sans"/>
                <a:sym typeface="Quattrocento Sans"/>
              </a:rPr>
              <a:t> personnes (cfr. TD)</a:t>
            </a:r>
            <a:endParaRPr sz="1200" b="0" i="1"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Des manifestations vont </a:t>
            </a:r>
            <a:r>
              <a:rPr lang="it" sz="1200" b="0" i="1" u="sng" strike="noStrike" cap="none">
                <a:solidFill>
                  <a:schemeClr val="dk1"/>
                </a:solidFill>
                <a:latin typeface="Quattrocento Sans"/>
                <a:ea typeface="Quattrocento Sans"/>
                <a:cs typeface="Quattrocento Sans"/>
                <a:sym typeface="Quattrocento Sans"/>
              </a:rPr>
              <a:t>sûrement</a:t>
            </a:r>
            <a:r>
              <a:rPr lang="it" sz="1200" b="0" i="1" u="none" strike="noStrike" cap="none">
                <a:solidFill>
                  <a:schemeClr val="dk1"/>
                </a:solidFill>
                <a:latin typeface="Quattrocento Sans"/>
                <a:ea typeface="Quattrocento Sans"/>
                <a:cs typeface="Quattrocento Sans"/>
                <a:sym typeface="Quattrocento Sans"/>
              </a:rPr>
              <a:t> être organisées (cfr. TD)</a:t>
            </a:r>
            <a:endParaRPr sz="1200" b="0" i="1"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endParaRPr sz="1400" b="0" i="1"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Quattrocento Sans"/>
              <a:ea typeface="Quattrocento Sans"/>
              <a:cs typeface="Quattrocento Sans"/>
              <a:sym typeface="Quattrocento Sans"/>
            </a:endParaRPr>
          </a:p>
        </p:txBody>
      </p:sp>
      <p:sp>
        <p:nvSpPr>
          <p:cNvPr id="310" name="Google Shape;310;g3a661288f2b_0_180"/>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311" name="Google Shape;311;g3a661288f2b_0_180"/>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a:t>
            </a:r>
            <a:endParaRPr sz="1200" b="0" i="0" u="none" strike="noStrike" cap="none">
              <a:solidFill>
                <a:srgbClr val="097D3F"/>
              </a:solidFill>
              <a:latin typeface="Quattrocento Sans"/>
              <a:ea typeface="Quattrocento Sans"/>
              <a:cs typeface="Quattrocento Sans"/>
              <a:sym typeface="Quattrocento Sans"/>
            </a:endParaRPr>
          </a:p>
        </p:txBody>
      </p:sp>
      <p:sp>
        <p:nvSpPr>
          <p:cNvPr id="312" name="Google Shape;312;g3a661288f2b_0_18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15</a:t>
            </a:fld>
            <a:endParaRPr/>
          </a:p>
        </p:txBody>
      </p:sp>
      <p:sp>
        <p:nvSpPr>
          <p:cNvPr id="313" name="Google Shape;313;g3a661288f2b_0_180"/>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a661288f2b_0_238"/>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a:t>
            </a:r>
            <a:endParaRPr sz="2600" b="1" i="0" u="none" strike="noStrike" cap="none">
              <a:solidFill>
                <a:srgbClr val="097D3F"/>
              </a:solidFill>
              <a:latin typeface="Quattrocento Sans"/>
              <a:ea typeface="Quattrocento Sans"/>
              <a:cs typeface="Quattrocento Sans"/>
              <a:sym typeface="Quattrocento Sans"/>
            </a:endParaRPr>
          </a:p>
        </p:txBody>
      </p:sp>
      <p:sp>
        <p:nvSpPr>
          <p:cNvPr id="319" name="Google Shape;319;g3a661288f2b_0_238"/>
          <p:cNvSpPr txBox="1"/>
          <p:nvPr/>
        </p:nvSpPr>
        <p:spPr>
          <a:xfrm>
            <a:off x="691375" y="1000475"/>
            <a:ext cx="8116500" cy="263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chemeClr val="dk1"/>
                </a:solidFill>
                <a:latin typeface="Quattrocento Sans"/>
                <a:ea typeface="Quattrocento Sans"/>
                <a:cs typeface="Quattrocento Sans"/>
                <a:sym typeface="Quattrocento Sans"/>
              </a:rPr>
              <a:t>Certains marqueurs peuvent marquer plusieures modalités :</a:t>
            </a:r>
            <a:endParaRPr sz="1400" b="0"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15000"/>
              </a:lnSpc>
              <a:spcBef>
                <a:spcPts val="0"/>
              </a:spcBef>
              <a:spcAft>
                <a:spcPts val="0"/>
              </a:spcAft>
              <a:buClr>
                <a:schemeClr val="dk1"/>
              </a:buClr>
              <a:buSzPts val="1400"/>
              <a:buFont typeface="Quattrocento Sans"/>
              <a:buChar char="●"/>
            </a:pPr>
            <a:r>
              <a:rPr lang="it" sz="1400" b="0" i="0" u="none" strike="noStrike" cap="none">
                <a:solidFill>
                  <a:schemeClr val="dk1"/>
                </a:solidFill>
                <a:latin typeface="Quattrocento Sans"/>
                <a:ea typeface="Quattrocento Sans"/>
                <a:cs typeface="Quattrocento Sans"/>
                <a:sym typeface="Quattrocento Sans"/>
              </a:rPr>
              <a:t>Une seule modalité : marqueurs </a:t>
            </a:r>
            <a:r>
              <a:rPr lang="it" sz="1400" b="1" i="0" u="none" strike="noStrike" cap="none">
                <a:solidFill>
                  <a:schemeClr val="dk1"/>
                </a:solidFill>
                <a:latin typeface="Quattrocento Sans"/>
                <a:ea typeface="Quattrocento Sans"/>
                <a:cs typeface="Quattrocento Sans"/>
                <a:sym typeface="Quattrocento Sans"/>
              </a:rPr>
              <a:t>MONO</a:t>
            </a:r>
            <a:endParaRPr sz="1400" b="1" i="0" u="none" strike="noStrike" cap="none">
              <a:solidFill>
                <a:schemeClr val="dk1"/>
              </a:solidFill>
              <a:latin typeface="Quattrocento Sans"/>
              <a:ea typeface="Quattrocento Sans"/>
              <a:cs typeface="Quattrocento Sans"/>
              <a:sym typeface="Quattrocento Sans"/>
            </a:endParaRPr>
          </a:p>
          <a:p>
            <a:pPr marL="457200" marR="0" lvl="0" indent="-317500" algn="l" rtl="0">
              <a:lnSpc>
                <a:spcPct val="115000"/>
              </a:lnSpc>
              <a:spcBef>
                <a:spcPts val="0"/>
              </a:spcBef>
              <a:spcAft>
                <a:spcPts val="0"/>
              </a:spcAft>
              <a:buClr>
                <a:schemeClr val="dk1"/>
              </a:buClr>
              <a:buSzPts val="1400"/>
              <a:buFont typeface="Quattrocento Sans"/>
              <a:buChar char="●"/>
            </a:pPr>
            <a:r>
              <a:rPr lang="it" sz="1400" b="0" i="0" u="none" strike="noStrike" cap="none">
                <a:solidFill>
                  <a:schemeClr val="dk1"/>
                </a:solidFill>
                <a:latin typeface="Quattrocento Sans"/>
                <a:ea typeface="Quattrocento Sans"/>
                <a:cs typeface="Quattrocento Sans"/>
                <a:sym typeface="Quattrocento Sans"/>
              </a:rPr>
              <a:t>Deux ou plus modalités : marqueurs </a:t>
            </a:r>
            <a:r>
              <a:rPr lang="it" sz="1400" b="1" i="0" u="none" strike="noStrike" cap="none">
                <a:solidFill>
                  <a:schemeClr val="dk1"/>
                </a:solidFill>
                <a:latin typeface="Quattrocento Sans"/>
                <a:ea typeface="Quattrocento Sans"/>
                <a:cs typeface="Quattrocento Sans"/>
                <a:sym typeface="Quattrocento Sans"/>
              </a:rPr>
              <a:t>MIXTES</a:t>
            </a:r>
            <a:endParaRPr sz="14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15000"/>
              </a:lnSpc>
              <a:spcBef>
                <a:spcPts val="0"/>
              </a:spcBef>
              <a:spcAft>
                <a:spcPts val="0"/>
              </a:spcAft>
              <a:buClr>
                <a:srgbClr val="000000"/>
              </a:buClr>
              <a:buSzPts val="1400"/>
              <a:buFont typeface="Arial"/>
              <a:buNone/>
            </a:pPr>
            <a:endParaRPr sz="14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chemeClr val="dk1"/>
                </a:solidFill>
                <a:latin typeface="Quattrocento Sans"/>
                <a:ea typeface="Quattrocento Sans"/>
                <a:cs typeface="Quattrocento Sans"/>
                <a:sym typeface="Quattrocento Sans"/>
              </a:rPr>
              <a:t>Quelques exemples :</a:t>
            </a:r>
            <a:endParaRPr sz="1400" b="1" i="0"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La pièce est </a:t>
            </a:r>
            <a:r>
              <a:rPr lang="it" sz="1200" b="0" i="1" u="sng" strike="noStrike" cap="none">
                <a:solidFill>
                  <a:schemeClr val="dk1"/>
                </a:solidFill>
                <a:latin typeface="Quattrocento Sans"/>
                <a:ea typeface="Quattrocento Sans"/>
                <a:cs typeface="Quattrocento Sans"/>
                <a:sym typeface="Quattrocento Sans"/>
              </a:rPr>
              <a:t>petite</a:t>
            </a:r>
            <a:r>
              <a:rPr lang="it" sz="1200" b="0" i="1" u="none" strike="noStrike" cap="none">
                <a:solidFill>
                  <a:schemeClr val="dk1"/>
                </a:solidFill>
                <a:latin typeface="Quattrocento Sans"/>
                <a:ea typeface="Quattrocento Sans"/>
                <a:cs typeface="Quattrocento Sans"/>
                <a:sym typeface="Quattrocento Sans"/>
              </a:rPr>
              <a:t>. </a:t>
            </a:r>
            <a:r>
              <a:rPr lang="it" sz="1200" b="1" i="1" u="none" strike="noStrike" cap="none">
                <a:solidFill>
                  <a:schemeClr val="dk1"/>
                </a:solidFill>
                <a:latin typeface="Quattrocento Sans"/>
                <a:ea typeface="Quattrocento Sans"/>
                <a:cs typeface="Quattrocento Sans"/>
                <a:sym typeface="Quattrocento Sans"/>
              </a:rPr>
              <a:t>(MONO)</a:t>
            </a:r>
            <a:endParaRPr sz="1200" b="1" i="1"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sng" strike="noStrike" cap="none">
                <a:solidFill>
                  <a:schemeClr val="dk1"/>
                </a:solidFill>
                <a:latin typeface="Quattrocento Sans"/>
                <a:ea typeface="Quattrocento Sans"/>
                <a:cs typeface="Quattrocento Sans"/>
                <a:sym typeface="Quattrocento Sans"/>
              </a:rPr>
              <a:t>Je crois</a:t>
            </a:r>
            <a:r>
              <a:rPr lang="it" sz="1200" b="0" i="1" u="none" strike="noStrike" cap="none">
                <a:solidFill>
                  <a:schemeClr val="dk1"/>
                </a:solidFill>
                <a:latin typeface="Quattrocento Sans"/>
                <a:ea typeface="Quattrocento Sans"/>
                <a:cs typeface="Quattrocento Sans"/>
                <a:sym typeface="Quattrocento Sans"/>
              </a:rPr>
              <a:t> qu’ils nous ont attaqué </a:t>
            </a:r>
            <a:r>
              <a:rPr lang="it" sz="1200" b="1" i="1" u="none" strike="noStrike" cap="none">
                <a:solidFill>
                  <a:schemeClr val="dk1"/>
                </a:solidFill>
                <a:latin typeface="Quattrocento Sans"/>
                <a:ea typeface="Quattrocento Sans"/>
                <a:cs typeface="Quattrocento Sans"/>
                <a:sym typeface="Quattrocento Sans"/>
              </a:rPr>
              <a:t>(MONO)</a:t>
            </a:r>
            <a:endParaRPr sz="1200" b="0" i="1"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De </a:t>
            </a:r>
            <a:r>
              <a:rPr lang="it" sz="1200" b="0" i="1" u="sng" strike="noStrike" cap="none">
                <a:solidFill>
                  <a:schemeClr val="dk1"/>
                </a:solidFill>
                <a:latin typeface="Quattrocento Sans"/>
                <a:ea typeface="Quattrocento Sans"/>
                <a:cs typeface="Quattrocento Sans"/>
                <a:sym typeface="Quattrocento Sans"/>
              </a:rPr>
              <a:t>nombreuses</a:t>
            </a:r>
            <a:r>
              <a:rPr lang="it" sz="1200" b="0" i="1" u="none" strike="noStrike" cap="none">
                <a:solidFill>
                  <a:schemeClr val="dk1"/>
                </a:solidFill>
                <a:latin typeface="Quattrocento Sans"/>
                <a:ea typeface="Quattrocento Sans"/>
                <a:cs typeface="Quattrocento Sans"/>
                <a:sym typeface="Quattrocento Sans"/>
              </a:rPr>
              <a:t> personnes (cfr. TD) </a:t>
            </a:r>
            <a:r>
              <a:rPr lang="it" sz="1200" b="1" i="1" u="none" strike="noStrike" cap="none">
                <a:solidFill>
                  <a:schemeClr val="dk1"/>
                </a:solidFill>
                <a:latin typeface="Quattrocento Sans"/>
                <a:ea typeface="Quattrocento Sans"/>
                <a:cs typeface="Quattrocento Sans"/>
                <a:sym typeface="Quattrocento Sans"/>
              </a:rPr>
              <a:t>(MONO)</a:t>
            </a:r>
            <a:endParaRPr sz="1200" b="0" i="1"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Des manifestations vont </a:t>
            </a:r>
            <a:r>
              <a:rPr lang="it" sz="1200" b="0" i="1" u="sng" strike="noStrike" cap="none">
                <a:solidFill>
                  <a:schemeClr val="dk1"/>
                </a:solidFill>
                <a:latin typeface="Quattrocento Sans"/>
                <a:ea typeface="Quattrocento Sans"/>
                <a:cs typeface="Quattrocento Sans"/>
                <a:sym typeface="Quattrocento Sans"/>
              </a:rPr>
              <a:t>sûrement</a:t>
            </a:r>
            <a:r>
              <a:rPr lang="it" sz="1200" b="0" i="1" u="none" strike="noStrike" cap="none">
                <a:solidFill>
                  <a:schemeClr val="dk1"/>
                </a:solidFill>
                <a:latin typeface="Quattrocento Sans"/>
                <a:ea typeface="Quattrocento Sans"/>
                <a:cs typeface="Quattrocento Sans"/>
                <a:sym typeface="Quattrocento Sans"/>
              </a:rPr>
              <a:t> être organisées (cfr. TD) </a:t>
            </a:r>
            <a:r>
              <a:rPr lang="it" sz="1200" b="1" i="1" u="none" strike="noStrike" cap="none">
                <a:solidFill>
                  <a:schemeClr val="dk1"/>
                </a:solidFill>
                <a:latin typeface="Quattrocento Sans"/>
                <a:ea typeface="Quattrocento Sans"/>
                <a:cs typeface="Quattrocento Sans"/>
                <a:sym typeface="Quattrocento Sans"/>
              </a:rPr>
              <a:t>(MONO)</a:t>
            </a:r>
            <a:endParaRPr sz="1200" b="0" i="1" u="none" strike="noStrike" cap="none">
              <a:solidFill>
                <a:schemeClr val="dk1"/>
              </a:solidFill>
              <a:latin typeface="Quattrocento Sans"/>
              <a:ea typeface="Quattrocento Sans"/>
              <a:cs typeface="Quattrocento Sans"/>
              <a:sym typeface="Quattrocento Sans"/>
            </a:endParaRPr>
          </a:p>
          <a:p>
            <a:pPr marL="457200" marR="0" lvl="0" indent="-317500" algn="ctr" rtl="0">
              <a:lnSpc>
                <a:spcPct val="150000"/>
              </a:lnSpc>
              <a:spcBef>
                <a:spcPts val="0"/>
              </a:spcBef>
              <a:spcAft>
                <a:spcPts val="0"/>
              </a:spcAft>
              <a:buClr>
                <a:schemeClr val="dk1"/>
              </a:buClr>
              <a:buSzPts val="14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Ils </a:t>
            </a:r>
            <a:r>
              <a:rPr lang="it" sz="1200" b="0" i="1" u="sng" strike="noStrike" cap="none">
                <a:solidFill>
                  <a:schemeClr val="dk1"/>
                </a:solidFill>
                <a:latin typeface="Quattrocento Sans"/>
                <a:ea typeface="Quattrocento Sans"/>
                <a:cs typeface="Quattrocento Sans"/>
                <a:sym typeface="Quattrocento Sans"/>
              </a:rPr>
              <a:t>espéraient</a:t>
            </a:r>
            <a:r>
              <a:rPr lang="it" sz="1200" b="0" i="1" u="none" strike="noStrike" cap="none">
                <a:solidFill>
                  <a:schemeClr val="dk1"/>
                </a:solidFill>
                <a:latin typeface="Quattrocento Sans"/>
                <a:ea typeface="Quattrocento Sans"/>
                <a:cs typeface="Quattrocento Sans"/>
                <a:sym typeface="Quattrocento Sans"/>
              </a:rPr>
              <a:t> qu'Abdelkader Merah serait condamné à la prison à vie. (cfr. TD) </a:t>
            </a:r>
            <a:r>
              <a:rPr lang="it" sz="1200" b="1" i="1" u="none" strike="noStrike" cap="none">
                <a:solidFill>
                  <a:schemeClr val="dk1"/>
                </a:solidFill>
                <a:latin typeface="Quattrocento Sans"/>
                <a:ea typeface="Quattrocento Sans"/>
                <a:cs typeface="Quattrocento Sans"/>
                <a:sym typeface="Quattrocento Sans"/>
              </a:rPr>
              <a:t>(MIXTE : épistémique + boulique)</a:t>
            </a:r>
            <a:endParaRPr sz="1200" b="0" i="1" u="none" strike="noStrike" cap="none">
              <a:solidFill>
                <a:schemeClr val="dk1"/>
              </a:solidFill>
              <a:latin typeface="Quattrocento Sans"/>
              <a:ea typeface="Quattrocento Sans"/>
              <a:cs typeface="Quattrocento Sans"/>
              <a:sym typeface="Quattrocento Sans"/>
            </a:endParaRPr>
          </a:p>
          <a:p>
            <a:pPr marL="457200" marR="0" lvl="0" indent="-304800" algn="ctr" rtl="0">
              <a:lnSpc>
                <a:spcPct val="100000"/>
              </a:lnSpc>
              <a:spcBef>
                <a:spcPts val="0"/>
              </a:spcBef>
              <a:spcAft>
                <a:spcPts val="0"/>
              </a:spcAft>
              <a:buClr>
                <a:schemeClr val="dk1"/>
              </a:buClr>
              <a:buSzPts val="1200"/>
              <a:buFont typeface="Quattrocento Sans"/>
              <a:buAutoNum type="arabicPeriod"/>
            </a:pPr>
            <a:r>
              <a:rPr lang="it" sz="1200" b="0" i="1" u="none" strike="noStrike" cap="none">
                <a:solidFill>
                  <a:schemeClr val="dk1"/>
                </a:solidFill>
                <a:latin typeface="Quattrocento Sans"/>
                <a:ea typeface="Quattrocento Sans"/>
                <a:cs typeface="Quattrocento Sans"/>
                <a:sym typeface="Quattrocento Sans"/>
              </a:rPr>
              <a:t>Je crains qu’il puisse être libéré </a:t>
            </a:r>
            <a:r>
              <a:rPr lang="it" sz="1200" b="1" i="1" u="none" strike="noStrike" cap="none">
                <a:solidFill>
                  <a:schemeClr val="dk1"/>
                </a:solidFill>
                <a:latin typeface="Quattrocento Sans"/>
                <a:ea typeface="Quattrocento Sans"/>
                <a:cs typeface="Quattrocento Sans"/>
                <a:sym typeface="Quattrocento Sans"/>
              </a:rPr>
              <a:t>(MIXTE : épistémique + boulique)</a:t>
            </a:r>
            <a:endParaRPr sz="1200" b="0" i="1" u="none" strike="noStrike" cap="none">
              <a:solidFill>
                <a:schemeClr val="dk1"/>
              </a:solidFill>
              <a:latin typeface="Quattrocento Sans"/>
              <a:ea typeface="Quattrocento Sans"/>
              <a:cs typeface="Quattrocento Sans"/>
              <a:sym typeface="Quattrocento Sans"/>
            </a:endParaRPr>
          </a:p>
        </p:txBody>
      </p:sp>
      <p:sp>
        <p:nvSpPr>
          <p:cNvPr id="320" name="Google Shape;320;g3a661288f2b_0_238"/>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321" name="Google Shape;321;g3a661288f2b_0_238"/>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
        <p:nvSpPr>
          <p:cNvPr id="322" name="Google Shape;322;g3a661288f2b_0_2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16</a:t>
            </a:fld>
            <a:endParaRPr/>
          </a:p>
        </p:txBody>
      </p:sp>
      <p:sp>
        <p:nvSpPr>
          <p:cNvPr id="323" name="Google Shape;323;g3a661288f2b_0_238"/>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classement</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3a661288f2b_0_189"/>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 - TD</a:t>
            </a:r>
            <a:endParaRPr sz="2600" b="1" i="0" u="none" strike="noStrike" cap="none">
              <a:solidFill>
                <a:srgbClr val="097D3F"/>
              </a:solidFill>
              <a:latin typeface="Quattrocento Sans"/>
              <a:ea typeface="Quattrocento Sans"/>
              <a:cs typeface="Quattrocento Sans"/>
              <a:sym typeface="Quattrocento Sans"/>
            </a:endParaRPr>
          </a:p>
        </p:txBody>
      </p:sp>
      <p:sp>
        <p:nvSpPr>
          <p:cNvPr id="329" name="Google Shape;329;g3a661288f2b_0_189"/>
          <p:cNvSpPr txBox="1"/>
          <p:nvPr/>
        </p:nvSpPr>
        <p:spPr>
          <a:xfrm>
            <a:off x="840900" y="1501350"/>
            <a:ext cx="787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rgbClr val="FF0000"/>
                </a:solidFill>
                <a:latin typeface="Quattrocento Sans"/>
                <a:ea typeface="Quattrocento Sans"/>
                <a:cs typeface="Quattrocento Sans"/>
                <a:sym typeface="Quattrocento Sans"/>
              </a:rPr>
              <a:t>TD : Retrouve les marqueurs épistémiques dans le texte donné</a:t>
            </a:r>
            <a:endParaRPr sz="1400" b="0" i="0" u="none" strike="noStrike" cap="none">
              <a:solidFill>
                <a:srgbClr val="FF0000"/>
              </a:solidFill>
              <a:latin typeface="Quattrocento Sans"/>
              <a:ea typeface="Quattrocento Sans"/>
              <a:cs typeface="Quattrocento Sans"/>
              <a:sym typeface="Quattrocento Sans"/>
            </a:endParaRPr>
          </a:p>
        </p:txBody>
      </p:sp>
      <p:sp>
        <p:nvSpPr>
          <p:cNvPr id="330" name="Google Shape;330;g3a661288f2b_0_189"/>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331" name="Google Shape;331;g3a661288f2b_0_18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17</a:t>
            </a:fld>
            <a:endParaRPr/>
          </a:p>
        </p:txBody>
      </p:sp>
      <p:sp>
        <p:nvSpPr>
          <p:cNvPr id="332" name="Google Shape;332;g3a661288f2b_0_189"/>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classification</a:t>
            </a:r>
            <a:endParaRPr sz="800" b="0" i="0" u="none" strike="noStrike" cap="none">
              <a:solidFill>
                <a:srgbClr val="000000"/>
              </a:solidFill>
              <a:latin typeface="Calibri"/>
              <a:ea typeface="Calibri"/>
              <a:cs typeface="Calibri"/>
              <a:sym typeface="Calibri"/>
            </a:endParaRPr>
          </a:p>
        </p:txBody>
      </p:sp>
      <p:sp>
        <p:nvSpPr>
          <p:cNvPr id="333" name="Google Shape;333;g3a661288f2b_0_189"/>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a661288f2b_0_198"/>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 - TD</a:t>
            </a:r>
            <a:endParaRPr sz="2600" b="1" i="0" u="none" strike="noStrike" cap="none">
              <a:solidFill>
                <a:srgbClr val="097D3F"/>
              </a:solidFill>
              <a:latin typeface="Quattrocento Sans"/>
              <a:ea typeface="Quattrocento Sans"/>
              <a:cs typeface="Quattrocento Sans"/>
              <a:sym typeface="Quattrocento Sans"/>
            </a:endParaRPr>
          </a:p>
        </p:txBody>
      </p:sp>
      <p:sp>
        <p:nvSpPr>
          <p:cNvPr id="208" name="Google Shape;208;g3a661288f2b_0_198"/>
          <p:cNvSpPr txBox="1"/>
          <p:nvPr/>
        </p:nvSpPr>
        <p:spPr>
          <a:xfrm>
            <a:off x="831250" y="952325"/>
            <a:ext cx="787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rgbClr val="FF0000"/>
                </a:solidFill>
                <a:latin typeface="Quattrocento Sans"/>
                <a:ea typeface="Quattrocento Sans"/>
                <a:cs typeface="Quattrocento Sans"/>
                <a:sym typeface="Quattrocento Sans"/>
              </a:rPr>
              <a:t>TD : Retrouve les marqueurs épistémiques (mono et mixtes) dans le texte donné</a:t>
            </a:r>
            <a:endParaRPr sz="1400" b="0" i="0" u="none" strike="noStrike" cap="none">
              <a:solidFill>
                <a:srgbClr val="FF0000"/>
              </a:solidFill>
              <a:latin typeface="Quattrocento Sans"/>
              <a:ea typeface="Quattrocento Sans"/>
              <a:cs typeface="Quattrocento Sans"/>
              <a:sym typeface="Quattrocento Sans"/>
            </a:endParaRPr>
          </a:p>
        </p:txBody>
      </p:sp>
      <p:sp>
        <p:nvSpPr>
          <p:cNvPr id="209" name="Google Shape;209;g3a661288f2b_0_198"/>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210" name="Google Shape;210;g3a661288f2b_0_19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it"/>
              <a:t>18</a:t>
            </a:fld>
            <a:endParaRPr/>
          </a:p>
        </p:txBody>
      </p:sp>
      <p:sp>
        <p:nvSpPr>
          <p:cNvPr id="211" name="Google Shape;211;g3a661288f2b_0_198"/>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
        <p:nvSpPr>
          <p:cNvPr id="212" name="Google Shape;212;g3a661288f2b_0_198"/>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classement</a:t>
            </a:r>
            <a:endParaRPr sz="800" b="0" i="0" u="none" strike="noStrike" cap="none">
              <a:solidFill>
                <a:srgbClr val="000000"/>
              </a:solidFill>
              <a:latin typeface="Calibri"/>
              <a:ea typeface="Calibri"/>
              <a:cs typeface="Calibri"/>
              <a:sym typeface="Calibri"/>
            </a:endParaRPr>
          </a:p>
        </p:txBody>
      </p:sp>
      <p:sp>
        <p:nvSpPr>
          <p:cNvPr id="213" name="Google Shape;213;g3a661288f2b_0_198"/>
          <p:cNvSpPr txBox="1"/>
          <p:nvPr/>
        </p:nvSpPr>
        <p:spPr>
          <a:xfrm>
            <a:off x="0" y="1643288"/>
            <a:ext cx="9193200" cy="1628400"/>
          </a:xfrm>
          <a:prstGeom prst="rect">
            <a:avLst/>
          </a:prstGeom>
          <a:noFill/>
          <a:ln>
            <a:noFill/>
          </a:ln>
        </p:spPr>
        <p:txBody>
          <a:bodyPr spcFirstLastPara="1" wrap="square" lIns="91425" tIns="91425" rIns="91425" bIns="91425" anchor="t" anchorCtr="0">
            <a:spAutoFit/>
          </a:bodyPr>
          <a:lstStyle/>
          <a:p>
            <a:pPr marL="0" marR="0" lvl="0" indent="0" algn="l" rtl="0">
              <a:lnSpc>
                <a:spcPct val="125454"/>
              </a:lnSpc>
              <a:spcBef>
                <a:spcPts val="0"/>
              </a:spcBef>
              <a:spcAft>
                <a:spcPts val="800"/>
              </a:spcAft>
              <a:buClr>
                <a:srgbClr val="000000"/>
              </a:buClr>
              <a:buSzPts val="1100"/>
              <a:buFont typeface="Arial"/>
              <a:buNone/>
            </a:pPr>
            <a:r>
              <a:rPr lang="it" sz="1100" b="0" i="0" u="none" strike="noStrike" cap="none">
                <a:solidFill>
                  <a:schemeClr val="dk1"/>
                </a:solidFill>
                <a:latin typeface="Arial"/>
                <a:ea typeface="Arial"/>
                <a:cs typeface="Arial"/>
                <a:sym typeface="Arial"/>
              </a:rPr>
              <a:t>Le plan de BATAILLE de l'arrondissement, les affiches, les photos tapissent encore les murs mais, déjà, les cartons se préparent. Dans quelques jours, Anne Hidalgo, candidate socialiste dans le 15e arrondissement de Paris, remettra les clés de son local de campagne, loué pour l'occasion, rue Mathurin-Régnier. Devancée... mais heureuse ! Dimanche 25 mars, </a:t>
            </a:r>
            <a:r>
              <a:rPr lang="it" sz="1100" b="0" i="0" u="none" strike="noStrike" cap="none">
                <a:solidFill>
                  <a:schemeClr val="dk1"/>
                </a:solidFill>
                <a:highlight>
                  <a:srgbClr val="FFFF00"/>
                </a:highlight>
                <a:latin typeface="Arial"/>
                <a:ea typeface="Arial"/>
                <a:cs typeface="Arial"/>
                <a:sym typeface="Arial"/>
              </a:rPr>
              <a:t>selon toute vraisemblance</a:t>
            </a:r>
            <a:r>
              <a:rPr lang="it" sz="1100" b="0" i="0" u="none" strike="noStrike" cap="none">
                <a:solidFill>
                  <a:schemeClr val="dk1"/>
                </a:solidFill>
                <a:latin typeface="Arial"/>
                <a:ea typeface="Arial"/>
                <a:cs typeface="Arial"/>
                <a:sym typeface="Arial"/>
              </a:rPr>
              <a:t>, elle </a:t>
            </a:r>
            <a:r>
              <a:rPr lang="it" sz="1100" b="0" i="0" u="none" strike="noStrike" cap="none">
                <a:solidFill>
                  <a:schemeClr val="dk1"/>
                </a:solidFill>
                <a:highlight>
                  <a:srgbClr val="FF9900"/>
                </a:highlight>
                <a:latin typeface="Arial"/>
                <a:ea typeface="Arial"/>
                <a:cs typeface="Arial"/>
                <a:sym typeface="Arial"/>
              </a:rPr>
              <a:t>devait</a:t>
            </a:r>
            <a:r>
              <a:rPr lang="it" sz="1100" b="0" i="0" u="none" strike="noStrike" cap="none">
                <a:solidFill>
                  <a:schemeClr val="dk1"/>
                </a:solidFill>
                <a:latin typeface="Arial"/>
                <a:ea typeface="Arial"/>
                <a:cs typeface="Arial"/>
                <a:sym typeface="Arial"/>
              </a:rPr>
              <a:t> en effet devenir la première adjointe de Bertrand Delanoë à la Mairie de Paris. </a:t>
            </a:r>
            <a:r>
              <a:rPr lang="it" sz="1100" b="0" i="0" u="none" strike="noStrike" cap="none">
                <a:solidFill>
                  <a:schemeClr val="dk1"/>
                </a:solidFill>
                <a:highlight>
                  <a:srgbClr val="FFFF00"/>
                </a:highlight>
                <a:latin typeface="Arial"/>
                <a:ea typeface="Arial"/>
                <a:cs typeface="Arial"/>
                <a:sym typeface="Arial"/>
              </a:rPr>
              <a:t>Totalement inconnue </a:t>
            </a:r>
            <a:r>
              <a:rPr lang="it" sz="1100" b="0" i="0" u="none" strike="noStrike" cap="none">
                <a:solidFill>
                  <a:schemeClr val="dk1"/>
                </a:solidFill>
                <a:latin typeface="Arial"/>
                <a:ea typeface="Arial"/>
                <a:cs typeface="Arial"/>
                <a:sym typeface="Arial"/>
              </a:rPr>
              <a:t>il y a encore quelques semaines, cette inspectrice du travail de quarante et un ans, adhérente depuis 1994 au PS et membre de son secrétariat national depuis quelques mois, n'est pas parvenue à conquérir le fief d'Edouard Balladur, mais elle a réussi une percée là où personne ne l'attendait. « Sur Paris, en nombre de voix, c'est elle qui en a décroché le plus, à gauche, avec 30 581 », précise fièrement un de ses proches.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911b0cb68f_0_336"/>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 - TD</a:t>
            </a:r>
            <a:endParaRPr sz="2600" b="1" i="0" u="none" strike="noStrike" cap="none">
              <a:solidFill>
                <a:srgbClr val="097D3F"/>
              </a:solidFill>
              <a:latin typeface="Quattrocento Sans"/>
              <a:ea typeface="Quattrocento Sans"/>
              <a:cs typeface="Quattrocento Sans"/>
              <a:sym typeface="Quattrocento Sans"/>
            </a:endParaRPr>
          </a:p>
        </p:txBody>
      </p:sp>
      <p:sp>
        <p:nvSpPr>
          <p:cNvPr id="219" name="Google Shape;219;g3911b0cb68f_0_336"/>
          <p:cNvSpPr txBox="1"/>
          <p:nvPr/>
        </p:nvSpPr>
        <p:spPr>
          <a:xfrm>
            <a:off x="831250" y="952325"/>
            <a:ext cx="787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rgbClr val="FF0000"/>
                </a:solidFill>
                <a:latin typeface="Quattrocento Sans"/>
                <a:ea typeface="Quattrocento Sans"/>
                <a:cs typeface="Quattrocento Sans"/>
                <a:sym typeface="Quattrocento Sans"/>
              </a:rPr>
              <a:t>TD : Retrouve les marqueurs épistémiques (mono et mixtes) dans le texte donné</a:t>
            </a:r>
            <a:endParaRPr sz="1400" b="0" i="0" u="none" strike="noStrike" cap="none">
              <a:solidFill>
                <a:srgbClr val="FF0000"/>
              </a:solidFill>
              <a:latin typeface="Quattrocento Sans"/>
              <a:ea typeface="Quattrocento Sans"/>
              <a:cs typeface="Quattrocento Sans"/>
              <a:sym typeface="Quattrocento Sans"/>
            </a:endParaRPr>
          </a:p>
        </p:txBody>
      </p:sp>
      <p:sp>
        <p:nvSpPr>
          <p:cNvPr id="220" name="Google Shape;220;g3911b0cb68f_0_336"/>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221" name="Google Shape;221;g3911b0cb68f_0_3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it"/>
              <a:t>19</a:t>
            </a:fld>
            <a:endParaRPr/>
          </a:p>
        </p:txBody>
      </p:sp>
      <p:sp>
        <p:nvSpPr>
          <p:cNvPr id="222" name="Google Shape;222;g3911b0cb68f_0_336"/>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
        <p:nvSpPr>
          <p:cNvPr id="223" name="Google Shape;223;g3911b0cb68f_0_336"/>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classement</a:t>
            </a:r>
            <a:endParaRPr sz="800" b="0" i="0" u="none" strike="noStrike" cap="none">
              <a:solidFill>
                <a:srgbClr val="000000"/>
              </a:solidFill>
              <a:latin typeface="Calibri"/>
              <a:ea typeface="Calibri"/>
              <a:cs typeface="Calibri"/>
              <a:sym typeface="Calibri"/>
            </a:endParaRPr>
          </a:p>
        </p:txBody>
      </p:sp>
      <p:sp>
        <p:nvSpPr>
          <p:cNvPr id="224" name="Google Shape;224;g3911b0cb68f_0_336"/>
          <p:cNvSpPr txBox="1"/>
          <p:nvPr/>
        </p:nvSpPr>
        <p:spPr>
          <a:xfrm>
            <a:off x="0" y="1643288"/>
            <a:ext cx="9193200" cy="1628400"/>
          </a:xfrm>
          <a:prstGeom prst="rect">
            <a:avLst/>
          </a:prstGeom>
          <a:noFill/>
          <a:ln>
            <a:noFill/>
          </a:ln>
        </p:spPr>
        <p:txBody>
          <a:bodyPr spcFirstLastPara="1" wrap="square" lIns="91425" tIns="91425" rIns="91425" bIns="91425" anchor="t" anchorCtr="0">
            <a:spAutoFit/>
          </a:bodyPr>
          <a:lstStyle/>
          <a:p>
            <a:pPr marL="0" marR="0" lvl="0" indent="0" algn="l" rtl="0">
              <a:lnSpc>
                <a:spcPct val="125454"/>
              </a:lnSpc>
              <a:spcBef>
                <a:spcPts val="0"/>
              </a:spcBef>
              <a:spcAft>
                <a:spcPts val="800"/>
              </a:spcAft>
              <a:buClr>
                <a:srgbClr val="000000"/>
              </a:buClr>
              <a:buSzPts val="1100"/>
              <a:buFont typeface="Arial"/>
              <a:buNone/>
            </a:pPr>
            <a:r>
              <a:rPr lang="it" sz="1100" b="0" i="0" u="none" strike="noStrike" cap="none">
                <a:solidFill>
                  <a:schemeClr val="dk1"/>
                </a:solidFill>
                <a:latin typeface="Arial"/>
                <a:ea typeface="Arial"/>
                <a:cs typeface="Arial"/>
                <a:sym typeface="Arial"/>
              </a:rPr>
              <a:t>« Oui, mais c'est aussi l'arrondissement le plus grand », </a:t>
            </a:r>
            <a:r>
              <a:rPr lang="it" sz="1100" b="0" i="0" u="none" strike="noStrike" cap="none">
                <a:solidFill>
                  <a:schemeClr val="dk1"/>
                </a:solidFill>
                <a:highlight>
                  <a:srgbClr val="FFFF00"/>
                </a:highlight>
                <a:latin typeface="Arial"/>
                <a:ea typeface="Arial"/>
                <a:cs typeface="Arial"/>
                <a:sym typeface="Arial"/>
              </a:rPr>
              <a:t>tempère</a:t>
            </a:r>
            <a:r>
              <a:rPr lang="it" sz="1100" b="0" i="0" u="none" strike="noStrike" cap="none">
                <a:solidFill>
                  <a:schemeClr val="dk1"/>
                </a:solidFill>
                <a:latin typeface="Arial"/>
                <a:ea typeface="Arial"/>
                <a:cs typeface="Arial"/>
                <a:sym typeface="Arial"/>
              </a:rPr>
              <a:t>, tout sourire, la candidate qui se </a:t>
            </a:r>
            <a:r>
              <a:rPr lang="it" sz="1100" b="0" i="0" u="none" strike="noStrike" cap="none">
                <a:solidFill>
                  <a:schemeClr val="dk1"/>
                </a:solidFill>
                <a:highlight>
                  <a:srgbClr val="FFFF00"/>
                </a:highlight>
                <a:latin typeface="Arial"/>
                <a:ea typeface="Arial"/>
                <a:cs typeface="Arial"/>
                <a:sym typeface="Arial"/>
              </a:rPr>
              <a:t>dit</a:t>
            </a:r>
            <a:r>
              <a:rPr lang="it" sz="1100" b="0" i="0" u="none" strike="noStrike" cap="none">
                <a:solidFill>
                  <a:schemeClr val="dk1"/>
                </a:solidFill>
                <a:latin typeface="Arial"/>
                <a:ea typeface="Arial"/>
                <a:cs typeface="Arial"/>
                <a:sym typeface="Arial"/>
              </a:rPr>
              <a:t> aujourd'hui « dans la ouate » après ce premier baptême électoral. Un peu en raison des </a:t>
            </a:r>
            <a:r>
              <a:rPr lang="it" sz="1100" b="0" i="0" u="none" strike="noStrike" cap="none">
                <a:solidFill>
                  <a:schemeClr val="dk1"/>
                </a:solidFill>
                <a:highlight>
                  <a:srgbClr val="FFFF00"/>
                </a:highlight>
                <a:latin typeface="Arial"/>
                <a:ea typeface="Arial"/>
                <a:cs typeface="Arial"/>
                <a:sym typeface="Arial"/>
              </a:rPr>
              <a:t>longues</a:t>
            </a:r>
            <a:r>
              <a:rPr lang="it" sz="1100" b="0" i="0" u="none" strike="noStrike" cap="none">
                <a:solidFill>
                  <a:schemeClr val="dk1"/>
                </a:solidFill>
                <a:latin typeface="Arial"/>
                <a:ea typeface="Arial"/>
                <a:cs typeface="Arial"/>
                <a:sym typeface="Arial"/>
              </a:rPr>
              <a:t> semaines à sillonner les marchés, un peu aussi parce qu'au soir du 18 mars, dans l'euphorie de la victoire de Bertrand Delanoë, sur le parvis de l'Hôtel de Ville, alors qu'elle était accrochée aux bras de Patrice Bloche et de la ministre de la culture Catherine Tasca, la pression de la foule </a:t>
            </a:r>
            <a:r>
              <a:rPr lang="it" sz="1100" b="0" i="0" u="none" strike="noStrike" cap="none">
                <a:solidFill>
                  <a:schemeClr val="dk1"/>
                </a:solidFill>
                <a:highlight>
                  <a:srgbClr val="FFFF00"/>
                </a:highlight>
                <a:latin typeface="Arial"/>
                <a:ea typeface="Arial"/>
                <a:cs typeface="Arial"/>
                <a:sym typeface="Arial"/>
              </a:rPr>
              <a:t>a suffi</a:t>
            </a:r>
            <a:r>
              <a:rPr lang="it" sz="1100" b="0" i="0" u="none" strike="noStrike" cap="none">
                <a:solidFill>
                  <a:schemeClr val="dk1"/>
                </a:solidFill>
                <a:latin typeface="Arial"/>
                <a:ea typeface="Arial"/>
                <a:cs typeface="Arial"/>
                <a:sym typeface="Arial"/>
              </a:rPr>
              <a:t> à lui... fêler une côte ! Vendredi 23 mars, Anne Hidalgo est retournée sur un marché pour distribuer une lettre de remerciement aux résidents. L'équipe du 15e, </a:t>
            </a:r>
            <a:r>
              <a:rPr lang="it" sz="1100" b="0" i="0" u="none" strike="noStrike" cap="none">
                <a:solidFill>
                  <a:schemeClr val="dk1"/>
                </a:solidFill>
                <a:highlight>
                  <a:srgbClr val="FFFF00"/>
                </a:highlight>
                <a:latin typeface="Arial"/>
                <a:ea typeface="Arial"/>
                <a:cs typeface="Arial"/>
                <a:sym typeface="Arial"/>
              </a:rPr>
              <a:t>explique</a:t>
            </a:r>
            <a:r>
              <a:rPr lang="it" sz="1100" b="0" i="0" u="none" strike="noStrike" cap="none">
                <a:solidFill>
                  <a:schemeClr val="dk1"/>
                </a:solidFill>
                <a:latin typeface="Arial"/>
                <a:ea typeface="Arial"/>
                <a:cs typeface="Arial"/>
                <a:sym typeface="Arial"/>
              </a:rPr>
              <a:t>-t-elle, a du mal à se séparer. « La campagne a été dure, mais pas plus que ce que j'attendais. Le fait de ne pas être connue a </a:t>
            </a:r>
            <a:r>
              <a:rPr lang="it" sz="1100" b="0" i="0" u="none" strike="noStrike" cap="none">
                <a:solidFill>
                  <a:schemeClr val="dk1"/>
                </a:solidFill>
                <a:highlight>
                  <a:srgbClr val="FFFF00"/>
                </a:highlight>
                <a:latin typeface="Arial"/>
                <a:ea typeface="Arial"/>
                <a:cs typeface="Arial"/>
                <a:sym typeface="Arial"/>
              </a:rPr>
              <a:t>sûrement</a:t>
            </a:r>
            <a:r>
              <a:rPr lang="it" sz="1100" b="0" i="0" u="none" strike="noStrike" cap="none">
                <a:solidFill>
                  <a:schemeClr val="dk1"/>
                </a:solidFill>
                <a:latin typeface="Arial"/>
                <a:ea typeface="Arial"/>
                <a:cs typeface="Arial"/>
                <a:sym typeface="Arial"/>
              </a:rPr>
              <a:t> été un handicap au départ, mais on l'a bien transformé. Il y a eu des </a:t>
            </a:r>
            <a:r>
              <a:rPr lang="it" sz="1100" b="0" i="0" u="none" strike="noStrike" cap="none">
                <a:solidFill>
                  <a:schemeClr val="dk1"/>
                </a:solidFill>
                <a:highlight>
                  <a:srgbClr val="FFFF00"/>
                </a:highlight>
                <a:latin typeface="Arial"/>
                <a:ea typeface="Arial"/>
                <a:cs typeface="Arial"/>
                <a:sym typeface="Arial"/>
              </a:rPr>
              <a:t>grands</a:t>
            </a:r>
            <a:r>
              <a:rPr lang="it" sz="1100" b="0" i="0" u="none" strike="noStrike" cap="none">
                <a:solidFill>
                  <a:schemeClr val="dk1"/>
                </a:solidFill>
                <a:latin typeface="Arial"/>
                <a:ea typeface="Arial"/>
                <a:cs typeface="Arial"/>
                <a:sym typeface="Arial"/>
              </a:rPr>
              <a:t> moments de rigolade, des moments </a:t>
            </a:r>
            <a:r>
              <a:rPr lang="it" sz="1100" b="0" i="0" u="none" strike="noStrike" cap="none">
                <a:solidFill>
                  <a:schemeClr val="dk1"/>
                </a:solidFill>
                <a:highlight>
                  <a:srgbClr val="FFFF00"/>
                </a:highlight>
                <a:latin typeface="Arial"/>
                <a:ea typeface="Arial"/>
                <a:cs typeface="Arial"/>
                <a:sym typeface="Arial"/>
              </a:rPr>
              <a:t>forts</a:t>
            </a:r>
            <a:r>
              <a:rPr lang="it" sz="1100" b="0" i="0" u="none" strike="noStrike" cap="none">
                <a:solidFill>
                  <a:schemeClr val="dk1"/>
                </a:solidFill>
                <a:latin typeface="Arial"/>
                <a:ea typeface="Arial"/>
                <a:cs typeface="Arial"/>
                <a:sym typeface="Arial"/>
              </a:rPr>
              <a:t> et des sueurs froides », </a:t>
            </a:r>
            <a:r>
              <a:rPr lang="it" sz="1100" b="0" i="0" u="none" strike="noStrike" cap="none">
                <a:solidFill>
                  <a:schemeClr val="dk1"/>
                </a:solidFill>
                <a:highlight>
                  <a:srgbClr val="FFFF00"/>
                </a:highlight>
                <a:latin typeface="Arial"/>
                <a:ea typeface="Arial"/>
                <a:cs typeface="Arial"/>
                <a:sym typeface="Arial"/>
              </a:rPr>
              <a:t>raconte</a:t>
            </a:r>
            <a:r>
              <a:rPr lang="it" sz="1100" b="0" i="0" u="none" strike="noStrike" cap="none">
                <a:solidFill>
                  <a:schemeClr val="dk1"/>
                </a:solidFill>
                <a:latin typeface="Arial"/>
                <a:ea typeface="Arial"/>
                <a:cs typeface="Arial"/>
                <a:sym typeface="Arial"/>
              </a:rPr>
              <a:t>-t-elle.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a661288f2b_0_218"/>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 - TD</a:t>
            </a:r>
            <a:endParaRPr sz="2600" b="1" i="0" u="none" strike="noStrike" cap="none">
              <a:solidFill>
                <a:srgbClr val="097D3F"/>
              </a:solidFill>
              <a:latin typeface="Quattrocento Sans"/>
              <a:ea typeface="Quattrocento Sans"/>
              <a:cs typeface="Quattrocento Sans"/>
              <a:sym typeface="Quattrocento Sans"/>
            </a:endParaRPr>
          </a:p>
        </p:txBody>
      </p:sp>
      <p:sp>
        <p:nvSpPr>
          <p:cNvPr id="230" name="Google Shape;230;g3a661288f2b_0_218"/>
          <p:cNvSpPr txBox="1"/>
          <p:nvPr/>
        </p:nvSpPr>
        <p:spPr>
          <a:xfrm>
            <a:off x="831250" y="952325"/>
            <a:ext cx="787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rgbClr val="FF0000"/>
                </a:solidFill>
                <a:latin typeface="Quattrocento Sans"/>
                <a:ea typeface="Quattrocento Sans"/>
                <a:cs typeface="Quattrocento Sans"/>
                <a:sym typeface="Quattrocento Sans"/>
              </a:rPr>
              <a:t>TD : Retrouve les marqueurs épistémiques (mono et mixtes) dans le texte donné</a:t>
            </a:r>
            <a:endParaRPr sz="1400" b="0" i="0" u="none" strike="noStrike" cap="none">
              <a:solidFill>
                <a:srgbClr val="FF0000"/>
              </a:solidFill>
              <a:latin typeface="Quattrocento Sans"/>
              <a:ea typeface="Quattrocento Sans"/>
              <a:cs typeface="Quattrocento Sans"/>
              <a:sym typeface="Quattrocento Sans"/>
            </a:endParaRPr>
          </a:p>
        </p:txBody>
      </p:sp>
      <p:sp>
        <p:nvSpPr>
          <p:cNvPr id="231" name="Google Shape;231;g3a661288f2b_0_218"/>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232" name="Google Shape;232;g3a661288f2b_0_2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it"/>
              <a:t>20</a:t>
            </a:fld>
            <a:endParaRPr/>
          </a:p>
        </p:txBody>
      </p:sp>
      <p:sp>
        <p:nvSpPr>
          <p:cNvPr id="233" name="Google Shape;233;g3a661288f2b_0_218"/>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
        <p:nvSpPr>
          <p:cNvPr id="234" name="Google Shape;234;g3a661288f2b_0_218"/>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classement</a:t>
            </a:r>
            <a:endParaRPr sz="800" b="0" i="0" u="none" strike="noStrike" cap="none">
              <a:solidFill>
                <a:srgbClr val="000000"/>
              </a:solidFill>
              <a:latin typeface="Calibri"/>
              <a:ea typeface="Calibri"/>
              <a:cs typeface="Calibri"/>
              <a:sym typeface="Calibri"/>
            </a:endParaRPr>
          </a:p>
        </p:txBody>
      </p:sp>
      <p:sp>
        <p:nvSpPr>
          <p:cNvPr id="235" name="Google Shape;235;g3a661288f2b_0_218"/>
          <p:cNvSpPr txBox="1"/>
          <p:nvPr/>
        </p:nvSpPr>
        <p:spPr>
          <a:xfrm>
            <a:off x="0" y="1643288"/>
            <a:ext cx="9193200" cy="1840800"/>
          </a:xfrm>
          <a:prstGeom prst="rect">
            <a:avLst/>
          </a:prstGeom>
          <a:noFill/>
          <a:ln>
            <a:noFill/>
          </a:ln>
        </p:spPr>
        <p:txBody>
          <a:bodyPr spcFirstLastPara="1" wrap="square" lIns="91425" tIns="91425" rIns="91425" bIns="91425" anchor="t" anchorCtr="0">
            <a:spAutoFit/>
          </a:bodyPr>
          <a:lstStyle/>
          <a:p>
            <a:pPr marL="0" marR="0" lvl="0" indent="0" algn="l" rtl="0">
              <a:lnSpc>
                <a:spcPct val="125454"/>
              </a:lnSpc>
              <a:spcBef>
                <a:spcPts val="0"/>
              </a:spcBef>
              <a:spcAft>
                <a:spcPts val="800"/>
              </a:spcAft>
              <a:buClr>
                <a:srgbClr val="000000"/>
              </a:buClr>
              <a:buSzPts val="1100"/>
              <a:buFont typeface="Arial"/>
              <a:buNone/>
            </a:pPr>
            <a:r>
              <a:rPr lang="it" sz="1100" b="0" i="0" u="none" strike="noStrike" cap="none">
                <a:solidFill>
                  <a:schemeClr val="dk1"/>
                </a:solidFill>
                <a:latin typeface="Arial"/>
                <a:ea typeface="Arial"/>
                <a:cs typeface="Arial"/>
                <a:sym typeface="Arial"/>
              </a:rPr>
              <a:t>« MACHISME PAS MORT » Le plus difficile a été la soirée des résultats. Postés dans les bureaux de vote, les militants appelaient, à tour de rôle, pour donner les tendances sur les cent premiers bulletins. « </a:t>
            </a:r>
            <a:r>
              <a:rPr lang="it" sz="1100" b="0" i="0" u="none" strike="noStrike" cap="none">
                <a:solidFill>
                  <a:schemeClr val="dk1"/>
                </a:solidFill>
                <a:highlight>
                  <a:srgbClr val="FFFF00"/>
                </a:highlight>
                <a:latin typeface="Arial"/>
                <a:ea typeface="Arial"/>
                <a:cs typeface="Arial"/>
                <a:sym typeface="Arial"/>
              </a:rPr>
              <a:t>Évidemment</a:t>
            </a:r>
            <a:r>
              <a:rPr lang="it" sz="1100" b="0" i="0" u="none" strike="noStrike" cap="none">
                <a:solidFill>
                  <a:schemeClr val="dk1"/>
                </a:solidFill>
                <a:latin typeface="Arial"/>
                <a:ea typeface="Arial"/>
                <a:cs typeface="Arial"/>
                <a:sym typeface="Arial"/>
              </a:rPr>
              <a:t>, les plus </a:t>
            </a:r>
            <a:r>
              <a:rPr lang="it" sz="1100" b="0" i="0" u="none" strike="noStrike" cap="none">
                <a:solidFill>
                  <a:schemeClr val="dk1"/>
                </a:solidFill>
                <a:highlight>
                  <a:srgbClr val="FFFF00"/>
                </a:highlight>
                <a:latin typeface="Arial"/>
                <a:ea typeface="Arial"/>
                <a:cs typeface="Arial"/>
                <a:sym typeface="Arial"/>
              </a:rPr>
              <a:t>rapides</a:t>
            </a:r>
            <a:r>
              <a:rPr lang="it" sz="1100" b="0" i="0" u="none" strike="noStrike" cap="none">
                <a:solidFill>
                  <a:schemeClr val="dk1"/>
                </a:solidFill>
                <a:latin typeface="Arial"/>
                <a:ea typeface="Arial"/>
                <a:cs typeface="Arial"/>
                <a:sym typeface="Arial"/>
              </a:rPr>
              <a:t> étaient les plus excités, parce que les résultats étaient très bons pour nous. Les autres, on leur </a:t>
            </a:r>
            <a:r>
              <a:rPr lang="it" sz="1100" b="0" i="0" u="none" strike="noStrike" cap="none">
                <a:solidFill>
                  <a:schemeClr val="dk1"/>
                </a:solidFill>
                <a:highlight>
                  <a:srgbClr val="FFFF00"/>
                </a:highlight>
                <a:latin typeface="Arial"/>
                <a:ea typeface="Arial"/>
                <a:cs typeface="Arial"/>
                <a:sym typeface="Arial"/>
              </a:rPr>
              <a:t>disait</a:t>
            </a:r>
            <a:r>
              <a:rPr lang="it" sz="1100" b="0" i="0" u="none" strike="noStrike" cap="none">
                <a:solidFill>
                  <a:schemeClr val="dk1"/>
                </a:solidFill>
                <a:latin typeface="Arial"/>
                <a:ea typeface="Arial"/>
                <a:cs typeface="Arial"/>
                <a:sym typeface="Arial"/>
              </a:rPr>
              <a:t> : «T'as rien d'autre à nous annoncer ? », s'amuse-t-elle. L'investiture du PS à cette candidate de la parité, conseillère sociale auprès de Martine Aubry, de Nicole Péry, puis de Marylise Lebranchu à la justice, n'a pourtant pas été </a:t>
            </a:r>
            <a:r>
              <a:rPr lang="it" sz="1100" b="0" i="0" u="none" strike="noStrike" cap="none">
                <a:solidFill>
                  <a:schemeClr val="dk1"/>
                </a:solidFill>
                <a:highlight>
                  <a:srgbClr val="FFFF00"/>
                </a:highlight>
                <a:latin typeface="Arial"/>
                <a:ea typeface="Arial"/>
                <a:cs typeface="Arial"/>
                <a:sym typeface="Arial"/>
              </a:rPr>
              <a:t>simple</a:t>
            </a:r>
            <a:r>
              <a:rPr lang="it" sz="1100" b="0" i="0" u="none" strike="noStrike" cap="none">
                <a:solidFill>
                  <a:schemeClr val="dk1"/>
                </a:solidFill>
                <a:latin typeface="Arial"/>
                <a:ea typeface="Arial"/>
                <a:cs typeface="Arial"/>
                <a:sym typeface="Arial"/>
              </a:rPr>
              <a:t>. « Les militants </a:t>
            </a:r>
            <a:r>
              <a:rPr lang="it" sz="1100" b="0" i="0" u="none" strike="noStrike" cap="none">
                <a:solidFill>
                  <a:schemeClr val="dk1"/>
                </a:solidFill>
                <a:highlight>
                  <a:schemeClr val="accent2"/>
                </a:highlight>
                <a:latin typeface="Arial"/>
                <a:ea typeface="Arial"/>
                <a:cs typeface="Arial"/>
                <a:sym typeface="Arial"/>
              </a:rPr>
              <a:t>demandent</a:t>
            </a:r>
            <a:r>
              <a:rPr lang="it" sz="1100" b="0" i="0" u="none" strike="noStrike" cap="none">
                <a:solidFill>
                  <a:schemeClr val="dk1"/>
                </a:solidFill>
                <a:latin typeface="Arial"/>
                <a:ea typeface="Arial"/>
                <a:cs typeface="Arial"/>
                <a:sym typeface="Arial"/>
              </a:rPr>
              <a:t> aux femmes de prouver deux fois plus leur engagement qu'aux hommes », </a:t>
            </a:r>
            <a:r>
              <a:rPr lang="it" sz="1100" b="0" i="0" u="none" strike="noStrike" cap="none">
                <a:solidFill>
                  <a:schemeClr val="dk1"/>
                </a:solidFill>
                <a:highlight>
                  <a:srgbClr val="FFFF00"/>
                </a:highlight>
                <a:latin typeface="Arial"/>
                <a:ea typeface="Arial"/>
                <a:cs typeface="Arial"/>
                <a:sym typeface="Arial"/>
              </a:rPr>
              <a:t>disait</a:t>
            </a:r>
            <a:r>
              <a:rPr lang="it" sz="1100" b="0" i="0" u="none" strike="noStrike" cap="none">
                <a:solidFill>
                  <a:schemeClr val="dk1"/>
                </a:solidFill>
                <a:latin typeface="Arial"/>
                <a:ea typeface="Arial"/>
                <a:cs typeface="Arial"/>
                <a:sym typeface="Arial"/>
              </a:rPr>
              <a:t>-elle alors. Encore aujourd'hui, ceux qui la présentent comme la « carte femme » de Bertrand Delanoë, la mettent en colère. « Je </a:t>
            </a:r>
            <a:r>
              <a:rPr lang="it" sz="1100" b="0" i="0" u="none" strike="noStrike" cap="none">
                <a:solidFill>
                  <a:schemeClr val="dk1"/>
                </a:solidFill>
                <a:highlight>
                  <a:srgbClr val="FFFF00"/>
                </a:highlight>
                <a:latin typeface="Arial"/>
                <a:ea typeface="Arial"/>
                <a:cs typeface="Arial"/>
                <a:sym typeface="Arial"/>
              </a:rPr>
              <a:t>ne sais pas </a:t>
            </a:r>
            <a:r>
              <a:rPr lang="it" sz="1100" b="0" i="0" u="none" strike="noStrike" cap="none">
                <a:solidFill>
                  <a:schemeClr val="dk1"/>
                </a:solidFill>
                <a:latin typeface="Arial"/>
                <a:ea typeface="Arial"/>
                <a:cs typeface="Arial"/>
                <a:sym typeface="Arial"/>
              </a:rPr>
              <a:t>ce que c'est la «carte-femme», je </a:t>
            </a:r>
            <a:r>
              <a:rPr lang="it" sz="1100" b="0" i="0" u="none" strike="noStrike" cap="none">
                <a:solidFill>
                  <a:schemeClr val="dk1"/>
                </a:solidFill>
                <a:highlight>
                  <a:srgbClr val="FFFF00"/>
                </a:highlight>
                <a:latin typeface="Arial"/>
                <a:ea typeface="Arial"/>
                <a:cs typeface="Arial"/>
                <a:sym typeface="Arial"/>
              </a:rPr>
              <a:t>n'ai pas le sentiment</a:t>
            </a:r>
            <a:r>
              <a:rPr lang="it" sz="1100" b="0" i="0" u="none" strike="noStrike" cap="none">
                <a:solidFill>
                  <a:schemeClr val="dk1"/>
                </a:solidFill>
                <a:latin typeface="Arial"/>
                <a:ea typeface="Arial"/>
                <a:cs typeface="Arial"/>
                <a:sym typeface="Arial"/>
              </a:rPr>
              <a:t> d'être un alibi. Il faut toujours en démontrer plus que les hommes pour prouver qu'on est légitimes ! », s'indigne cette mère de deux enfants de treize et quinze ans.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3a661288f2b_0_228"/>
          <p:cNvSpPr txBox="1"/>
          <p:nvPr/>
        </p:nvSpPr>
        <p:spPr>
          <a:xfrm>
            <a:off x="184461" y="87863"/>
            <a:ext cx="7942200" cy="469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it" sz="2600" b="1" i="0" u="none" strike="noStrike" cap="none">
                <a:solidFill>
                  <a:srgbClr val="097D3F"/>
                </a:solidFill>
                <a:latin typeface="Quattrocento Sans"/>
                <a:ea typeface="Quattrocento Sans"/>
                <a:cs typeface="Quattrocento Sans"/>
                <a:sym typeface="Quattrocento Sans"/>
              </a:rPr>
              <a:t>La modalité épistémique - TD</a:t>
            </a:r>
            <a:endParaRPr sz="2600" b="1" i="0" u="none" strike="noStrike" cap="none">
              <a:solidFill>
                <a:srgbClr val="097D3F"/>
              </a:solidFill>
              <a:latin typeface="Quattrocento Sans"/>
              <a:ea typeface="Quattrocento Sans"/>
              <a:cs typeface="Quattrocento Sans"/>
              <a:sym typeface="Quattrocento Sans"/>
            </a:endParaRPr>
          </a:p>
        </p:txBody>
      </p:sp>
      <p:sp>
        <p:nvSpPr>
          <p:cNvPr id="241" name="Google Shape;241;g3a661288f2b_0_228"/>
          <p:cNvSpPr txBox="1"/>
          <p:nvPr/>
        </p:nvSpPr>
        <p:spPr>
          <a:xfrm>
            <a:off x="831250" y="952325"/>
            <a:ext cx="787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it" sz="1400" b="0" i="0" u="none" strike="noStrike" cap="none">
                <a:solidFill>
                  <a:srgbClr val="FF0000"/>
                </a:solidFill>
                <a:latin typeface="Quattrocento Sans"/>
                <a:ea typeface="Quattrocento Sans"/>
                <a:cs typeface="Quattrocento Sans"/>
                <a:sym typeface="Quattrocento Sans"/>
              </a:rPr>
              <a:t>TD : Retrouve les marqueurs épistémiques (mono et mixtes) dans le texte donné</a:t>
            </a:r>
            <a:endParaRPr sz="1400" b="0" i="0" u="none" strike="noStrike" cap="none">
              <a:solidFill>
                <a:srgbClr val="FF0000"/>
              </a:solidFill>
              <a:latin typeface="Quattrocento Sans"/>
              <a:ea typeface="Quattrocento Sans"/>
              <a:cs typeface="Quattrocento Sans"/>
              <a:sym typeface="Quattrocento Sans"/>
            </a:endParaRPr>
          </a:p>
        </p:txBody>
      </p:sp>
      <p:sp>
        <p:nvSpPr>
          <p:cNvPr id="242" name="Google Shape;242;g3a661288f2b_0_228"/>
          <p:cNvSpPr txBox="1"/>
          <p:nvPr/>
        </p:nvSpPr>
        <p:spPr>
          <a:xfrm>
            <a:off x="253586" y="557363"/>
            <a:ext cx="79422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 sz="1400" b="1" i="0" u="none" strike="noStrike" cap="none">
                <a:solidFill>
                  <a:srgbClr val="097D3F"/>
                </a:solidFill>
                <a:latin typeface="Quattrocento Sans"/>
                <a:ea typeface="Quattrocento Sans"/>
                <a:cs typeface="Quattrocento Sans"/>
                <a:sym typeface="Quattrocento Sans"/>
              </a:rPr>
              <a:t>paramètre 1 -  type de modalité marquée par le marqueur  </a:t>
            </a:r>
            <a:endParaRPr sz="1400" b="1" i="0" u="none" strike="noStrike" cap="none">
              <a:solidFill>
                <a:srgbClr val="097D3F"/>
              </a:solidFill>
              <a:latin typeface="Quattrocento Sans"/>
              <a:ea typeface="Quattrocento Sans"/>
              <a:cs typeface="Quattrocento Sans"/>
              <a:sym typeface="Quattrocento Sans"/>
            </a:endParaRPr>
          </a:p>
        </p:txBody>
      </p:sp>
      <p:sp>
        <p:nvSpPr>
          <p:cNvPr id="243" name="Google Shape;243;g3a661288f2b_0_2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it"/>
              <a:t>21</a:t>
            </a:fld>
            <a:endParaRPr/>
          </a:p>
        </p:txBody>
      </p:sp>
      <p:sp>
        <p:nvSpPr>
          <p:cNvPr id="244" name="Google Shape;244;g3a661288f2b_0_228"/>
          <p:cNvSpPr txBox="1"/>
          <p:nvPr/>
        </p:nvSpPr>
        <p:spPr>
          <a:xfrm>
            <a:off x="-2" y="4357600"/>
            <a:ext cx="91440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 sz="1200" b="1" i="0" u="none" strike="noStrike" cap="none">
                <a:solidFill>
                  <a:srgbClr val="097D3F"/>
                </a:solidFill>
                <a:latin typeface="Quattrocento Sans"/>
                <a:ea typeface="Quattrocento Sans"/>
                <a:cs typeface="Quattrocento Sans"/>
                <a:sym typeface="Quattrocento Sans"/>
              </a:rPr>
              <a:t>Nous allons nous focaliser sur les marqueurs avec ces caractéristiques: </a:t>
            </a:r>
            <a:endParaRPr sz="1200" b="1" i="0" u="none" strike="noStrike" cap="none">
              <a:solidFill>
                <a:srgbClr val="097D3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it" sz="1200" b="0" i="0" u="none" strike="noStrike" cap="none">
                <a:solidFill>
                  <a:srgbClr val="097D3F"/>
                </a:solidFill>
                <a:latin typeface="Quattrocento Sans"/>
                <a:ea typeface="Quattrocento Sans"/>
                <a:cs typeface="Quattrocento Sans"/>
                <a:sym typeface="Quattrocento Sans"/>
              </a:rPr>
              <a:t>paramètre 1 = de modalité épistémique, mono ET mixtes</a:t>
            </a:r>
            <a:endParaRPr sz="1200" b="0" i="0" u="none" strike="noStrike" cap="none">
              <a:solidFill>
                <a:srgbClr val="097D3F"/>
              </a:solidFill>
              <a:latin typeface="Quattrocento Sans"/>
              <a:ea typeface="Quattrocento Sans"/>
              <a:cs typeface="Quattrocento Sans"/>
              <a:sym typeface="Quattrocento Sans"/>
            </a:endParaRPr>
          </a:p>
        </p:txBody>
      </p:sp>
      <p:sp>
        <p:nvSpPr>
          <p:cNvPr id="245" name="Google Shape;245;g3a661288f2b_0_228"/>
          <p:cNvSpPr/>
          <p:nvPr/>
        </p:nvSpPr>
        <p:spPr>
          <a:xfrm>
            <a:off x="7905075" y="77366"/>
            <a:ext cx="1175100" cy="239400"/>
          </a:xfrm>
          <a:prstGeom prst="snip1Rect">
            <a:avLst>
              <a:gd name="adj" fmla="val 16667"/>
            </a:avLst>
          </a:prstGeom>
          <a:solidFill>
            <a:srgbClr val="D9EAD3"/>
          </a:solidFill>
          <a:ln w="9525" cap="flat" cmpd="sng">
            <a:solidFill>
              <a:srgbClr val="097D3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it" sz="800" b="0" i="0" u="none" strike="noStrike" cap="none">
                <a:solidFill>
                  <a:schemeClr val="dk1"/>
                </a:solidFill>
                <a:latin typeface="Calibri"/>
                <a:ea typeface="Calibri"/>
                <a:cs typeface="Calibri"/>
                <a:sym typeface="Calibri"/>
              </a:rPr>
              <a:t>étape 2 : </a:t>
            </a:r>
            <a:r>
              <a:rPr lang="it" sz="800" b="1" i="0" u="none" strike="noStrike" cap="none">
                <a:solidFill>
                  <a:schemeClr val="dk1"/>
                </a:solidFill>
                <a:latin typeface="Calibri"/>
                <a:ea typeface="Calibri"/>
                <a:cs typeface="Calibri"/>
                <a:sym typeface="Calibri"/>
              </a:rPr>
              <a:t>classement</a:t>
            </a:r>
            <a:endParaRPr sz="800" b="0" i="0" u="none" strike="noStrike" cap="none">
              <a:solidFill>
                <a:srgbClr val="000000"/>
              </a:solidFill>
              <a:latin typeface="Calibri"/>
              <a:ea typeface="Calibri"/>
              <a:cs typeface="Calibri"/>
              <a:sym typeface="Calibri"/>
            </a:endParaRPr>
          </a:p>
        </p:txBody>
      </p:sp>
      <p:sp>
        <p:nvSpPr>
          <p:cNvPr id="246" name="Google Shape;246;g3a661288f2b_0_228"/>
          <p:cNvSpPr txBox="1"/>
          <p:nvPr/>
        </p:nvSpPr>
        <p:spPr>
          <a:xfrm>
            <a:off x="0" y="1643288"/>
            <a:ext cx="9193200" cy="1628400"/>
          </a:xfrm>
          <a:prstGeom prst="rect">
            <a:avLst/>
          </a:prstGeom>
          <a:noFill/>
          <a:ln>
            <a:noFill/>
          </a:ln>
        </p:spPr>
        <p:txBody>
          <a:bodyPr spcFirstLastPara="1" wrap="square" lIns="91425" tIns="91425" rIns="91425" bIns="91425" anchor="t" anchorCtr="0">
            <a:spAutoFit/>
          </a:bodyPr>
          <a:lstStyle/>
          <a:p>
            <a:pPr marL="0" marR="0" lvl="0" indent="0" algn="l" rtl="0">
              <a:lnSpc>
                <a:spcPct val="125454"/>
              </a:lnSpc>
              <a:spcBef>
                <a:spcPts val="0"/>
              </a:spcBef>
              <a:spcAft>
                <a:spcPts val="800"/>
              </a:spcAft>
              <a:buClr>
                <a:srgbClr val="000000"/>
              </a:buClr>
              <a:buSzPts val="1100"/>
              <a:buFont typeface="Arial"/>
              <a:buNone/>
            </a:pPr>
            <a:r>
              <a:rPr lang="it" sz="1100" b="0" i="0" u="none" strike="noStrike" cap="none">
                <a:solidFill>
                  <a:schemeClr val="dk1"/>
                </a:solidFill>
                <a:latin typeface="Arial"/>
                <a:ea typeface="Arial"/>
                <a:cs typeface="Arial"/>
                <a:sym typeface="Arial"/>
              </a:rPr>
              <a:t>« C'est le </a:t>
            </a:r>
            <a:r>
              <a:rPr lang="it" sz="1100" b="0" i="0" u="none" strike="noStrike" cap="none">
                <a:solidFill>
                  <a:schemeClr val="dk1"/>
                </a:solidFill>
                <a:highlight>
                  <a:srgbClr val="FFFF00"/>
                </a:highlight>
                <a:latin typeface="Arial"/>
                <a:ea typeface="Arial"/>
                <a:cs typeface="Arial"/>
                <a:sym typeface="Arial"/>
              </a:rPr>
              <a:t>dernier</a:t>
            </a:r>
            <a:r>
              <a:rPr lang="it" sz="1100" b="0" i="0" u="none" strike="noStrike" cap="none">
                <a:solidFill>
                  <a:schemeClr val="dk1"/>
                </a:solidFill>
                <a:latin typeface="Arial"/>
                <a:ea typeface="Arial"/>
                <a:cs typeface="Arial"/>
                <a:sym typeface="Arial"/>
              </a:rPr>
              <a:t> signe d'un machisme qui n'est pas mort, </a:t>
            </a:r>
            <a:r>
              <a:rPr lang="it" sz="1100" b="0" i="0" u="none" strike="noStrike" cap="none">
                <a:solidFill>
                  <a:schemeClr val="dk1"/>
                </a:solidFill>
                <a:highlight>
                  <a:srgbClr val="FFFF00"/>
                </a:highlight>
                <a:latin typeface="Arial"/>
                <a:ea typeface="Arial"/>
                <a:cs typeface="Arial"/>
                <a:sym typeface="Arial"/>
              </a:rPr>
              <a:t>enchaîne</a:t>
            </a:r>
            <a:r>
              <a:rPr lang="it" sz="1100" b="0" i="0" u="none" strike="noStrike" cap="none">
                <a:solidFill>
                  <a:schemeClr val="dk1"/>
                </a:solidFill>
                <a:latin typeface="Arial"/>
                <a:ea typeface="Arial"/>
                <a:cs typeface="Arial"/>
                <a:sym typeface="Arial"/>
              </a:rPr>
              <a:t>-t-elle </a:t>
            </a:r>
            <a:r>
              <a:rPr lang="it" sz="1100" b="0" i="0" u="none" strike="noStrike" cap="none">
                <a:solidFill>
                  <a:schemeClr val="dk1"/>
                </a:solidFill>
                <a:highlight>
                  <a:srgbClr val="FFFF00"/>
                </a:highlight>
                <a:latin typeface="Arial"/>
                <a:ea typeface="Arial"/>
                <a:cs typeface="Arial"/>
                <a:sym typeface="Arial"/>
              </a:rPr>
              <a:t>avec vivacité</a:t>
            </a:r>
            <a:r>
              <a:rPr lang="it" sz="1100" b="0" i="0" u="none" strike="noStrike" cap="none">
                <a:solidFill>
                  <a:schemeClr val="dk1"/>
                </a:solidFill>
                <a:latin typeface="Arial"/>
                <a:ea typeface="Arial"/>
                <a:cs typeface="Arial"/>
                <a:sym typeface="Arial"/>
              </a:rPr>
              <a:t> ; les femmes arrivent avec leurs compétences, elles ne viennent pas que pour du marketing électoral. » Elle est </a:t>
            </a:r>
            <a:r>
              <a:rPr lang="it" sz="1100" b="0" i="0" u="none" strike="noStrike" cap="none">
                <a:solidFill>
                  <a:schemeClr val="dk1"/>
                </a:solidFill>
                <a:highlight>
                  <a:srgbClr val="FFFF00"/>
                </a:highlight>
                <a:latin typeface="Arial"/>
                <a:ea typeface="Arial"/>
                <a:cs typeface="Arial"/>
                <a:sym typeface="Arial"/>
              </a:rPr>
              <a:t>relativement novice </a:t>
            </a:r>
            <a:r>
              <a:rPr lang="it" sz="1100" b="0" i="0" u="none" strike="noStrike" cap="none">
                <a:solidFill>
                  <a:schemeClr val="dk1"/>
                </a:solidFill>
                <a:latin typeface="Arial"/>
                <a:ea typeface="Arial"/>
                <a:cs typeface="Arial"/>
                <a:sym typeface="Arial"/>
              </a:rPr>
              <a:t>en politique ? Très bien ! « On ne peut pas prôner la parité et, en même temps, exiger des femmes et des jeunes qu'ils aient la même antériorité de mandat que les hommes » , </a:t>
            </a:r>
            <a:r>
              <a:rPr lang="it" sz="1100" b="0" i="0" u="none" strike="noStrike" cap="none">
                <a:solidFill>
                  <a:schemeClr val="dk1"/>
                </a:solidFill>
                <a:highlight>
                  <a:srgbClr val="FFFF00"/>
                </a:highlight>
                <a:latin typeface="Arial"/>
                <a:ea typeface="Arial"/>
                <a:cs typeface="Arial"/>
                <a:sym typeface="Arial"/>
              </a:rPr>
              <a:t>argue</a:t>
            </a:r>
            <a:r>
              <a:rPr lang="it" sz="1100" b="0" i="0" u="none" strike="noStrike" cap="none">
                <a:solidFill>
                  <a:schemeClr val="dk1"/>
                </a:solidFill>
                <a:latin typeface="Arial"/>
                <a:ea typeface="Arial"/>
                <a:cs typeface="Arial"/>
                <a:sym typeface="Arial"/>
              </a:rPr>
              <a:t>-t-elle. La carrière de Mme Hidalgo, spécialisée dans l'impact des nouvelles technologies dans l'entreprise à l'inspection du travail, s'est déroulée surtout à Paris. Elle est entrée en 1997 au cabinet de Martine Aubry, dont la rapprochaient des origines syndicales communes à la CFDT. « Sa » ministre est d'ailleurs venue la soutenir dans le 15e. Aujourd'hui, elle a pris goût à la politique, au point d'</a:t>
            </a:r>
            <a:r>
              <a:rPr lang="it" sz="1100" b="0" i="0" u="none" strike="noStrike" cap="none">
                <a:solidFill>
                  <a:schemeClr val="dk1"/>
                </a:solidFill>
                <a:highlight>
                  <a:srgbClr val="FFFF00"/>
                </a:highlight>
                <a:latin typeface="Arial"/>
                <a:ea typeface="Arial"/>
                <a:cs typeface="Arial"/>
                <a:sym typeface="Arial"/>
              </a:rPr>
              <a:t>envisager</a:t>
            </a:r>
            <a:r>
              <a:rPr lang="it" sz="1100" b="0" i="0" u="none" strike="noStrike" cap="none">
                <a:solidFill>
                  <a:schemeClr val="dk1"/>
                </a:solidFill>
                <a:latin typeface="Arial"/>
                <a:ea typeface="Arial"/>
                <a:cs typeface="Arial"/>
                <a:sym typeface="Arial"/>
              </a:rPr>
              <a:t> d'y consacrer tout son temps, entre son futur rôle à la Mairie de Paris et celui, </a:t>
            </a:r>
            <a:r>
              <a:rPr lang="it" sz="1100" b="0" i="0" u="none" strike="noStrike" cap="none">
                <a:solidFill>
                  <a:schemeClr val="dk1"/>
                </a:solidFill>
                <a:highlight>
                  <a:srgbClr val="FFFF00"/>
                </a:highlight>
                <a:latin typeface="Arial"/>
                <a:ea typeface="Arial"/>
                <a:cs typeface="Arial"/>
                <a:sym typeface="Arial"/>
              </a:rPr>
              <a:t>récent</a:t>
            </a:r>
            <a:r>
              <a:rPr lang="it" sz="1100" b="0" i="0" u="none" strike="noStrike" cap="none">
                <a:solidFill>
                  <a:schemeClr val="dk1"/>
                </a:solidFill>
                <a:latin typeface="Arial"/>
                <a:ea typeface="Arial"/>
                <a:cs typeface="Arial"/>
                <a:sym typeface="Arial"/>
              </a:rPr>
              <a:t>, qu'elle assume dans l'équipe de François Hollande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3755</Words>
  <Application>Microsoft Macintosh PowerPoint</Application>
  <PresentationFormat>Affichage à l'écran (16:9)</PresentationFormat>
  <Paragraphs>361</Paragraphs>
  <Slides>21</Slides>
  <Notes>21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Arial</vt:lpstr>
      <vt:lpstr>Noto Sans Symbols</vt:lpstr>
      <vt:lpstr>Quattrocento Sans</vt:lpstr>
      <vt:lpstr>Calibri</vt:lpstr>
      <vt:lpstr>Roboto</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Colli Anna</cp:lastModifiedBy>
  <cp:revision>4</cp:revision>
  <dcterms:modified xsi:type="dcterms:W3CDTF">2025-11-26T15:46:39Z</dcterms:modified>
</cp:coreProperties>
</file>